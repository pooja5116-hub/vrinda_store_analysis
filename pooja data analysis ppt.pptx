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19"/>
  </p:notesMasterIdLst>
  <p:sldIdLst>
    <p:sldId id="256" r:id="rId2"/>
    <p:sldId id="260" r:id="rId3"/>
    <p:sldId id="257" r:id="rId4"/>
    <p:sldId id="261" r:id="rId5"/>
    <p:sldId id="262" r:id="rId6"/>
    <p:sldId id="264" r:id="rId7"/>
    <p:sldId id="265" r:id="rId8"/>
    <p:sldId id="267" r:id="rId9"/>
    <p:sldId id="266" r:id="rId10"/>
    <p:sldId id="268" r:id="rId11"/>
    <p:sldId id="269" r:id="rId12"/>
    <p:sldId id="270" r:id="rId13"/>
    <p:sldId id="271" r:id="rId14"/>
    <p:sldId id="272" r:id="rId15"/>
    <p:sldId id="273"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D9DE"/>
    <a:srgbClr val="EFF3F4"/>
    <a:srgbClr val="71D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D0E89A-0731-4BB9-92F3-6365D0245F37}" v="320" dt="2026-02-07T16:22:33.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41" autoAdjust="0"/>
  </p:normalViewPr>
  <p:slideViewPr>
    <p:cSldViewPr snapToGrid="0">
      <p:cViewPr varScale="1">
        <p:scale>
          <a:sx n="78" d="100"/>
          <a:sy n="78" d="100"/>
        </p:scale>
        <p:origin x="1032" y="96"/>
      </p:cViewPr>
      <p:guideLst/>
    </p:cSldViewPr>
  </p:slideViewPr>
  <p:outlineViewPr>
    <p:cViewPr>
      <p:scale>
        <a:sx n="33" d="100"/>
        <a:sy n="33" d="100"/>
      </p:scale>
      <p:origin x="0" y="0"/>
    </p:cViewPr>
  </p:outlineViewPr>
  <p:notesTextViewPr>
    <p:cViewPr>
      <p:scale>
        <a:sx n="25" d="100"/>
        <a:sy n="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a l" userId="284455185f564ea4" providerId="LiveId" clId="{2E8EEF0D-4E3B-47AC-84E6-1396C7D63D0E}"/>
    <pc:docChg chg="undo redo custSel addSld delSld modSld sldOrd addSection delSection">
      <pc:chgData name="pooja l" userId="284455185f564ea4" providerId="LiveId" clId="{2E8EEF0D-4E3B-47AC-84E6-1396C7D63D0E}" dt="2026-02-07T16:22:40.242" v="1799" actId="1076"/>
      <pc:docMkLst>
        <pc:docMk/>
      </pc:docMkLst>
      <pc:sldChg chg="addSp delSp modSp new mod ord">
        <pc:chgData name="pooja l" userId="284455185f564ea4" providerId="LiveId" clId="{2E8EEF0D-4E3B-47AC-84E6-1396C7D63D0E}" dt="2026-02-07T15:32:18.670" v="1614" actId="1076"/>
        <pc:sldMkLst>
          <pc:docMk/>
          <pc:sldMk cId="4284959310" sldId="256"/>
        </pc:sldMkLst>
        <pc:spChg chg="mod">
          <ac:chgData name="pooja l" userId="284455185f564ea4" providerId="LiveId" clId="{2E8EEF0D-4E3B-47AC-84E6-1396C7D63D0E}" dt="2026-02-02T16:20:27.884" v="232" actId="2711"/>
          <ac:spMkLst>
            <pc:docMk/>
            <pc:sldMk cId="4284959310" sldId="256"/>
            <ac:spMk id="2" creationId="{A92FA318-0C22-B595-77C9-C2D71FC92D4A}"/>
          </ac:spMkLst>
        </pc:spChg>
        <pc:spChg chg="mod">
          <ac:chgData name="pooja l" userId="284455185f564ea4" providerId="LiveId" clId="{2E8EEF0D-4E3B-47AC-84E6-1396C7D63D0E}" dt="2026-02-02T16:19:53.760" v="231" actId="20577"/>
          <ac:spMkLst>
            <pc:docMk/>
            <pc:sldMk cId="4284959310" sldId="256"/>
            <ac:spMk id="3" creationId="{8AD6D3F7-0FC1-36BA-4E70-E6D5452E63F7}"/>
          </ac:spMkLst>
        </pc:spChg>
        <pc:picChg chg="add mod ord">
          <ac:chgData name="pooja l" userId="284455185f564ea4" providerId="LiveId" clId="{2E8EEF0D-4E3B-47AC-84E6-1396C7D63D0E}" dt="2026-02-03T15:00:04.159" v="344" actId="1440"/>
          <ac:picMkLst>
            <pc:docMk/>
            <pc:sldMk cId="4284959310" sldId="256"/>
            <ac:picMk id="8" creationId="{C35CAA39-4481-315F-8C07-D0B2DAF96818}"/>
          </ac:picMkLst>
        </pc:picChg>
        <pc:picChg chg="add mod">
          <ac:chgData name="pooja l" userId="284455185f564ea4" providerId="LiveId" clId="{2E8EEF0D-4E3B-47AC-84E6-1396C7D63D0E}" dt="2026-02-03T15:09:14.981" v="491" actId="1076"/>
          <ac:picMkLst>
            <pc:docMk/>
            <pc:sldMk cId="4284959310" sldId="256"/>
            <ac:picMk id="9" creationId="{746E95CA-65D5-C554-4AF5-DC56467623BE}"/>
          </ac:picMkLst>
        </pc:picChg>
        <pc:picChg chg="mod">
          <ac:chgData name="pooja l" userId="284455185f564ea4" providerId="LiveId" clId="{2E8EEF0D-4E3B-47AC-84E6-1396C7D63D0E}" dt="2026-02-07T15:32:18.670" v="1614" actId="1076"/>
          <ac:picMkLst>
            <pc:docMk/>
            <pc:sldMk cId="4284959310" sldId="256"/>
            <ac:picMk id="10" creationId="{291B8AA1-A1EA-6529-4A38-221749099893}"/>
          </ac:picMkLst>
        </pc:picChg>
      </pc:sldChg>
      <pc:sldChg chg="addSp delSp modSp new mod modTransition">
        <pc:chgData name="pooja l" userId="284455185f564ea4" providerId="LiveId" clId="{2E8EEF0D-4E3B-47AC-84E6-1396C7D63D0E}" dt="2026-02-07T16:22:40.242" v="1799" actId="1076"/>
        <pc:sldMkLst>
          <pc:docMk/>
          <pc:sldMk cId="682539713" sldId="257"/>
        </pc:sldMkLst>
        <pc:spChg chg="mod">
          <ac:chgData name="pooja l" userId="284455185f564ea4" providerId="LiveId" clId="{2E8EEF0D-4E3B-47AC-84E6-1396C7D63D0E}" dt="2026-02-07T16:16:19.258" v="1784" actId="115"/>
          <ac:spMkLst>
            <pc:docMk/>
            <pc:sldMk cId="682539713" sldId="257"/>
            <ac:spMk id="2" creationId="{31EBE2F2-7011-4498-A197-8B3B7090BF35}"/>
          </ac:spMkLst>
        </pc:spChg>
        <pc:spChg chg="mod">
          <ac:chgData name="pooja l" userId="284455185f564ea4" providerId="LiveId" clId="{2E8EEF0D-4E3B-47AC-84E6-1396C7D63D0E}" dt="2026-02-03T14:49:17.809" v="277"/>
          <ac:spMkLst>
            <pc:docMk/>
            <pc:sldMk cId="682539713" sldId="257"/>
            <ac:spMk id="3" creationId="{F7ECA81A-9749-61D6-89D7-C11E9DD43772}"/>
          </ac:spMkLst>
        </pc:spChg>
        <pc:picChg chg="add mod">
          <ac:chgData name="pooja l" userId="284455185f564ea4" providerId="LiveId" clId="{2E8EEF0D-4E3B-47AC-84E6-1396C7D63D0E}" dt="2026-02-07T16:10:41.080" v="1752"/>
          <ac:picMkLst>
            <pc:docMk/>
            <pc:sldMk cId="682539713" sldId="257"/>
            <ac:picMk id="4" creationId="{7E7FDDE8-21C9-2307-0386-E46D41D01543}"/>
          </ac:picMkLst>
        </pc:picChg>
        <pc:picChg chg="add mod ord">
          <ac:chgData name="pooja l" userId="284455185f564ea4" providerId="LiveId" clId="{2E8EEF0D-4E3B-47AC-84E6-1396C7D63D0E}" dt="2026-02-03T14:55:53.750" v="318" actId="1440"/>
          <ac:picMkLst>
            <pc:docMk/>
            <pc:sldMk cId="682539713" sldId="257"/>
            <ac:picMk id="5" creationId="{55F129D9-CB55-D808-45B0-ED48E55931D0}"/>
          </ac:picMkLst>
        </pc:picChg>
        <pc:picChg chg="add del mod">
          <ac:chgData name="pooja l" userId="284455185f564ea4" providerId="LiveId" clId="{2E8EEF0D-4E3B-47AC-84E6-1396C7D63D0E}" dt="2026-02-07T16:19:13.163" v="1797" actId="478"/>
          <ac:picMkLst>
            <pc:docMk/>
            <pc:sldMk cId="682539713" sldId="257"/>
            <ac:picMk id="7" creationId="{36B38D0B-D52E-3ABE-F80E-DBA9EF1D2771}"/>
          </ac:picMkLst>
        </pc:picChg>
        <pc:picChg chg="add mod">
          <ac:chgData name="pooja l" userId="284455185f564ea4" providerId="LiveId" clId="{2E8EEF0D-4E3B-47AC-84E6-1396C7D63D0E}" dt="2026-02-07T16:22:40.242" v="1799" actId="1076"/>
          <ac:picMkLst>
            <pc:docMk/>
            <pc:sldMk cId="682539713" sldId="257"/>
            <ac:picMk id="8" creationId="{E935FD61-9F5C-E5F7-324E-903301615E6D}"/>
          </ac:picMkLst>
        </pc:picChg>
      </pc:sldChg>
      <pc:sldChg chg="addSp delSp modSp new mod modTransition modAnim">
        <pc:chgData name="pooja l" userId="284455185f564ea4" providerId="LiveId" clId="{2E8EEF0D-4E3B-47AC-84E6-1396C7D63D0E}" dt="2026-02-07T16:16:08.643" v="1783"/>
        <pc:sldMkLst>
          <pc:docMk/>
          <pc:sldMk cId="875333144" sldId="260"/>
        </pc:sldMkLst>
        <pc:spChg chg="mod">
          <ac:chgData name="pooja l" userId="284455185f564ea4" providerId="LiveId" clId="{2E8EEF0D-4E3B-47AC-84E6-1396C7D63D0E}" dt="2026-02-07T16:11:17.235" v="1755" actId="113"/>
          <ac:spMkLst>
            <pc:docMk/>
            <pc:sldMk cId="875333144" sldId="260"/>
            <ac:spMk id="2" creationId="{D8D272DA-B3E5-C84B-E5BD-65F2610198CC}"/>
          </ac:spMkLst>
        </pc:spChg>
        <pc:spChg chg="mod">
          <ac:chgData name="pooja l" userId="284455185f564ea4" providerId="LiveId" clId="{2E8EEF0D-4E3B-47AC-84E6-1396C7D63D0E}" dt="2026-02-07T15:58:35.769" v="1722" actId="20578"/>
          <ac:spMkLst>
            <pc:docMk/>
            <pc:sldMk cId="875333144" sldId="260"/>
            <ac:spMk id="3" creationId="{AA12DF2D-8670-9019-87E0-FB73B0B2EB20}"/>
          </ac:spMkLst>
        </pc:spChg>
        <pc:spChg chg="add del mod">
          <ac:chgData name="pooja l" userId="284455185f564ea4" providerId="LiveId" clId="{2E8EEF0D-4E3B-47AC-84E6-1396C7D63D0E}" dt="2026-02-07T16:12:52.135" v="1767" actId="478"/>
          <ac:spMkLst>
            <pc:docMk/>
            <pc:sldMk cId="875333144" sldId="260"/>
            <ac:spMk id="4" creationId="{4D177D9A-3BEF-D84B-E157-4563B1A96151}"/>
          </ac:spMkLst>
        </pc:spChg>
        <pc:spChg chg="add del mod">
          <ac:chgData name="pooja l" userId="284455185f564ea4" providerId="LiveId" clId="{2E8EEF0D-4E3B-47AC-84E6-1396C7D63D0E}" dt="2026-02-07T16:12:49.024" v="1766" actId="478"/>
          <ac:spMkLst>
            <pc:docMk/>
            <pc:sldMk cId="875333144" sldId="260"/>
            <ac:spMk id="7" creationId="{17D1BBE7-33C6-BB4E-5D8D-716FACFE7045}"/>
          </ac:spMkLst>
        </pc:spChg>
        <pc:spChg chg="add mod">
          <ac:chgData name="pooja l" userId="284455185f564ea4" providerId="LiveId" clId="{2E8EEF0D-4E3B-47AC-84E6-1396C7D63D0E}" dt="2026-02-07T16:14:29.612" v="1774" actId="207"/>
          <ac:spMkLst>
            <pc:docMk/>
            <pc:sldMk cId="875333144" sldId="260"/>
            <ac:spMk id="8" creationId="{B0A4024B-D2A5-A56F-40CC-F82F2A17ADC0}"/>
          </ac:spMkLst>
        </pc:spChg>
        <pc:picChg chg="mod">
          <ac:chgData name="pooja l" userId="284455185f564ea4" providerId="LiveId" clId="{2E8EEF0D-4E3B-47AC-84E6-1396C7D63D0E}" dt="2026-02-03T14:53:02.738" v="315" actId="1076"/>
          <ac:picMkLst>
            <pc:docMk/>
            <pc:sldMk cId="875333144" sldId="260"/>
            <ac:picMk id="5" creationId="{12B96AE8-CA0B-64B7-086E-8B5980DD71A6}"/>
          </ac:picMkLst>
        </pc:picChg>
        <pc:picChg chg="add mod ord">
          <ac:chgData name="pooja l" userId="284455185f564ea4" providerId="LiveId" clId="{2E8EEF0D-4E3B-47AC-84E6-1396C7D63D0E}" dt="2026-02-07T16:13:33.342" v="1769" actId="1076"/>
          <ac:picMkLst>
            <pc:docMk/>
            <pc:sldMk cId="875333144" sldId="260"/>
            <ac:picMk id="6" creationId="{8BFF2922-8B07-90F5-D4C6-F5C618600378}"/>
          </ac:picMkLst>
        </pc:picChg>
      </pc:sldChg>
      <pc:sldChg chg="addSp delSp modSp add mod chgLayout">
        <pc:chgData name="pooja l" userId="284455185f564ea4" providerId="LiveId" clId="{2E8EEF0D-4E3B-47AC-84E6-1396C7D63D0E}" dt="2026-02-03T15:49:48.236" v="561" actId="207"/>
        <pc:sldMkLst>
          <pc:docMk/>
          <pc:sldMk cId="613714030" sldId="261"/>
        </pc:sldMkLst>
        <pc:spChg chg="add mod ord">
          <ac:chgData name="pooja l" userId="284455185f564ea4" providerId="LiveId" clId="{2E8EEF0D-4E3B-47AC-84E6-1396C7D63D0E}" dt="2026-02-03T15:27:44.647" v="515" actId="6264"/>
          <ac:spMkLst>
            <pc:docMk/>
            <pc:sldMk cId="613714030" sldId="261"/>
            <ac:spMk id="6" creationId="{0825F0D1-D4AB-2ACF-07A2-EB9E92D14001}"/>
          </ac:spMkLst>
        </pc:spChg>
        <pc:graphicFrameChg chg="add mod modGraphic">
          <ac:chgData name="pooja l" userId="284455185f564ea4" providerId="LiveId" clId="{2E8EEF0D-4E3B-47AC-84E6-1396C7D63D0E}" dt="2026-02-03T15:49:48.236" v="561" actId="207"/>
          <ac:graphicFrameMkLst>
            <pc:docMk/>
            <pc:sldMk cId="613714030" sldId="261"/>
            <ac:graphicFrameMk id="13" creationId="{672DCFDD-5EA5-86C9-6F98-D74DE0DB1890}"/>
          </ac:graphicFrameMkLst>
        </pc:graphicFrameChg>
      </pc:sldChg>
      <pc:sldChg chg="addSp delSp modSp add mod modClrScheme chgLayout">
        <pc:chgData name="pooja l" userId="284455185f564ea4" providerId="LiveId" clId="{2E8EEF0D-4E3B-47AC-84E6-1396C7D63D0E}" dt="2026-02-03T16:26:50.339" v="740" actId="115"/>
        <pc:sldMkLst>
          <pc:docMk/>
          <pc:sldMk cId="711598696" sldId="262"/>
        </pc:sldMkLst>
        <pc:spChg chg="mod ord">
          <ac:chgData name="pooja l" userId="284455185f564ea4" providerId="LiveId" clId="{2E8EEF0D-4E3B-47AC-84E6-1396C7D63D0E}" dt="2026-02-03T16:26:01.539" v="738" actId="122"/>
          <ac:spMkLst>
            <pc:docMk/>
            <pc:sldMk cId="711598696" sldId="262"/>
            <ac:spMk id="6" creationId="{B47361F5-A982-8E3F-2CAA-3F26F4EF91C8}"/>
          </ac:spMkLst>
        </pc:spChg>
        <pc:spChg chg="add mod ord">
          <ac:chgData name="pooja l" userId="284455185f564ea4" providerId="LiveId" clId="{2E8EEF0D-4E3B-47AC-84E6-1396C7D63D0E}" dt="2026-02-03T16:26:27.940" v="739" actId="115"/>
          <ac:spMkLst>
            <pc:docMk/>
            <pc:sldMk cId="711598696" sldId="262"/>
            <ac:spMk id="7" creationId="{6C7DEEE2-E33B-9F57-3E24-319E82D50490}"/>
          </ac:spMkLst>
        </pc:spChg>
        <pc:spChg chg="add mod ord">
          <ac:chgData name="pooja l" userId="284455185f564ea4" providerId="LiveId" clId="{2E8EEF0D-4E3B-47AC-84E6-1396C7D63D0E}" dt="2026-02-03T16:26:50.339" v="740" actId="115"/>
          <ac:spMkLst>
            <pc:docMk/>
            <pc:sldMk cId="711598696" sldId="262"/>
            <ac:spMk id="10" creationId="{5096C5BD-DCFB-A472-2D7D-B787BAC43188}"/>
          </ac:spMkLst>
        </pc:spChg>
        <pc:spChg chg="add mod ord">
          <ac:chgData name="pooja l" userId="284455185f564ea4" providerId="LiveId" clId="{2E8EEF0D-4E3B-47AC-84E6-1396C7D63D0E}" dt="2026-02-03T16:23:46.507" v="727" actId="1076"/>
          <ac:spMkLst>
            <pc:docMk/>
            <pc:sldMk cId="711598696" sldId="262"/>
            <ac:spMk id="11" creationId="{B2F30DD8-C56B-EA0A-AE7A-0C683E58211B}"/>
          </ac:spMkLst>
        </pc:spChg>
        <pc:spChg chg="add mod">
          <ac:chgData name="pooja l" userId="284455185f564ea4" providerId="LiveId" clId="{2E8EEF0D-4E3B-47AC-84E6-1396C7D63D0E}" dt="2026-02-03T16:24:55.042" v="731" actId="20577"/>
          <ac:spMkLst>
            <pc:docMk/>
            <pc:sldMk cId="711598696" sldId="262"/>
            <ac:spMk id="16" creationId="{75C1CE91-5E53-CE82-1D1F-DF124957422F}"/>
          </ac:spMkLst>
        </pc:spChg>
        <pc:picChg chg="mod">
          <ac:chgData name="pooja l" userId="284455185f564ea4" providerId="LiveId" clId="{2E8EEF0D-4E3B-47AC-84E6-1396C7D63D0E}" dt="2026-02-03T16:23:10.694" v="722" actId="1076"/>
          <ac:picMkLst>
            <pc:docMk/>
            <pc:sldMk cId="711598696" sldId="262"/>
            <ac:picMk id="5" creationId="{2131DB15-4DDC-6E4D-5D71-CD3644D26A62}"/>
          </ac:picMkLst>
        </pc:picChg>
      </pc:sldChg>
      <pc:sldChg chg="addSp delSp modSp add mod modClrScheme chgLayout">
        <pc:chgData name="pooja l" userId="284455185f564ea4" providerId="LiveId" clId="{2E8EEF0D-4E3B-47AC-84E6-1396C7D63D0E}" dt="2026-02-03T16:44:14.133" v="1540" actId="27636"/>
        <pc:sldMkLst>
          <pc:docMk/>
          <pc:sldMk cId="3150363839" sldId="264"/>
        </pc:sldMkLst>
        <pc:spChg chg="mod ord">
          <ac:chgData name="pooja l" userId="284455185f564ea4" providerId="LiveId" clId="{2E8EEF0D-4E3B-47AC-84E6-1396C7D63D0E}" dt="2026-02-03T16:33:58.941" v="797" actId="700"/>
          <ac:spMkLst>
            <pc:docMk/>
            <pc:sldMk cId="3150363839" sldId="264"/>
            <ac:spMk id="2" creationId="{8C589A42-CC35-3262-4DCC-82BBED60D7BE}"/>
          </ac:spMkLst>
        </pc:spChg>
        <pc:spChg chg="add mod ord">
          <ac:chgData name="pooja l" userId="284455185f564ea4" providerId="LiveId" clId="{2E8EEF0D-4E3B-47AC-84E6-1396C7D63D0E}" dt="2026-02-03T16:44:14.133" v="1540" actId="27636"/>
          <ac:spMkLst>
            <pc:docMk/>
            <pc:sldMk cId="3150363839" sldId="264"/>
            <ac:spMk id="3" creationId="{559A868F-8F59-3DE5-4DB3-C73A9E248615}"/>
          </ac:spMkLst>
        </pc:spChg>
      </pc:sldChg>
      <pc:sldChg chg="add">
        <pc:chgData name="pooja l" userId="284455185f564ea4" providerId="LiveId" clId="{2E8EEF0D-4E3B-47AC-84E6-1396C7D63D0E}" dt="2026-02-03T16:37:39.900" v="1104" actId="2890"/>
        <pc:sldMkLst>
          <pc:docMk/>
          <pc:sldMk cId="2946369228" sldId="265"/>
        </pc:sldMkLst>
      </pc:sldChg>
      <pc:sldChg chg="addSp delSp modSp mod">
        <pc:chgData name="pooja l" userId="284455185f564ea4" providerId="LiveId" clId="{2E8EEF0D-4E3B-47AC-84E6-1396C7D63D0E}" dt="2026-02-06T12:32:40.253" v="1544" actId="478"/>
        <pc:sldMkLst>
          <pc:docMk/>
          <pc:sldMk cId="103335531" sldId="268"/>
        </pc:sldMkLst>
        <pc:spChg chg="add del mod">
          <ac:chgData name="pooja l" userId="284455185f564ea4" providerId="LiveId" clId="{2E8EEF0D-4E3B-47AC-84E6-1396C7D63D0E}" dt="2026-02-06T12:32:40.253" v="1544" actId="478"/>
          <ac:spMkLst>
            <pc:docMk/>
            <pc:sldMk cId="103335531" sldId="268"/>
            <ac:spMk id="4" creationId="{E3DC0A96-AAE9-B76F-F1C8-BA37D2EEF718}"/>
          </ac:spMkLst>
        </pc:spChg>
        <pc:spChg chg="del">
          <ac:chgData name="pooja l" userId="284455185f564ea4" providerId="LiveId" clId="{2E8EEF0D-4E3B-47AC-84E6-1396C7D63D0E}" dt="2026-02-06T12:32:18.877" v="1541" actId="478"/>
          <ac:spMkLst>
            <pc:docMk/>
            <pc:sldMk cId="103335531" sldId="268"/>
            <ac:spMk id="6" creationId="{5EB2F1E4-11B3-8458-77F4-93259AC3B49F}"/>
          </ac:spMkLst>
        </pc:spChg>
        <pc:spChg chg="del">
          <ac:chgData name="pooja l" userId="284455185f564ea4" providerId="LiveId" clId="{2E8EEF0D-4E3B-47AC-84E6-1396C7D63D0E}" dt="2026-02-06T12:32:25.676" v="1542" actId="478"/>
          <ac:spMkLst>
            <pc:docMk/>
            <pc:sldMk cId="103335531" sldId="268"/>
            <ac:spMk id="11" creationId="{FABCB7D7-1DF7-F9BB-2DD4-345B7DB313FB}"/>
          </ac:spMkLst>
        </pc:spChg>
      </pc:sldChg>
      <pc:sldChg chg="addSp modSp add mod">
        <pc:chgData name="pooja l" userId="284455185f564ea4" providerId="LiveId" clId="{2E8EEF0D-4E3B-47AC-84E6-1396C7D63D0E}" dt="2026-02-06T12:41:21.398" v="1602" actId="1076"/>
        <pc:sldMkLst>
          <pc:docMk/>
          <pc:sldMk cId="2982589349" sldId="272"/>
        </pc:sldMkLst>
        <pc:spChg chg="mod">
          <ac:chgData name="pooja l" userId="284455185f564ea4" providerId="LiveId" clId="{2E8EEF0D-4E3B-47AC-84E6-1396C7D63D0E}" dt="2026-02-06T12:41:21.398" v="1602" actId="1076"/>
          <ac:spMkLst>
            <pc:docMk/>
            <pc:sldMk cId="2982589349" sldId="272"/>
            <ac:spMk id="2" creationId="{5CAADDF8-9158-8D92-2BD4-27BDB5BCF6B5}"/>
          </ac:spMkLst>
        </pc:spChg>
        <pc:spChg chg="mod">
          <ac:chgData name="pooja l" userId="284455185f564ea4" providerId="LiveId" clId="{2E8EEF0D-4E3B-47AC-84E6-1396C7D63D0E}" dt="2026-02-06T12:36:06.461" v="1565" actId="113"/>
          <ac:spMkLst>
            <pc:docMk/>
            <pc:sldMk cId="2982589349" sldId="272"/>
            <ac:spMk id="17" creationId="{8BBB7655-3E4C-74C2-294B-B130F387637C}"/>
          </ac:spMkLst>
        </pc:spChg>
        <pc:picChg chg="add mod modCrop">
          <ac:chgData name="pooja l" userId="284455185f564ea4" providerId="LiveId" clId="{2E8EEF0D-4E3B-47AC-84E6-1396C7D63D0E}" dt="2026-02-06T12:40:23.001" v="1591" actId="1076"/>
          <ac:picMkLst>
            <pc:docMk/>
            <pc:sldMk cId="2982589349" sldId="272"/>
            <ac:picMk id="4" creationId="{980BEA91-75AD-1532-5914-49C9531EFDB0}"/>
          </ac:picMkLst>
        </pc:picChg>
      </pc:sldChg>
      <pc:sldChg chg="addSp delSp modSp add mod modClrScheme chgLayout">
        <pc:chgData name="pooja l" userId="284455185f564ea4" providerId="LiveId" clId="{2E8EEF0D-4E3B-47AC-84E6-1396C7D63D0E}" dt="2026-02-06T13:11:42.013" v="1613" actId="1032"/>
        <pc:sldMkLst>
          <pc:docMk/>
          <pc:sldMk cId="2672865939" sldId="273"/>
        </pc:sldMkLst>
        <pc:spChg chg="del mod ord">
          <ac:chgData name="pooja l" userId="284455185f564ea4" providerId="LiveId" clId="{2E8EEF0D-4E3B-47AC-84E6-1396C7D63D0E}" dt="2026-02-06T12:42:28.145" v="1608" actId="700"/>
          <ac:spMkLst>
            <pc:docMk/>
            <pc:sldMk cId="2672865939" sldId="273"/>
            <ac:spMk id="2" creationId="{A9DD85A3-B887-FFBF-49AD-C1A0A314792E}"/>
          </ac:spMkLst>
        </pc:spChg>
        <pc:spChg chg="add mod ord">
          <ac:chgData name="pooja l" userId="284455185f564ea4" providerId="LiveId" clId="{2E8EEF0D-4E3B-47AC-84E6-1396C7D63D0E}" dt="2026-02-06T12:56:27.110" v="1609"/>
          <ac:spMkLst>
            <pc:docMk/>
            <pc:sldMk cId="2672865939" sldId="273"/>
            <ac:spMk id="3" creationId="{FAE3B7C2-B8EA-5280-7495-8243D0E11CC4}"/>
          </ac:spMkLst>
        </pc:spChg>
        <pc:spChg chg="add del mod ord">
          <ac:chgData name="pooja l" userId="284455185f564ea4" providerId="LiveId" clId="{2E8EEF0D-4E3B-47AC-84E6-1396C7D63D0E}" dt="2026-02-06T13:11:42.013" v="1613" actId="1032"/>
          <ac:spMkLst>
            <pc:docMk/>
            <pc:sldMk cId="2672865939" sldId="273"/>
            <ac:spMk id="6" creationId="{6FE02011-F2FD-73A9-EE85-7BBE841FD7BA}"/>
          </ac:spMkLst>
        </pc:spChg>
        <pc:spChg chg="del mod ord">
          <ac:chgData name="pooja l" userId="284455185f564ea4" providerId="LiveId" clId="{2E8EEF0D-4E3B-47AC-84E6-1396C7D63D0E}" dt="2026-02-06T12:42:28.145" v="1608" actId="700"/>
          <ac:spMkLst>
            <pc:docMk/>
            <pc:sldMk cId="2672865939" sldId="273"/>
            <ac:spMk id="17" creationId="{FF9F98BA-7672-D8BB-511D-8014A4DC450B}"/>
          </ac:spMkLst>
        </pc:spChg>
        <pc:graphicFrameChg chg="add del modGraphic">
          <ac:chgData name="pooja l" userId="284455185f564ea4" providerId="LiveId" clId="{2E8EEF0D-4E3B-47AC-84E6-1396C7D63D0E}" dt="2026-02-06T13:11:42.013" v="1613" actId="1032"/>
          <ac:graphicFrameMkLst>
            <pc:docMk/>
            <pc:sldMk cId="2672865939" sldId="273"/>
            <ac:graphicFrameMk id="7" creationId="{EEAAB0EE-29A5-6EA1-2479-5914059F0B5F}"/>
          </ac:graphicFrameMkLst>
        </pc:graphicFrameChg>
        <pc:picChg chg="del">
          <ac:chgData name="pooja l" userId="284455185f564ea4" providerId="LiveId" clId="{2E8EEF0D-4E3B-47AC-84E6-1396C7D63D0E}" dt="2026-02-06T12:41:59.239" v="1604" actId="478"/>
          <ac:picMkLst>
            <pc:docMk/>
            <pc:sldMk cId="2672865939" sldId="273"/>
            <ac:picMk id="4" creationId="{5EE2ECCD-24CC-6B51-C760-B07B77A42BB0}"/>
          </ac:picMkLst>
        </pc:picChg>
      </pc:sldChg>
      <pc:sldChg chg="addSp delSp modSp add mod modClrScheme modAnim chgLayout">
        <pc:chgData name="pooja l" userId="284455185f564ea4" providerId="LiveId" clId="{2E8EEF0D-4E3B-47AC-84E6-1396C7D63D0E}" dt="2026-02-07T16:15:34.846" v="1776"/>
        <pc:sldMkLst>
          <pc:docMk/>
          <pc:sldMk cId="562900706" sldId="275"/>
        </pc:sldMkLst>
        <pc:spChg chg="del">
          <ac:chgData name="pooja l" userId="284455185f564ea4" providerId="LiveId" clId="{2E8EEF0D-4E3B-47AC-84E6-1396C7D63D0E}" dt="2026-02-07T15:37:34.196" v="1616" actId="478"/>
          <ac:spMkLst>
            <pc:docMk/>
            <pc:sldMk cId="562900706" sldId="275"/>
            <ac:spMk id="2" creationId="{14410C6A-A548-530A-394F-8E45A166D5C2}"/>
          </ac:spMkLst>
        </pc:spChg>
        <pc:spChg chg="del">
          <ac:chgData name="pooja l" userId="284455185f564ea4" providerId="LiveId" clId="{2E8EEF0D-4E3B-47AC-84E6-1396C7D63D0E}" dt="2026-02-07T15:37:42.114" v="1618" actId="478"/>
          <ac:spMkLst>
            <pc:docMk/>
            <pc:sldMk cId="562900706" sldId="275"/>
            <ac:spMk id="3" creationId="{2E13D29E-E8EB-9586-405A-E81677A23381}"/>
          </ac:spMkLst>
        </pc:spChg>
        <pc:spChg chg="add del mod">
          <ac:chgData name="pooja l" userId="284455185f564ea4" providerId="LiveId" clId="{2E8EEF0D-4E3B-47AC-84E6-1396C7D63D0E}" dt="2026-02-07T15:37:55.063" v="1620" actId="700"/>
          <ac:spMkLst>
            <pc:docMk/>
            <pc:sldMk cId="562900706" sldId="275"/>
            <ac:spMk id="5" creationId="{4523C092-FDF4-D795-A494-B2091D5D5978}"/>
          </ac:spMkLst>
        </pc:spChg>
        <pc:spChg chg="add del mod">
          <ac:chgData name="pooja l" userId="284455185f564ea4" providerId="LiveId" clId="{2E8EEF0D-4E3B-47AC-84E6-1396C7D63D0E}" dt="2026-02-07T15:37:55.063" v="1620" actId="700"/>
          <ac:spMkLst>
            <pc:docMk/>
            <pc:sldMk cId="562900706" sldId="275"/>
            <ac:spMk id="7" creationId="{FEA77C9F-AE3E-011F-39ED-2CEDC9DF1B37}"/>
          </ac:spMkLst>
        </pc:spChg>
        <pc:spChg chg="add mod ord">
          <ac:chgData name="pooja l" userId="284455185f564ea4" providerId="LiveId" clId="{2E8EEF0D-4E3B-47AC-84E6-1396C7D63D0E}" dt="2026-02-07T15:55:48.461" v="1712" actId="170"/>
          <ac:spMkLst>
            <pc:docMk/>
            <pc:sldMk cId="562900706" sldId="275"/>
            <ac:spMk id="11" creationId="{AA832B98-DC9B-07CC-33A6-A995B4C29CCB}"/>
          </ac:spMkLst>
        </pc:spChg>
        <pc:spChg chg="add mod">
          <ac:chgData name="pooja l" userId="284455185f564ea4" providerId="LiveId" clId="{2E8EEF0D-4E3B-47AC-84E6-1396C7D63D0E}" dt="2026-02-07T15:45:38.120" v="1660" actId="1076"/>
          <ac:spMkLst>
            <pc:docMk/>
            <pc:sldMk cId="562900706" sldId="275"/>
            <ac:spMk id="12" creationId="{2BCAA4AF-303B-24B5-C22E-5BAB07C9EF4C}"/>
          </ac:spMkLst>
        </pc:spChg>
        <pc:spChg chg="add del">
          <ac:chgData name="pooja l" userId="284455185f564ea4" providerId="LiveId" clId="{2E8EEF0D-4E3B-47AC-84E6-1396C7D63D0E}" dt="2026-02-07T15:45:59.991" v="1662" actId="22"/>
          <ac:spMkLst>
            <pc:docMk/>
            <pc:sldMk cId="562900706" sldId="275"/>
            <ac:spMk id="14" creationId="{6722327C-30A0-CCF4-C4AA-B6865905A537}"/>
          </ac:spMkLst>
        </pc:spChg>
        <pc:spChg chg="add mod ord">
          <ac:chgData name="pooja l" userId="284455185f564ea4" providerId="LiveId" clId="{2E8EEF0D-4E3B-47AC-84E6-1396C7D63D0E}" dt="2026-02-07T15:47:40.609" v="1670" actId="171"/>
          <ac:spMkLst>
            <pc:docMk/>
            <pc:sldMk cId="562900706" sldId="275"/>
            <ac:spMk id="15" creationId="{8CC4CFCD-20B6-2418-693D-6FA437821402}"/>
          </ac:spMkLst>
        </pc:spChg>
        <pc:spChg chg="add mod ord">
          <ac:chgData name="pooja l" userId="284455185f564ea4" providerId="LiveId" clId="{2E8EEF0D-4E3B-47AC-84E6-1396C7D63D0E}" dt="2026-02-07T15:48:01.137" v="1674" actId="171"/>
          <ac:spMkLst>
            <pc:docMk/>
            <pc:sldMk cId="562900706" sldId="275"/>
            <ac:spMk id="16" creationId="{67A318A0-685E-042E-EAC0-617B2FCC4AF8}"/>
          </ac:spMkLst>
        </pc:spChg>
        <pc:picChg chg="add mod ord">
          <ac:chgData name="pooja l" userId="284455185f564ea4" providerId="LiveId" clId="{2E8EEF0D-4E3B-47AC-84E6-1396C7D63D0E}" dt="2026-02-07T15:55:30.210" v="1709" actId="171"/>
          <ac:picMkLst>
            <pc:docMk/>
            <pc:sldMk cId="562900706" sldId="275"/>
            <ac:picMk id="2" creationId="{FD3DDF07-224B-FB9D-364F-5405C37626AF}"/>
          </ac:picMkLst>
        </pc:picChg>
        <pc:picChg chg="del">
          <ac:chgData name="pooja l" userId="284455185f564ea4" providerId="LiveId" clId="{2E8EEF0D-4E3B-47AC-84E6-1396C7D63D0E}" dt="2026-02-07T15:37:38.626" v="1617" actId="478"/>
          <ac:picMkLst>
            <pc:docMk/>
            <pc:sldMk cId="562900706" sldId="275"/>
            <ac:picMk id="9" creationId="{5474BC4B-AD6A-9A08-1232-988F3C7252AA}"/>
          </ac:picMkLst>
        </pc:picChg>
        <pc:picChg chg="del">
          <ac:chgData name="pooja l" userId="284455185f564ea4" providerId="LiveId" clId="{2E8EEF0D-4E3B-47AC-84E6-1396C7D63D0E}" dt="2026-02-07T15:37:44.879" v="1619" actId="478"/>
          <ac:picMkLst>
            <pc:docMk/>
            <pc:sldMk cId="562900706" sldId="275"/>
            <ac:picMk id="10" creationId="{D4242AD7-A0D5-3BA4-3DD0-D1C2A22C2EB9}"/>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pooja\OneDrive\Desktop\POOJA%20DATA%20ANALYSIS%20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ooja\OneDrive\Desktop\POOJA%20DATA%20ANALYSIS%20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ooja\OneDrive\Desktop\POOJA%20DATA%20ANALYSIS%20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ooja\OneDrive\Desktop\POOJA%20DATA%20ANALYSIS%20PROJEC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[POOJA DATA ANALYSIS PROJECT.xlsx]pivot&amp;chart!PivotTable8</c:name>
    <c:fmtId val="6"/>
  </c:pivotSource>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a:t>Monthly</a:t>
            </a:r>
            <a:r>
              <a:rPr lang="en-US" sz="1600" b="1" baseline="0"/>
              <a:t> Sales Trend</a:t>
            </a:r>
            <a:endParaRPr lang="en-US" sz="1600" b="1"/>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'pivot&amp;chart'!$AB$8</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'pivot&amp;chart'!$AA$9:$AA$21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'pivot&amp;chart'!$AB$9:$AB$21</c:f>
              <c:numCache>
                <c:formatCode>"₹"\ #,##0.00</c:formatCode>
                <c:ptCount val="12"/>
                <c:pt idx="0">
                  <c:v>1820601</c:v>
                </c:pt>
                <c:pt idx="1">
                  <c:v>1875932</c:v>
                </c:pt>
                <c:pt idx="2">
                  <c:v>1928066</c:v>
                </c:pt>
                <c:pt idx="3">
                  <c:v>1829263</c:v>
                </c:pt>
                <c:pt idx="4">
                  <c:v>1797822</c:v>
                </c:pt>
                <c:pt idx="5">
                  <c:v>1750966</c:v>
                </c:pt>
                <c:pt idx="6">
                  <c:v>1772300</c:v>
                </c:pt>
                <c:pt idx="7">
                  <c:v>1808505</c:v>
                </c:pt>
                <c:pt idx="8">
                  <c:v>1688871</c:v>
                </c:pt>
                <c:pt idx="9">
                  <c:v>1666662</c:v>
                </c:pt>
                <c:pt idx="10">
                  <c:v>1615356</c:v>
                </c:pt>
                <c:pt idx="11">
                  <c:v>1622033</c:v>
                </c:pt>
              </c:numCache>
            </c:numRef>
          </c:val>
          <c:smooth val="0"/>
          <c:extLst>
            <c:ext xmlns:c16="http://schemas.microsoft.com/office/drawing/2014/chart" uri="{C3380CC4-5D6E-409C-BE32-E72D297353CC}">
              <c16:uniqueId val="{00000000-2097-48EA-AE85-68A5F31FADBE}"/>
            </c:ext>
          </c:extLst>
        </c:ser>
        <c:dLbls>
          <c:showLegendKey val="0"/>
          <c:showVal val="0"/>
          <c:showCatName val="0"/>
          <c:showSerName val="0"/>
          <c:showPercent val="0"/>
          <c:showBubbleSize val="0"/>
        </c:dLbls>
        <c:marker val="1"/>
        <c:smooth val="0"/>
        <c:axId val="1175957343"/>
        <c:axId val="1175958303"/>
      </c:lineChart>
      <c:catAx>
        <c:axId val="1175957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5958303"/>
        <c:crosses val="autoZero"/>
        <c:auto val="1"/>
        <c:lblAlgn val="ctr"/>
        <c:lblOffset val="100"/>
        <c:noMultiLvlLbl val="0"/>
      </c:catAx>
      <c:valAx>
        <c:axId val="1175958303"/>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5957343"/>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glow rad="1016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[POOJA DATA ANALYSIS PROJECT.xlsx]pivot&amp;chart!PivotTable2</c:name>
    <c:fmtId val="9"/>
  </c:pivotSource>
  <c:chart>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'pivot&amp;chart'!$C$7</c:f>
              <c:strCache>
                <c:ptCount val="1"/>
                <c:pt idx="0">
                  <c:v>Sum of Amount</c:v>
                </c:pt>
              </c:strCache>
            </c:strRef>
          </c:tx>
          <c:spPr>
            <a:solidFill>
              <a:schemeClr val="accent1"/>
            </a:solidFill>
            <a:ln>
              <a:noFill/>
            </a:ln>
            <a:effectLst/>
            <a:sp3d/>
          </c:spPr>
          <c:invertIfNegative val="0"/>
          <c:cat>
            <c:strRef>
              <c:f>'pivot&amp;chart'!$B$8:$B$15</c:f>
              <c:strCache>
                <c:ptCount val="7"/>
                <c:pt idx="0">
                  <c:v>Others</c:v>
                </c:pt>
                <c:pt idx="1">
                  <c:v>Meesho</c:v>
                </c:pt>
                <c:pt idx="2">
                  <c:v>Nalli</c:v>
                </c:pt>
                <c:pt idx="3">
                  <c:v>Ajio</c:v>
                </c:pt>
                <c:pt idx="4">
                  <c:v>Flipkart</c:v>
                </c:pt>
                <c:pt idx="5">
                  <c:v>Myntra</c:v>
                </c:pt>
                <c:pt idx="6">
                  <c:v>Amazon</c:v>
                </c:pt>
              </c:strCache>
            </c:strRef>
          </c:cat>
          <c:val>
            <c:numRef>
              <c:f>'pivot&amp;chart'!$C$8:$C$15</c:f>
              <c:numCache>
                <c:formatCode>"₹"\ #,##0.00</c:formatCode>
                <c:ptCount val="7"/>
                <c:pt idx="0">
                  <c:v>867241</c:v>
                </c:pt>
                <c:pt idx="1">
                  <c:v>927606</c:v>
                </c:pt>
                <c:pt idx="2">
                  <c:v>1015329</c:v>
                </c:pt>
                <c:pt idx="3">
                  <c:v>1331427</c:v>
                </c:pt>
                <c:pt idx="4">
                  <c:v>4573301</c:v>
                </c:pt>
                <c:pt idx="5">
                  <c:v>4941540</c:v>
                </c:pt>
                <c:pt idx="6">
                  <c:v>7519933</c:v>
                </c:pt>
              </c:numCache>
            </c:numRef>
          </c:val>
          <c:extLst>
            <c:ext xmlns:c16="http://schemas.microsoft.com/office/drawing/2014/chart" uri="{C3380CC4-5D6E-409C-BE32-E72D297353CC}">
              <c16:uniqueId val="{00000000-706C-4657-9B22-9EEB16C2D505}"/>
            </c:ext>
          </c:extLst>
        </c:ser>
        <c:ser>
          <c:idx val="1"/>
          <c:order val="1"/>
          <c:tx>
            <c:strRef>
              <c:f>'pivot&amp;chart'!$D$7</c:f>
              <c:strCache>
                <c:ptCount val="1"/>
                <c:pt idx="0">
                  <c:v>Count of Order ID</c:v>
                </c:pt>
              </c:strCache>
            </c:strRef>
          </c:tx>
          <c:spPr>
            <a:solidFill>
              <a:schemeClr val="accent2"/>
            </a:solidFill>
            <a:ln>
              <a:noFill/>
            </a:ln>
            <a:effectLst/>
            <a:sp3d/>
          </c:spPr>
          <c:invertIfNegative val="0"/>
          <c:cat>
            <c:strRef>
              <c:f>'pivot&amp;chart'!$B$8:$B$15</c:f>
              <c:strCache>
                <c:ptCount val="7"/>
                <c:pt idx="0">
                  <c:v>Others</c:v>
                </c:pt>
                <c:pt idx="1">
                  <c:v>Meesho</c:v>
                </c:pt>
                <c:pt idx="2">
                  <c:v>Nalli</c:v>
                </c:pt>
                <c:pt idx="3">
                  <c:v>Ajio</c:v>
                </c:pt>
                <c:pt idx="4">
                  <c:v>Flipkart</c:v>
                </c:pt>
                <c:pt idx="5">
                  <c:v>Myntra</c:v>
                </c:pt>
                <c:pt idx="6">
                  <c:v>Amazon</c:v>
                </c:pt>
              </c:strCache>
            </c:strRef>
          </c:cat>
          <c:val>
            <c:numRef>
              <c:f>'pivot&amp;chart'!$D$8:$D$15</c:f>
              <c:numCache>
                <c:formatCode>General</c:formatCode>
                <c:ptCount val="7"/>
                <c:pt idx="0">
                  <c:v>1261</c:v>
                </c:pt>
                <c:pt idx="1">
                  <c:v>1398</c:v>
                </c:pt>
                <c:pt idx="2">
                  <c:v>1484</c:v>
                </c:pt>
                <c:pt idx="3">
                  <c:v>1931</c:v>
                </c:pt>
                <c:pt idx="4">
                  <c:v>6703</c:v>
                </c:pt>
                <c:pt idx="5">
                  <c:v>7254</c:v>
                </c:pt>
                <c:pt idx="6">
                  <c:v>11016</c:v>
                </c:pt>
              </c:numCache>
            </c:numRef>
          </c:val>
          <c:extLst>
            <c:ext xmlns:c16="http://schemas.microsoft.com/office/drawing/2014/chart" uri="{C3380CC4-5D6E-409C-BE32-E72D297353CC}">
              <c16:uniqueId val="{00000001-706C-4657-9B22-9EEB16C2D505}"/>
            </c:ext>
          </c:extLst>
        </c:ser>
        <c:dLbls>
          <c:showLegendKey val="0"/>
          <c:showVal val="0"/>
          <c:showCatName val="0"/>
          <c:showSerName val="0"/>
          <c:showPercent val="0"/>
          <c:showBubbleSize val="0"/>
        </c:dLbls>
        <c:gapWidth val="150"/>
        <c:shape val="box"/>
        <c:axId val="778782639"/>
        <c:axId val="778783119"/>
        <c:axId val="0"/>
      </c:bar3DChart>
      <c:catAx>
        <c:axId val="77878263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8783119"/>
        <c:crosses val="autoZero"/>
        <c:auto val="1"/>
        <c:lblAlgn val="ctr"/>
        <c:lblOffset val="100"/>
        <c:noMultiLvlLbl val="0"/>
      </c:catAx>
      <c:valAx>
        <c:axId val="778783119"/>
        <c:scaling>
          <c:orientation val="minMax"/>
        </c:scaling>
        <c:delete val="0"/>
        <c:axPos val="b"/>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87826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glow rad="1016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[POOJA DATA ANALYSIS PROJECT.xlsx]pivot&amp;chart!PivotTable7</c:name>
    <c:fmtId val="20"/>
  </c:pivotSource>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IN"/>
              <a:t>Order Status Distribution</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ivotFmts>
      <c:pivotFmt>
        <c:idx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'pivot&amp;chart'!$S$8:$S$9</c:f>
              <c:strCache>
                <c:ptCount val="1"/>
                <c:pt idx="0">
                  <c:v>Cancelled</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cat>
            <c:strRef>
              <c:f>'pivot&amp;chart'!$R$10:$R$47</c:f>
              <c:strCache>
                <c:ptCount val="37"/>
                <c:pt idx="0">
                  <c:v>NEW DELHI</c:v>
                </c:pt>
                <c:pt idx="1">
                  <c:v>AHARASHTRA</c:v>
                </c:pt>
                <c:pt idx="2">
                  <c:v>LADAKH</c:v>
                </c:pt>
                <c:pt idx="3">
                  <c:v>MIZORAM</c:v>
                </c:pt>
                <c:pt idx="4">
                  <c:v>DADRA AND NAGAR</c:v>
                </c:pt>
                <c:pt idx="5">
                  <c:v>MEGHALAYA</c:v>
                </c:pt>
                <c:pt idx="6">
                  <c:v>TRIPURA</c:v>
                </c:pt>
                <c:pt idx="7">
                  <c:v>ARUNACHAL PRADESH</c:v>
                </c:pt>
                <c:pt idx="8">
                  <c:v>NAGALAND</c:v>
                </c:pt>
                <c:pt idx="9">
                  <c:v>ANDAMAN &amp; NICOBAR</c:v>
                </c:pt>
                <c:pt idx="10">
                  <c:v>SIKKIM</c:v>
                </c:pt>
                <c:pt idx="11">
                  <c:v>PUDUCHERRY</c:v>
                </c:pt>
                <c:pt idx="12">
                  <c:v>CHANDIGARH</c:v>
                </c:pt>
                <c:pt idx="13">
                  <c:v>MANIPUR</c:v>
                </c:pt>
                <c:pt idx="14">
                  <c:v>HIMACHAL PRADESH</c:v>
                </c:pt>
                <c:pt idx="15">
                  <c:v>JAMMU &amp; KASHMIR</c:v>
                </c:pt>
                <c:pt idx="16">
                  <c:v>CHHATTISGARH</c:v>
                </c:pt>
                <c:pt idx="17">
                  <c:v>GOA</c:v>
                </c:pt>
                <c:pt idx="18">
                  <c:v>JHARKHAND</c:v>
                </c:pt>
                <c:pt idx="19">
                  <c:v>UTTARAKHAND</c:v>
                </c:pt>
                <c:pt idx="20">
                  <c:v>ASSAM</c:v>
                </c:pt>
                <c:pt idx="21">
                  <c:v>PUNJAB</c:v>
                </c:pt>
                <c:pt idx="22">
                  <c:v>ODISHA</c:v>
                </c:pt>
                <c:pt idx="23">
                  <c:v>BIHAR</c:v>
                </c:pt>
                <c:pt idx="24">
                  <c:v>RAJASTHAN</c:v>
                </c:pt>
                <c:pt idx="25">
                  <c:v>MADHYA PRADESH</c:v>
                </c:pt>
                <c:pt idx="26">
                  <c:v>GUJARAT</c:v>
                </c:pt>
                <c:pt idx="27">
                  <c:v>HARYANA</c:v>
                </c:pt>
                <c:pt idx="28">
                  <c:v>ANDHRA PRADESH</c:v>
                </c:pt>
                <c:pt idx="29">
                  <c:v>WEST BENGAL</c:v>
                </c:pt>
                <c:pt idx="30">
                  <c:v>KERALA</c:v>
                </c:pt>
                <c:pt idx="31">
                  <c:v>DELHI</c:v>
                </c:pt>
                <c:pt idx="32">
                  <c:v>TELANGANA</c:v>
                </c:pt>
                <c:pt idx="33">
                  <c:v>TAMIL NADU</c:v>
                </c:pt>
                <c:pt idx="34">
                  <c:v>UTTAR PRADESH</c:v>
                </c:pt>
                <c:pt idx="35">
                  <c:v>KARNATAKA</c:v>
                </c:pt>
                <c:pt idx="36">
                  <c:v>MAHARASHTRA</c:v>
                </c:pt>
              </c:strCache>
            </c:strRef>
          </c:cat>
          <c:val>
            <c:numRef>
              <c:f>'pivot&amp;chart'!$S$10:$S$47</c:f>
              <c:numCache>
                <c:formatCode>0.00%</c:formatCode>
                <c:ptCount val="37"/>
                <c:pt idx="0">
                  <c:v>0</c:v>
                </c:pt>
                <c:pt idx="1">
                  <c:v>0</c:v>
                </c:pt>
                <c:pt idx="2">
                  <c:v>0</c:v>
                </c:pt>
                <c:pt idx="3">
                  <c:v>0</c:v>
                </c:pt>
                <c:pt idx="4">
                  <c:v>0</c:v>
                </c:pt>
                <c:pt idx="5">
                  <c:v>6.4418462331304146E-5</c:v>
                </c:pt>
                <c:pt idx="6">
                  <c:v>9.6627693496956226E-5</c:v>
                </c:pt>
                <c:pt idx="7">
                  <c:v>9.6627693496956226E-5</c:v>
                </c:pt>
                <c:pt idx="8">
                  <c:v>3.2209231165652073E-5</c:v>
                </c:pt>
                <c:pt idx="9">
                  <c:v>1.6104615582826037E-4</c:v>
                </c:pt>
                <c:pt idx="10">
                  <c:v>3.2209231165652073E-5</c:v>
                </c:pt>
                <c:pt idx="11">
                  <c:v>1.9325538699391245E-4</c:v>
                </c:pt>
                <c:pt idx="12">
                  <c:v>3.2209231165652073E-5</c:v>
                </c:pt>
                <c:pt idx="13">
                  <c:v>1.6104615582826037E-4</c:v>
                </c:pt>
                <c:pt idx="14">
                  <c:v>1.2883692466260829E-4</c:v>
                </c:pt>
                <c:pt idx="15">
                  <c:v>2.5767384932521659E-4</c:v>
                </c:pt>
                <c:pt idx="16">
                  <c:v>6.4418462331304146E-5</c:v>
                </c:pt>
                <c:pt idx="17">
                  <c:v>2.2546461815956453E-4</c:v>
                </c:pt>
                <c:pt idx="18">
                  <c:v>3.5430154282217285E-4</c:v>
                </c:pt>
                <c:pt idx="19">
                  <c:v>3.8651077398782491E-4</c:v>
                </c:pt>
                <c:pt idx="20">
                  <c:v>3.8651077398782491E-4</c:v>
                </c:pt>
                <c:pt idx="21">
                  <c:v>3.8651077398782491E-4</c:v>
                </c:pt>
                <c:pt idx="22">
                  <c:v>3.5430154282217285E-4</c:v>
                </c:pt>
                <c:pt idx="23">
                  <c:v>2.8988308049086869E-4</c:v>
                </c:pt>
                <c:pt idx="24">
                  <c:v>5.1534769865043317E-4</c:v>
                </c:pt>
                <c:pt idx="25">
                  <c:v>6.1197539214738949E-4</c:v>
                </c:pt>
                <c:pt idx="26">
                  <c:v>9.9848616613521434E-4</c:v>
                </c:pt>
                <c:pt idx="27">
                  <c:v>8.6964924147260602E-4</c:v>
                </c:pt>
                <c:pt idx="28">
                  <c:v>1.4494154024543434E-3</c:v>
                </c:pt>
                <c:pt idx="29">
                  <c:v>1.1917415531291268E-3</c:v>
                </c:pt>
                <c:pt idx="30">
                  <c:v>1.8681354076078205E-3</c:v>
                </c:pt>
                <c:pt idx="31">
                  <c:v>1.1273230907978226E-3</c:v>
                </c:pt>
                <c:pt idx="32">
                  <c:v>2.7055754179147744E-3</c:v>
                </c:pt>
                <c:pt idx="33">
                  <c:v>1.8681354076078205E-3</c:v>
                </c:pt>
                <c:pt idx="34">
                  <c:v>2.2868554127612973E-3</c:v>
                </c:pt>
                <c:pt idx="35">
                  <c:v>3.6074338905530325E-3</c:v>
                </c:pt>
                <c:pt idx="36">
                  <c:v>4.3804554385286822E-3</c:v>
                </c:pt>
              </c:numCache>
            </c:numRef>
          </c:val>
          <c:extLst>
            <c:ext xmlns:c16="http://schemas.microsoft.com/office/drawing/2014/chart" uri="{C3380CC4-5D6E-409C-BE32-E72D297353CC}">
              <c16:uniqueId val="{00000000-0B83-4A59-8617-3C230BAFCE70}"/>
            </c:ext>
          </c:extLst>
        </c:ser>
        <c:ser>
          <c:idx val="1"/>
          <c:order val="1"/>
          <c:tx>
            <c:strRef>
              <c:f>'pivot&amp;chart'!$T$8:$T$9</c:f>
              <c:strCache>
                <c:ptCount val="1"/>
                <c:pt idx="0">
                  <c:v>Delivered</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cat>
            <c:strRef>
              <c:f>'pivot&amp;chart'!$R$10:$R$47</c:f>
              <c:strCache>
                <c:ptCount val="37"/>
                <c:pt idx="0">
                  <c:v>NEW DELHI</c:v>
                </c:pt>
                <c:pt idx="1">
                  <c:v>AHARASHTRA</c:v>
                </c:pt>
                <c:pt idx="2">
                  <c:v>LADAKH</c:v>
                </c:pt>
                <c:pt idx="3">
                  <c:v>MIZORAM</c:v>
                </c:pt>
                <c:pt idx="4">
                  <c:v>DADRA AND NAGAR</c:v>
                </c:pt>
                <c:pt idx="5">
                  <c:v>MEGHALAYA</c:v>
                </c:pt>
                <c:pt idx="6">
                  <c:v>TRIPURA</c:v>
                </c:pt>
                <c:pt idx="7">
                  <c:v>ARUNACHAL PRADESH</c:v>
                </c:pt>
                <c:pt idx="8">
                  <c:v>NAGALAND</c:v>
                </c:pt>
                <c:pt idx="9">
                  <c:v>ANDAMAN &amp; NICOBAR</c:v>
                </c:pt>
                <c:pt idx="10">
                  <c:v>SIKKIM</c:v>
                </c:pt>
                <c:pt idx="11">
                  <c:v>PUDUCHERRY</c:v>
                </c:pt>
                <c:pt idx="12">
                  <c:v>CHANDIGARH</c:v>
                </c:pt>
                <c:pt idx="13">
                  <c:v>MANIPUR</c:v>
                </c:pt>
                <c:pt idx="14">
                  <c:v>HIMACHAL PRADESH</c:v>
                </c:pt>
                <c:pt idx="15">
                  <c:v>JAMMU &amp; KASHMIR</c:v>
                </c:pt>
                <c:pt idx="16">
                  <c:v>CHHATTISGARH</c:v>
                </c:pt>
                <c:pt idx="17">
                  <c:v>GOA</c:v>
                </c:pt>
                <c:pt idx="18">
                  <c:v>JHARKHAND</c:v>
                </c:pt>
                <c:pt idx="19">
                  <c:v>UTTARAKHAND</c:v>
                </c:pt>
                <c:pt idx="20">
                  <c:v>ASSAM</c:v>
                </c:pt>
                <c:pt idx="21">
                  <c:v>PUNJAB</c:v>
                </c:pt>
                <c:pt idx="22">
                  <c:v>ODISHA</c:v>
                </c:pt>
                <c:pt idx="23">
                  <c:v>BIHAR</c:v>
                </c:pt>
                <c:pt idx="24">
                  <c:v>RAJASTHAN</c:v>
                </c:pt>
                <c:pt idx="25">
                  <c:v>MADHYA PRADESH</c:v>
                </c:pt>
                <c:pt idx="26">
                  <c:v>GUJARAT</c:v>
                </c:pt>
                <c:pt idx="27">
                  <c:v>HARYANA</c:v>
                </c:pt>
                <c:pt idx="28">
                  <c:v>ANDHRA PRADESH</c:v>
                </c:pt>
                <c:pt idx="29">
                  <c:v>WEST BENGAL</c:v>
                </c:pt>
                <c:pt idx="30">
                  <c:v>KERALA</c:v>
                </c:pt>
                <c:pt idx="31">
                  <c:v>DELHI</c:v>
                </c:pt>
                <c:pt idx="32">
                  <c:v>TELANGANA</c:v>
                </c:pt>
                <c:pt idx="33">
                  <c:v>TAMIL NADU</c:v>
                </c:pt>
                <c:pt idx="34">
                  <c:v>UTTAR PRADESH</c:v>
                </c:pt>
                <c:pt idx="35">
                  <c:v>KARNATAKA</c:v>
                </c:pt>
                <c:pt idx="36">
                  <c:v>MAHARASHTRA</c:v>
                </c:pt>
              </c:strCache>
            </c:strRef>
          </c:cat>
          <c:val>
            <c:numRef>
              <c:f>'pivot&amp;chart'!$T$10:$T$47</c:f>
              <c:numCache>
                <c:formatCode>0.00%</c:formatCode>
                <c:ptCount val="37"/>
                <c:pt idx="0">
                  <c:v>3.2209231165652075E-4</c:v>
                </c:pt>
                <c:pt idx="1">
                  <c:v>2.8988308049086869E-4</c:v>
                </c:pt>
                <c:pt idx="2">
                  <c:v>5.1534769865043317E-4</c:v>
                </c:pt>
                <c:pt idx="3">
                  <c:v>6.4418462331304149E-4</c:v>
                </c:pt>
                <c:pt idx="4">
                  <c:v>6.4418462331304149E-4</c:v>
                </c:pt>
                <c:pt idx="5">
                  <c:v>1.0951138596321706E-3</c:v>
                </c:pt>
                <c:pt idx="6">
                  <c:v>1.4172061712886914E-3</c:v>
                </c:pt>
                <c:pt idx="7">
                  <c:v>1.4494154024543434E-3</c:v>
                </c:pt>
                <c:pt idx="8">
                  <c:v>1.5138338647856476E-3</c:v>
                </c:pt>
                <c:pt idx="9">
                  <c:v>1.9969723322704287E-3</c:v>
                </c:pt>
                <c:pt idx="10">
                  <c:v>2.2224369504299933E-3</c:v>
                </c:pt>
                <c:pt idx="11">
                  <c:v>2.1902277192643411E-3</c:v>
                </c:pt>
                <c:pt idx="12">
                  <c:v>2.6411569555834704E-3</c:v>
                </c:pt>
                <c:pt idx="13">
                  <c:v>2.9632492672399908E-3</c:v>
                </c:pt>
                <c:pt idx="14">
                  <c:v>5.8942893033143299E-3</c:v>
                </c:pt>
                <c:pt idx="15">
                  <c:v>6.2485908461365029E-3</c:v>
                </c:pt>
                <c:pt idx="16">
                  <c:v>7.5369600927625855E-3</c:v>
                </c:pt>
                <c:pt idx="17">
                  <c:v>8.9219570328856242E-3</c:v>
                </c:pt>
                <c:pt idx="18">
                  <c:v>1.0629046284665185E-2</c:v>
                </c:pt>
                <c:pt idx="19">
                  <c:v>1.3302412471414308E-2</c:v>
                </c:pt>
                <c:pt idx="20">
                  <c:v>1.4494154024543434E-2</c:v>
                </c:pt>
                <c:pt idx="21">
                  <c:v>1.520275711018778E-2</c:v>
                </c:pt>
                <c:pt idx="22">
                  <c:v>1.7264147904789511E-2</c:v>
                </c:pt>
                <c:pt idx="23">
                  <c:v>1.7199729442458209E-2</c:v>
                </c:pt>
                <c:pt idx="24">
                  <c:v>2.2771926434116019E-2</c:v>
                </c:pt>
                <c:pt idx="25">
                  <c:v>2.3158437208103844E-2</c:v>
                </c:pt>
                <c:pt idx="26">
                  <c:v>3.121074499951686E-2</c:v>
                </c:pt>
                <c:pt idx="27">
                  <c:v>3.3626437336940769E-2</c:v>
                </c:pt>
                <c:pt idx="28">
                  <c:v>4.0583631268721616E-2</c:v>
                </c:pt>
                <c:pt idx="29">
                  <c:v>4.2065255902341614E-2</c:v>
                </c:pt>
                <c:pt idx="30">
                  <c:v>4.5318388250072471E-2</c:v>
                </c:pt>
                <c:pt idx="31">
                  <c:v>5.5271040680258961E-2</c:v>
                </c:pt>
                <c:pt idx="32">
                  <c:v>7.427448706799368E-2</c:v>
                </c:pt>
                <c:pt idx="33">
                  <c:v>8.0233194833639318E-2</c:v>
                </c:pt>
                <c:pt idx="34">
                  <c:v>8.6095274905788E-2</c:v>
                </c:pt>
                <c:pt idx="35">
                  <c:v>0.11798241375978355</c:v>
                </c:pt>
                <c:pt idx="36">
                  <c:v>0.13331400779463395</c:v>
                </c:pt>
              </c:numCache>
            </c:numRef>
          </c:val>
          <c:extLst>
            <c:ext xmlns:c16="http://schemas.microsoft.com/office/drawing/2014/chart" uri="{C3380CC4-5D6E-409C-BE32-E72D297353CC}">
              <c16:uniqueId val="{00000001-0B83-4A59-8617-3C230BAFCE70}"/>
            </c:ext>
          </c:extLst>
        </c:ser>
        <c:ser>
          <c:idx val="2"/>
          <c:order val="2"/>
          <c:tx>
            <c:strRef>
              <c:f>'pivot&amp;chart'!$U$8:$U$9</c:f>
              <c:strCache>
                <c:ptCount val="1"/>
                <c:pt idx="0">
                  <c:v>Refunded</c:v>
                </c:pt>
              </c:strCache>
            </c:strRef>
          </c:tx>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invertIfNegative val="0"/>
          <c:cat>
            <c:strRef>
              <c:f>'pivot&amp;chart'!$R$10:$R$47</c:f>
              <c:strCache>
                <c:ptCount val="37"/>
                <c:pt idx="0">
                  <c:v>NEW DELHI</c:v>
                </c:pt>
                <c:pt idx="1">
                  <c:v>AHARASHTRA</c:v>
                </c:pt>
                <c:pt idx="2">
                  <c:v>LADAKH</c:v>
                </c:pt>
                <c:pt idx="3">
                  <c:v>MIZORAM</c:v>
                </c:pt>
                <c:pt idx="4">
                  <c:v>DADRA AND NAGAR</c:v>
                </c:pt>
                <c:pt idx="5">
                  <c:v>MEGHALAYA</c:v>
                </c:pt>
                <c:pt idx="6">
                  <c:v>TRIPURA</c:v>
                </c:pt>
                <c:pt idx="7">
                  <c:v>ARUNACHAL PRADESH</c:v>
                </c:pt>
                <c:pt idx="8">
                  <c:v>NAGALAND</c:v>
                </c:pt>
                <c:pt idx="9">
                  <c:v>ANDAMAN &amp; NICOBAR</c:v>
                </c:pt>
                <c:pt idx="10">
                  <c:v>SIKKIM</c:v>
                </c:pt>
                <c:pt idx="11">
                  <c:v>PUDUCHERRY</c:v>
                </c:pt>
                <c:pt idx="12">
                  <c:v>CHANDIGARH</c:v>
                </c:pt>
                <c:pt idx="13">
                  <c:v>MANIPUR</c:v>
                </c:pt>
                <c:pt idx="14">
                  <c:v>HIMACHAL PRADESH</c:v>
                </c:pt>
                <c:pt idx="15">
                  <c:v>JAMMU &amp; KASHMIR</c:v>
                </c:pt>
                <c:pt idx="16">
                  <c:v>CHHATTISGARH</c:v>
                </c:pt>
                <c:pt idx="17">
                  <c:v>GOA</c:v>
                </c:pt>
                <c:pt idx="18">
                  <c:v>JHARKHAND</c:v>
                </c:pt>
                <c:pt idx="19">
                  <c:v>UTTARAKHAND</c:v>
                </c:pt>
                <c:pt idx="20">
                  <c:v>ASSAM</c:v>
                </c:pt>
                <c:pt idx="21">
                  <c:v>PUNJAB</c:v>
                </c:pt>
                <c:pt idx="22">
                  <c:v>ODISHA</c:v>
                </c:pt>
                <c:pt idx="23">
                  <c:v>BIHAR</c:v>
                </c:pt>
                <c:pt idx="24">
                  <c:v>RAJASTHAN</c:v>
                </c:pt>
                <c:pt idx="25">
                  <c:v>MADHYA PRADESH</c:v>
                </c:pt>
                <c:pt idx="26">
                  <c:v>GUJARAT</c:v>
                </c:pt>
                <c:pt idx="27">
                  <c:v>HARYANA</c:v>
                </c:pt>
                <c:pt idx="28">
                  <c:v>ANDHRA PRADESH</c:v>
                </c:pt>
                <c:pt idx="29">
                  <c:v>WEST BENGAL</c:v>
                </c:pt>
                <c:pt idx="30">
                  <c:v>KERALA</c:v>
                </c:pt>
                <c:pt idx="31">
                  <c:v>DELHI</c:v>
                </c:pt>
                <c:pt idx="32">
                  <c:v>TELANGANA</c:v>
                </c:pt>
                <c:pt idx="33">
                  <c:v>TAMIL NADU</c:v>
                </c:pt>
                <c:pt idx="34">
                  <c:v>UTTAR PRADESH</c:v>
                </c:pt>
                <c:pt idx="35">
                  <c:v>KARNATAKA</c:v>
                </c:pt>
                <c:pt idx="36">
                  <c:v>MAHARASHTRA</c:v>
                </c:pt>
              </c:strCache>
            </c:strRef>
          </c:cat>
          <c:val>
            <c:numRef>
              <c:f>'pivot&amp;chart'!$U$10:$U$47</c:f>
              <c:numCache>
                <c:formatCode>0.00%</c:formatCode>
                <c:ptCount val="37"/>
                <c:pt idx="0">
                  <c:v>0</c:v>
                </c:pt>
                <c:pt idx="1">
                  <c:v>0</c:v>
                </c:pt>
                <c:pt idx="2">
                  <c:v>0</c:v>
                </c:pt>
                <c:pt idx="3">
                  <c:v>0</c:v>
                </c:pt>
                <c:pt idx="4">
                  <c:v>0</c:v>
                </c:pt>
                <c:pt idx="5">
                  <c:v>9.6627693496956226E-5</c:v>
                </c:pt>
                <c:pt idx="6">
                  <c:v>0</c:v>
                </c:pt>
                <c:pt idx="7">
                  <c:v>0</c:v>
                </c:pt>
                <c:pt idx="8">
                  <c:v>3.2209231165652073E-5</c:v>
                </c:pt>
                <c:pt idx="9">
                  <c:v>0</c:v>
                </c:pt>
                <c:pt idx="10">
                  <c:v>3.2209231165652073E-5</c:v>
                </c:pt>
                <c:pt idx="11">
                  <c:v>3.2209231165652073E-5</c:v>
                </c:pt>
                <c:pt idx="12">
                  <c:v>6.4418462331304146E-5</c:v>
                </c:pt>
                <c:pt idx="13">
                  <c:v>0</c:v>
                </c:pt>
                <c:pt idx="14">
                  <c:v>9.6627693496956226E-5</c:v>
                </c:pt>
                <c:pt idx="15">
                  <c:v>3.2209231165652073E-5</c:v>
                </c:pt>
                <c:pt idx="16">
                  <c:v>9.6627693496956226E-5</c:v>
                </c:pt>
                <c:pt idx="17">
                  <c:v>2.5767384932521659E-4</c:v>
                </c:pt>
                <c:pt idx="18">
                  <c:v>1.2883692466260829E-4</c:v>
                </c:pt>
                <c:pt idx="19">
                  <c:v>3.8651077398782491E-4</c:v>
                </c:pt>
                <c:pt idx="20">
                  <c:v>9.6627693496956226E-5</c:v>
                </c:pt>
                <c:pt idx="21">
                  <c:v>1.2883692466260829E-4</c:v>
                </c:pt>
                <c:pt idx="22">
                  <c:v>2.2546461815956453E-4</c:v>
                </c:pt>
                <c:pt idx="23">
                  <c:v>3.2209231165652075E-4</c:v>
                </c:pt>
                <c:pt idx="24">
                  <c:v>1.9325538699391245E-4</c:v>
                </c:pt>
                <c:pt idx="25">
                  <c:v>2.2546461815956453E-4</c:v>
                </c:pt>
                <c:pt idx="26">
                  <c:v>6.763938544786936E-4</c:v>
                </c:pt>
                <c:pt idx="27">
                  <c:v>6.4418462331304149E-4</c:v>
                </c:pt>
                <c:pt idx="28">
                  <c:v>7.408123168099977E-4</c:v>
                </c:pt>
                <c:pt idx="29">
                  <c:v>8.6964924147260602E-4</c:v>
                </c:pt>
                <c:pt idx="30">
                  <c:v>1.1273230907978226E-3</c:v>
                </c:pt>
                <c:pt idx="31">
                  <c:v>9.3406770380391024E-4</c:v>
                </c:pt>
                <c:pt idx="32">
                  <c:v>1.1595323219634748E-3</c:v>
                </c:pt>
                <c:pt idx="33">
                  <c:v>1.5460430959512996E-3</c:v>
                </c:pt>
                <c:pt idx="34">
                  <c:v>1.4494154024543434E-3</c:v>
                </c:pt>
                <c:pt idx="35">
                  <c:v>2.1580184880986889E-3</c:v>
                </c:pt>
                <c:pt idx="36">
                  <c:v>2.8988308049086868E-3</c:v>
                </c:pt>
              </c:numCache>
            </c:numRef>
          </c:val>
          <c:extLst>
            <c:ext xmlns:c16="http://schemas.microsoft.com/office/drawing/2014/chart" uri="{C3380CC4-5D6E-409C-BE32-E72D297353CC}">
              <c16:uniqueId val="{00000002-0B83-4A59-8617-3C230BAFCE70}"/>
            </c:ext>
          </c:extLst>
        </c:ser>
        <c:ser>
          <c:idx val="3"/>
          <c:order val="3"/>
          <c:tx>
            <c:strRef>
              <c:f>'pivot&amp;chart'!$V$8:$V$9</c:f>
              <c:strCache>
                <c:ptCount val="1"/>
                <c:pt idx="0">
                  <c:v>Returned</c:v>
                </c:pt>
              </c:strCache>
            </c:strRef>
          </c:tx>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invertIfNegative val="0"/>
          <c:cat>
            <c:strRef>
              <c:f>'pivot&amp;chart'!$R$10:$R$47</c:f>
              <c:strCache>
                <c:ptCount val="37"/>
                <c:pt idx="0">
                  <c:v>NEW DELHI</c:v>
                </c:pt>
                <c:pt idx="1">
                  <c:v>AHARASHTRA</c:v>
                </c:pt>
                <c:pt idx="2">
                  <c:v>LADAKH</c:v>
                </c:pt>
                <c:pt idx="3">
                  <c:v>MIZORAM</c:v>
                </c:pt>
                <c:pt idx="4">
                  <c:v>DADRA AND NAGAR</c:v>
                </c:pt>
                <c:pt idx="5">
                  <c:v>MEGHALAYA</c:v>
                </c:pt>
                <c:pt idx="6">
                  <c:v>TRIPURA</c:v>
                </c:pt>
                <c:pt idx="7">
                  <c:v>ARUNACHAL PRADESH</c:v>
                </c:pt>
                <c:pt idx="8">
                  <c:v>NAGALAND</c:v>
                </c:pt>
                <c:pt idx="9">
                  <c:v>ANDAMAN &amp; NICOBAR</c:v>
                </c:pt>
                <c:pt idx="10">
                  <c:v>SIKKIM</c:v>
                </c:pt>
                <c:pt idx="11">
                  <c:v>PUDUCHERRY</c:v>
                </c:pt>
                <c:pt idx="12">
                  <c:v>CHANDIGARH</c:v>
                </c:pt>
                <c:pt idx="13">
                  <c:v>MANIPUR</c:v>
                </c:pt>
                <c:pt idx="14">
                  <c:v>HIMACHAL PRADESH</c:v>
                </c:pt>
                <c:pt idx="15">
                  <c:v>JAMMU &amp; KASHMIR</c:v>
                </c:pt>
                <c:pt idx="16">
                  <c:v>CHHATTISGARH</c:v>
                </c:pt>
                <c:pt idx="17">
                  <c:v>GOA</c:v>
                </c:pt>
                <c:pt idx="18">
                  <c:v>JHARKHAND</c:v>
                </c:pt>
                <c:pt idx="19">
                  <c:v>UTTARAKHAND</c:v>
                </c:pt>
                <c:pt idx="20">
                  <c:v>ASSAM</c:v>
                </c:pt>
                <c:pt idx="21">
                  <c:v>PUNJAB</c:v>
                </c:pt>
                <c:pt idx="22">
                  <c:v>ODISHA</c:v>
                </c:pt>
                <c:pt idx="23">
                  <c:v>BIHAR</c:v>
                </c:pt>
                <c:pt idx="24">
                  <c:v>RAJASTHAN</c:v>
                </c:pt>
                <c:pt idx="25">
                  <c:v>MADHYA PRADESH</c:v>
                </c:pt>
                <c:pt idx="26">
                  <c:v>GUJARAT</c:v>
                </c:pt>
                <c:pt idx="27">
                  <c:v>HARYANA</c:v>
                </c:pt>
                <c:pt idx="28">
                  <c:v>ANDHRA PRADESH</c:v>
                </c:pt>
                <c:pt idx="29">
                  <c:v>WEST BENGAL</c:v>
                </c:pt>
                <c:pt idx="30">
                  <c:v>KERALA</c:v>
                </c:pt>
                <c:pt idx="31">
                  <c:v>DELHI</c:v>
                </c:pt>
                <c:pt idx="32">
                  <c:v>TELANGANA</c:v>
                </c:pt>
                <c:pt idx="33">
                  <c:v>TAMIL NADU</c:v>
                </c:pt>
                <c:pt idx="34">
                  <c:v>UTTAR PRADESH</c:v>
                </c:pt>
                <c:pt idx="35">
                  <c:v>KARNATAKA</c:v>
                </c:pt>
                <c:pt idx="36">
                  <c:v>MAHARASHTRA</c:v>
                </c:pt>
              </c:strCache>
            </c:strRef>
          </c:cat>
          <c:val>
            <c:numRef>
              <c:f>'pivot&amp;chart'!$V$10:$V$47</c:f>
              <c:numCache>
                <c:formatCode>0.00%</c:formatCode>
                <c:ptCount val="37"/>
                <c:pt idx="0">
                  <c:v>0</c:v>
                </c:pt>
                <c:pt idx="1">
                  <c:v>3.2209231165652073E-5</c:v>
                </c:pt>
                <c:pt idx="2">
                  <c:v>0</c:v>
                </c:pt>
                <c:pt idx="3">
                  <c:v>0</c:v>
                </c:pt>
                <c:pt idx="4">
                  <c:v>3.2209231165652073E-5</c:v>
                </c:pt>
                <c:pt idx="5">
                  <c:v>3.2209231165652073E-5</c:v>
                </c:pt>
                <c:pt idx="6">
                  <c:v>0</c:v>
                </c:pt>
                <c:pt idx="7">
                  <c:v>3.2209231165652073E-5</c:v>
                </c:pt>
                <c:pt idx="8">
                  <c:v>6.4418462331304146E-5</c:v>
                </c:pt>
                <c:pt idx="9">
                  <c:v>1.6104615582826037E-4</c:v>
                </c:pt>
                <c:pt idx="10">
                  <c:v>3.2209231165652073E-5</c:v>
                </c:pt>
                <c:pt idx="11">
                  <c:v>9.6627693496956226E-5</c:v>
                </c:pt>
                <c:pt idx="12">
                  <c:v>2.2546461815956453E-4</c:v>
                </c:pt>
                <c:pt idx="13">
                  <c:v>1.2883692466260829E-4</c:v>
                </c:pt>
                <c:pt idx="14">
                  <c:v>2.2546461815956453E-4</c:v>
                </c:pt>
                <c:pt idx="15">
                  <c:v>3.5430154282217285E-4</c:v>
                </c:pt>
                <c:pt idx="16">
                  <c:v>2.2546461815956453E-4</c:v>
                </c:pt>
                <c:pt idx="17">
                  <c:v>4.5092923631912907E-4</c:v>
                </c:pt>
                <c:pt idx="18">
                  <c:v>3.5430154282217285E-4</c:v>
                </c:pt>
                <c:pt idx="19">
                  <c:v>5.1534769865043317E-4</c:v>
                </c:pt>
                <c:pt idx="20">
                  <c:v>4.5092923631912907E-4</c:v>
                </c:pt>
                <c:pt idx="21">
                  <c:v>6.4418462331304149E-4</c:v>
                </c:pt>
                <c:pt idx="22">
                  <c:v>5.4755692981608528E-4</c:v>
                </c:pt>
                <c:pt idx="23">
                  <c:v>9.0185847263825813E-4</c:v>
                </c:pt>
                <c:pt idx="24">
                  <c:v>7.7302154797564981E-4</c:v>
                </c:pt>
                <c:pt idx="25">
                  <c:v>7.0860308564434571E-4</c:v>
                </c:pt>
                <c:pt idx="26">
                  <c:v>1.1917415531291268E-3</c:v>
                </c:pt>
                <c:pt idx="27">
                  <c:v>8.6964924147260602E-4</c:v>
                </c:pt>
                <c:pt idx="28">
                  <c:v>1.3205784777917352E-3</c:v>
                </c:pt>
                <c:pt idx="29">
                  <c:v>1.7715077141108643E-3</c:v>
                </c:pt>
                <c:pt idx="30">
                  <c:v>1.5782523271169516E-3</c:v>
                </c:pt>
                <c:pt idx="31">
                  <c:v>1.7070892517795601E-3</c:v>
                </c:pt>
                <c:pt idx="32">
                  <c:v>3.2531323477308595E-3</c:v>
                </c:pt>
                <c:pt idx="33">
                  <c:v>2.6411569555834704E-3</c:v>
                </c:pt>
                <c:pt idx="34">
                  <c:v>2.995458498405643E-3</c:v>
                </c:pt>
                <c:pt idx="35">
                  <c:v>4.7025477501852027E-3</c:v>
                </c:pt>
                <c:pt idx="36">
                  <c:v>4.6381292878538991E-3</c:v>
                </c:pt>
              </c:numCache>
            </c:numRef>
          </c:val>
          <c:extLst>
            <c:ext xmlns:c16="http://schemas.microsoft.com/office/drawing/2014/chart" uri="{C3380CC4-5D6E-409C-BE32-E72D297353CC}">
              <c16:uniqueId val="{00000003-0B83-4A59-8617-3C230BAFCE70}"/>
            </c:ext>
          </c:extLst>
        </c:ser>
        <c:dLbls>
          <c:showLegendKey val="0"/>
          <c:showVal val="0"/>
          <c:showCatName val="0"/>
          <c:showSerName val="0"/>
          <c:showPercent val="0"/>
          <c:showBubbleSize val="0"/>
        </c:dLbls>
        <c:gapWidth val="150"/>
        <c:overlap val="100"/>
        <c:axId val="1587907343"/>
        <c:axId val="1587911663"/>
      </c:barChart>
      <c:catAx>
        <c:axId val="158790734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587911663"/>
        <c:crosses val="autoZero"/>
        <c:auto val="1"/>
        <c:lblAlgn val="ctr"/>
        <c:lblOffset val="100"/>
        <c:noMultiLvlLbl val="0"/>
      </c:catAx>
      <c:valAx>
        <c:axId val="1587911663"/>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5879073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glow rad="1016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[POOJA DATA ANALYSIS PROJECT.xlsx]pivot&amp;chart!PivotTable9</c:name>
    <c:fmtId val="15"/>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spc="100" baseline="0">
                <a:solidFill>
                  <a:sysClr val="window" lastClr="FFFFFF">
                    <a:lumMod val="95000"/>
                  </a:sysClr>
                </a:solidFill>
                <a:effectLst>
                  <a:outerShdw blurRad="50800" dist="38100" dir="5400000" algn="t" rotWithShape="0">
                    <a:prstClr val="black">
                      <a:alpha val="40000"/>
                    </a:prstClr>
                  </a:outerShdw>
                </a:effectLst>
                <a:latin typeface="+mn-lt"/>
                <a:ea typeface="+mn-ea"/>
                <a:cs typeface="+mn-cs"/>
              </a:defRPr>
            </a:pPr>
            <a:r>
              <a:rPr lang="en-IN" sz="1400" b="1">
                <a:solidFill>
                  <a:sysClr val="windowText" lastClr="000000"/>
                </a:solidFill>
                <a:effectLst/>
                <a:latin typeface="Poor Richard" panose="02080502050505020702" pitchFamily="18" charset="0"/>
              </a:rPr>
              <a:t>Category</a:t>
            </a:r>
          </a:p>
          <a:p>
            <a:pPr marL="0" marR="0" lvl="0" indent="0" algn="ctr" defTabSz="914400" rtl="0" eaLnBrk="1" fontAlgn="auto" latinLnBrk="0" hangingPunct="1">
              <a:lnSpc>
                <a:spcPct val="100000"/>
              </a:lnSpc>
              <a:spcBef>
                <a:spcPts val="0"/>
              </a:spcBef>
              <a:spcAft>
                <a:spcPts val="0"/>
              </a:spcAft>
              <a:buClrTx/>
              <a:buSzTx/>
              <a:buFontTx/>
              <a:buNone/>
              <a:tabLst/>
              <a:defRPr sz="1400">
                <a:solidFill>
                  <a:sysClr val="window" lastClr="FFFFFF">
                    <a:lumMod val="95000"/>
                  </a:sysClr>
                </a:solidFill>
              </a:defRPr>
            </a:pPr>
            <a:r>
              <a:rPr lang="en-IN" sz="1400" b="1">
                <a:solidFill>
                  <a:sysClr val="windowText" lastClr="000000"/>
                </a:solidFill>
                <a:effectLst/>
                <a:latin typeface="Poor Richard" panose="02080502050505020702" pitchFamily="18" charset="0"/>
              </a:rPr>
              <a:t>-wise</a:t>
            </a:r>
          </a:p>
          <a:p>
            <a:pPr marL="0" marR="0" lvl="0" indent="0" algn="ctr" defTabSz="914400" rtl="0" eaLnBrk="1" fontAlgn="auto" latinLnBrk="0" hangingPunct="1">
              <a:lnSpc>
                <a:spcPct val="100000"/>
              </a:lnSpc>
              <a:spcBef>
                <a:spcPts val="0"/>
              </a:spcBef>
              <a:spcAft>
                <a:spcPts val="0"/>
              </a:spcAft>
              <a:buClrTx/>
              <a:buSzTx/>
              <a:buFontTx/>
              <a:buNone/>
              <a:tabLst/>
              <a:defRPr sz="1400">
                <a:solidFill>
                  <a:sysClr val="window" lastClr="FFFFFF">
                    <a:lumMod val="95000"/>
                  </a:sysClr>
                </a:solidFill>
              </a:defRPr>
            </a:pPr>
            <a:r>
              <a:rPr lang="en-IN" sz="1400" b="1">
                <a:solidFill>
                  <a:sysClr val="windowText" lastClr="000000"/>
                </a:solidFill>
                <a:effectLst/>
                <a:latin typeface="Poor Richard" panose="02080502050505020702" pitchFamily="18" charset="0"/>
              </a:rPr>
              <a:t> Sales Share </a:t>
            </a:r>
            <a:endParaRPr lang="en-IN" sz="1400" b="1">
              <a:solidFill>
                <a:sysClr val="windowText" lastClr="000000"/>
              </a:solidFill>
              <a:latin typeface="Poor Richard" panose="02080502050505020702" pitchFamily="18" charset="0"/>
            </a:endParaRPr>
          </a:p>
        </c:rich>
      </c:tx>
      <c:layout>
        <c:manualLayout>
          <c:xMode val="edge"/>
          <c:yMode val="edge"/>
          <c:x val="0.25780846443353123"/>
          <c:y val="0.39326659025397165"/>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spc="100" baseline="0">
              <a:solidFill>
                <a:sysClr val="window" lastClr="FFFFFF">
                  <a:lumMod val="95000"/>
                </a:sys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s>
    <c:plotArea>
      <c:layout>
        <c:manualLayout>
          <c:layoutTarget val="inner"/>
          <c:xMode val="edge"/>
          <c:yMode val="edge"/>
          <c:x val="0.11274428030226627"/>
          <c:y val="8.8451715820809129E-2"/>
          <c:w val="0.55487148699683098"/>
          <c:h val="0.81337565925545618"/>
        </c:manualLayout>
      </c:layout>
      <c:doughnutChart>
        <c:varyColors val="1"/>
        <c:ser>
          <c:idx val="0"/>
          <c:order val="0"/>
          <c:tx>
            <c:strRef>
              <c:f>'pivot&amp;chart'!$J$20</c:f>
              <c:strCache>
                <c:ptCount val="1"/>
                <c:pt idx="0">
                  <c:v>Total</c:v>
                </c:pt>
              </c:strCache>
            </c:strRef>
          </c:tx>
          <c:explosion val="1"/>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E0BB-4FAB-94AE-64BE285A67EE}"/>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E0BB-4FAB-94AE-64BE285A67EE}"/>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E0BB-4FAB-94AE-64BE285A67EE}"/>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E0BB-4FAB-94AE-64BE285A67EE}"/>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E0BB-4FAB-94AE-64BE285A67EE}"/>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E0BB-4FAB-94AE-64BE285A67EE}"/>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D-E0BB-4FAB-94AE-64BE285A67EE}"/>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F-E0BB-4FAB-94AE-64BE285A67E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'pivot&amp;chart'!$I$21:$I$29</c:f>
              <c:strCache>
                <c:ptCount val="8"/>
                <c:pt idx="0">
                  <c:v>Blouse</c:v>
                </c:pt>
                <c:pt idx="1">
                  <c:v>Bottom</c:v>
                </c:pt>
                <c:pt idx="2">
                  <c:v>Ethnic Dress</c:v>
                </c:pt>
                <c:pt idx="3">
                  <c:v>kurta</c:v>
                </c:pt>
                <c:pt idx="4">
                  <c:v>Saree</c:v>
                </c:pt>
                <c:pt idx="5">
                  <c:v>Set</c:v>
                </c:pt>
                <c:pt idx="6">
                  <c:v>Top</c:v>
                </c:pt>
                <c:pt idx="7">
                  <c:v>Western Dress</c:v>
                </c:pt>
              </c:strCache>
            </c:strRef>
          </c:cat>
          <c:val>
            <c:numRef>
              <c:f>'pivot&amp;chart'!$J$21:$J$29</c:f>
              <c:numCache>
                <c:formatCode>0.00%</c:formatCode>
                <c:ptCount val="8"/>
                <c:pt idx="0">
                  <c:v>6.6530738473346979E-3</c:v>
                </c:pt>
                <c:pt idx="1">
                  <c:v>1.3129724692755517E-3</c:v>
                </c:pt>
                <c:pt idx="2">
                  <c:v>9.2204629715460767E-3</c:v>
                </c:pt>
                <c:pt idx="3">
                  <c:v>0.23419383778443309</c:v>
                </c:pt>
                <c:pt idx="4">
                  <c:v>4.7716896993286434E-2</c:v>
                </c:pt>
                <c:pt idx="5">
                  <c:v>0.49619186511460389</c:v>
                </c:pt>
                <c:pt idx="6">
                  <c:v>5.6015200333843697E-2</c:v>
                </c:pt>
                <c:pt idx="7">
                  <c:v>0.14869569048567657</c:v>
                </c:pt>
              </c:numCache>
            </c:numRef>
          </c:val>
          <c:extLst>
            <c:ext xmlns:c16="http://schemas.microsoft.com/office/drawing/2014/chart" uri="{C3380CC4-5D6E-409C-BE32-E72D297353CC}">
              <c16:uniqueId val="{00000010-E0BB-4FAB-94AE-64BE285A67EE}"/>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r"/>
      <c:layout>
        <c:manualLayout>
          <c:xMode val="edge"/>
          <c:yMode val="edge"/>
          <c:x val="0.69597796953844948"/>
          <c:y val="0.22007357642215167"/>
          <c:w val="0.2105990154633243"/>
          <c:h val="0.6605727495918025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a:glow rad="1016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01">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diagrams/_rels/data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_rels/data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diagrams/_rels/drawing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_rels/drawing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513069-18E5-48AA-91F7-FAA3ADB0DF7B}" type="doc">
      <dgm:prSet loTypeId="urn:microsoft.com/office/officeart/2009/3/layout/SubStepProcess" loCatId="process" qsTypeId="urn:microsoft.com/office/officeart/2005/8/quickstyle/3d3" qsCatId="3D" csTypeId="urn:microsoft.com/office/officeart/2005/8/colors/accent6_2" csCatId="accent6" phldr="1"/>
      <dgm:spPr/>
      <dgm:t>
        <a:bodyPr/>
        <a:lstStyle/>
        <a:p>
          <a:endParaRPr lang="en-IN"/>
        </a:p>
      </dgm:t>
    </dgm:pt>
    <dgm:pt modelId="{5FE6AFA6-2616-4927-96B3-B596704FC1B7}">
      <dgm:prSet/>
      <dgm:spPr/>
      <dgm:t>
        <a:bodyPr/>
        <a:lstStyle/>
        <a:p>
          <a:r>
            <a:rPr lang="en-IN" dirty="0">
              <a:latin typeface="Garamond" panose="02020404030301010803" pitchFamily="18" charset="0"/>
            </a:rPr>
            <a:t>Gender: Inconsistent values (Women / W / Men / M)</a:t>
          </a:r>
        </a:p>
      </dgm:t>
    </dgm:pt>
    <dgm:pt modelId="{FF00DE16-D164-444E-BFC8-5DF41E1C0A84}" type="parTrans" cxnId="{EB3A8290-B2A5-4F75-8E83-C64714379665}">
      <dgm:prSet/>
      <dgm:spPr/>
      <dgm:t>
        <a:bodyPr/>
        <a:lstStyle/>
        <a:p>
          <a:endParaRPr lang="en-IN"/>
        </a:p>
      </dgm:t>
    </dgm:pt>
    <dgm:pt modelId="{182C9511-23D5-4CAB-B339-842331959743}" type="sibTrans" cxnId="{EB3A8290-B2A5-4F75-8E83-C64714379665}">
      <dgm:prSet/>
      <dgm:spPr/>
      <dgm:t>
        <a:bodyPr/>
        <a:lstStyle/>
        <a:p>
          <a:endParaRPr lang="en-IN"/>
        </a:p>
      </dgm:t>
    </dgm:pt>
    <dgm:pt modelId="{BBF34C94-8985-4606-A349-C098E6195095}">
      <dgm:prSet/>
      <dgm:spPr/>
      <dgm:t>
        <a:bodyPr/>
        <a:lstStyle/>
        <a:p>
          <a:r>
            <a:rPr lang="en-IN" dirty="0">
              <a:latin typeface="Garamond" panose="02020404030301010803" pitchFamily="18" charset="0"/>
            </a:rPr>
            <a:t>Ship-State: Case variations (DELHI, Delhi, </a:t>
          </a:r>
          <a:r>
            <a:rPr lang="en-IN" dirty="0" err="1">
              <a:latin typeface="Garamond" panose="02020404030301010803" pitchFamily="18" charset="0"/>
            </a:rPr>
            <a:t>delhi</a:t>
          </a:r>
          <a:r>
            <a:rPr lang="en-IN" dirty="0">
              <a:latin typeface="Garamond" panose="02020404030301010803" pitchFamily="18" charset="0"/>
            </a:rPr>
            <a:t>, Goa, goa)</a:t>
          </a:r>
        </a:p>
      </dgm:t>
    </dgm:pt>
    <dgm:pt modelId="{16B4679E-B40B-4C27-BE56-580EF803E83A}" type="parTrans" cxnId="{E62A5C45-156A-4543-8E9C-9579430FDBD2}">
      <dgm:prSet/>
      <dgm:spPr/>
      <dgm:t>
        <a:bodyPr/>
        <a:lstStyle/>
        <a:p>
          <a:endParaRPr lang="en-IN"/>
        </a:p>
      </dgm:t>
    </dgm:pt>
    <dgm:pt modelId="{91BE5012-BD9C-49D7-83F7-C495AF16427B}" type="sibTrans" cxnId="{E62A5C45-156A-4543-8E9C-9579430FDBD2}">
      <dgm:prSet/>
      <dgm:spPr/>
      <dgm:t>
        <a:bodyPr/>
        <a:lstStyle/>
        <a:p>
          <a:endParaRPr lang="en-IN"/>
        </a:p>
      </dgm:t>
    </dgm:pt>
    <dgm:pt modelId="{5B78FF0D-5D2C-446B-8041-BDC00E6C4970}">
      <dgm:prSet/>
      <dgm:spPr/>
      <dgm:t>
        <a:bodyPr/>
        <a:lstStyle/>
        <a:p>
          <a:r>
            <a:rPr lang="en-IN" dirty="0">
              <a:latin typeface="Garamond" panose="02020404030301010803" pitchFamily="18" charset="0"/>
            </a:rPr>
            <a:t>Channel: Extra spaces and inconsistent naming (e.g., "Channel ")</a:t>
          </a:r>
        </a:p>
      </dgm:t>
    </dgm:pt>
    <dgm:pt modelId="{0EBED424-B0BE-49D5-9FF5-A57F584A7D9C}" type="parTrans" cxnId="{668DB822-6AB1-4E27-9BE3-F1814651944A}">
      <dgm:prSet/>
      <dgm:spPr/>
      <dgm:t>
        <a:bodyPr/>
        <a:lstStyle/>
        <a:p>
          <a:endParaRPr lang="en-IN"/>
        </a:p>
      </dgm:t>
    </dgm:pt>
    <dgm:pt modelId="{2CC3D451-4855-43D3-8B1D-3BA73E5C19CC}" type="sibTrans" cxnId="{668DB822-6AB1-4E27-9BE3-F1814651944A}">
      <dgm:prSet/>
      <dgm:spPr/>
      <dgm:t>
        <a:bodyPr/>
        <a:lstStyle/>
        <a:p>
          <a:endParaRPr lang="en-IN"/>
        </a:p>
      </dgm:t>
    </dgm:pt>
    <dgm:pt modelId="{EEA61798-58B6-4E6B-8756-13D26A39FE55}">
      <dgm:prSet/>
      <dgm:spPr/>
      <dgm:t>
        <a:bodyPr/>
        <a:lstStyle/>
        <a:p>
          <a:r>
            <a:rPr lang="en-IN" dirty="0">
              <a:latin typeface="Garamond" panose="02020404030301010803" pitchFamily="18" charset="0"/>
            </a:rPr>
            <a:t>Quantity: Mixed formats (1, One, 2, Two)</a:t>
          </a:r>
        </a:p>
      </dgm:t>
    </dgm:pt>
    <dgm:pt modelId="{74FB4A27-35EF-42DC-ABB0-CFA3B05A82C9}" type="parTrans" cxnId="{13AFEA40-173C-4A65-9371-BB2AE1309EE1}">
      <dgm:prSet/>
      <dgm:spPr/>
      <dgm:t>
        <a:bodyPr/>
        <a:lstStyle/>
        <a:p>
          <a:endParaRPr lang="en-IN"/>
        </a:p>
      </dgm:t>
    </dgm:pt>
    <dgm:pt modelId="{544A1BAE-F39B-42C5-ACA7-2A9EC2E902E7}" type="sibTrans" cxnId="{13AFEA40-173C-4A65-9371-BB2AE1309EE1}">
      <dgm:prSet/>
      <dgm:spPr/>
      <dgm:t>
        <a:bodyPr/>
        <a:lstStyle/>
        <a:p>
          <a:endParaRPr lang="en-IN"/>
        </a:p>
      </dgm:t>
    </dgm:pt>
    <dgm:pt modelId="{CC1A54F2-DB85-4335-871A-23623DA6A192}">
      <dgm:prSet custT="1"/>
      <dgm:spPr>
        <a:solidFill>
          <a:schemeClr val="accent3">
            <a:lumMod val="60000"/>
            <a:lumOff val="40000"/>
          </a:schemeClr>
        </a:solidFill>
      </dgm:spPr>
      <dgm:t>
        <a:bodyPr/>
        <a:lstStyle/>
        <a:p>
          <a:endParaRPr lang="en-IN" sz="5400" kern="1200" dirty="0"/>
        </a:p>
      </dgm:t>
    </dgm:pt>
    <dgm:pt modelId="{153510DB-2372-4076-B331-1D5751FCC402}" type="sibTrans" cxnId="{20F52C6C-D8BC-4EAA-8630-F48364349F96}">
      <dgm:prSet/>
      <dgm:spPr/>
      <dgm:t>
        <a:bodyPr/>
        <a:lstStyle/>
        <a:p>
          <a:endParaRPr lang="en-IN"/>
        </a:p>
      </dgm:t>
    </dgm:pt>
    <dgm:pt modelId="{7710F232-5665-406E-B5E3-FBF794803140}" type="parTrans" cxnId="{20F52C6C-D8BC-4EAA-8630-F48364349F96}">
      <dgm:prSet/>
      <dgm:spPr/>
      <dgm:t>
        <a:bodyPr/>
        <a:lstStyle/>
        <a:p>
          <a:endParaRPr lang="en-IN"/>
        </a:p>
      </dgm:t>
    </dgm:pt>
    <dgm:pt modelId="{AB7F2041-AB85-4A5B-83AC-5EAD06C70BDE}" type="pres">
      <dgm:prSet presAssocID="{05513069-18E5-48AA-91F7-FAA3ADB0DF7B}" presName="Name0" presStyleCnt="0">
        <dgm:presLayoutVars>
          <dgm:chMax val="7"/>
          <dgm:dir/>
          <dgm:animOne val="branch"/>
        </dgm:presLayoutVars>
      </dgm:prSet>
      <dgm:spPr/>
    </dgm:pt>
    <dgm:pt modelId="{7182854D-809C-4670-9230-198F4D35A66C}" type="pres">
      <dgm:prSet presAssocID="{CC1A54F2-DB85-4335-871A-23623DA6A192}" presName="parTx1" presStyleLbl="node1" presStyleIdx="0" presStyleCnt="1" custScaleX="83924" custScaleY="90072"/>
      <dgm:spPr/>
    </dgm:pt>
    <dgm:pt modelId="{B565382E-5744-42D7-BB5E-C3FAE65CFD46}" type="pres">
      <dgm:prSet presAssocID="{CC1A54F2-DB85-4335-871A-23623DA6A192}" presName="spPre1" presStyleCnt="0"/>
      <dgm:spPr/>
    </dgm:pt>
    <dgm:pt modelId="{F6E6A782-48D4-40E2-B29C-6FABD2E3E018}" type="pres">
      <dgm:prSet presAssocID="{CC1A54F2-DB85-4335-871A-23623DA6A192}" presName="chLin1" presStyleCnt="0"/>
      <dgm:spPr/>
    </dgm:pt>
    <dgm:pt modelId="{D03B1CAB-5D87-4B8D-A187-DDE2A1131893}" type="pres">
      <dgm:prSet presAssocID="{FF00DE16-D164-444E-BFC8-5DF41E1C0A84}" presName="Name11" presStyleLbl="parChTrans1D1" presStyleIdx="0" presStyleCnt="8"/>
      <dgm:spPr/>
    </dgm:pt>
    <dgm:pt modelId="{F43F2582-7BDE-4213-9139-EBC1C531602E}" type="pres">
      <dgm:prSet presAssocID="{5FE6AFA6-2616-4927-96B3-B596704FC1B7}" presName="txAndLines1" presStyleCnt="0"/>
      <dgm:spPr/>
    </dgm:pt>
    <dgm:pt modelId="{039F0552-BF70-4826-9AF1-8FDEDF4DAECD}" type="pres">
      <dgm:prSet presAssocID="{5FE6AFA6-2616-4927-96B3-B596704FC1B7}" presName="anchor1" presStyleCnt="0"/>
      <dgm:spPr/>
    </dgm:pt>
    <dgm:pt modelId="{DA7BB4B7-4EB3-45B6-8D0A-4B2A8ED81254}" type="pres">
      <dgm:prSet presAssocID="{5FE6AFA6-2616-4927-96B3-B596704FC1B7}" presName="backup1" presStyleCnt="0"/>
      <dgm:spPr/>
    </dgm:pt>
    <dgm:pt modelId="{02E8CD79-7711-4DBF-94ED-7E930CFE72FB}" type="pres">
      <dgm:prSet presAssocID="{5FE6AFA6-2616-4927-96B3-B596704FC1B7}" presName="preLine1" presStyleLbl="parChTrans1D1" presStyleIdx="1" presStyleCnt="8"/>
      <dgm:spPr/>
    </dgm:pt>
    <dgm:pt modelId="{654CA8B7-BCAF-4403-A8A2-EF98C393060B}" type="pres">
      <dgm:prSet presAssocID="{5FE6AFA6-2616-4927-96B3-B596704FC1B7}" presName="desTx1" presStyleLbl="revTx" presStyleIdx="0" presStyleCnt="0">
        <dgm:presLayoutVars>
          <dgm:bulletEnabled val="1"/>
        </dgm:presLayoutVars>
      </dgm:prSet>
      <dgm:spPr/>
    </dgm:pt>
    <dgm:pt modelId="{4213E337-FF97-4B7D-A1DC-D9E3BBCA1DA3}" type="pres">
      <dgm:prSet presAssocID="{74FB4A27-35EF-42DC-ABB0-CFA3B05A82C9}" presName="Name11" presStyleLbl="parChTrans1D1" presStyleIdx="2" presStyleCnt="8"/>
      <dgm:spPr/>
    </dgm:pt>
    <dgm:pt modelId="{91DB664C-EC1A-45E8-BA63-EC2E49B7DD41}" type="pres">
      <dgm:prSet presAssocID="{EEA61798-58B6-4E6B-8756-13D26A39FE55}" presName="txAndLines1" presStyleCnt="0"/>
      <dgm:spPr/>
    </dgm:pt>
    <dgm:pt modelId="{55700CCF-A293-49F6-9672-73E4EDB66D7A}" type="pres">
      <dgm:prSet presAssocID="{EEA61798-58B6-4E6B-8756-13D26A39FE55}" presName="anchor1" presStyleCnt="0"/>
      <dgm:spPr/>
    </dgm:pt>
    <dgm:pt modelId="{CC567EB6-CEA3-4B00-A1F3-D7E2751ACADB}" type="pres">
      <dgm:prSet presAssocID="{EEA61798-58B6-4E6B-8756-13D26A39FE55}" presName="backup1" presStyleCnt="0"/>
      <dgm:spPr/>
    </dgm:pt>
    <dgm:pt modelId="{C0B81079-6FCA-4DC5-B96B-162E0CEAD774}" type="pres">
      <dgm:prSet presAssocID="{EEA61798-58B6-4E6B-8756-13D26A39FE55}" presName="preLine1" presStyleLbl="parChTrans1D1" presStyleIdx="3" presStyleCnt="8"/>
      <dgm:spPr/>
    </dgm:pt>
    <dgm:pt modelId="{C1405F17-1ED0-4FBB-9CAE-EE862AEB36F8}" type="pres">
      <dgm:prSet presAssocID="{EEA61798-58B6-4E6B-8756-13D26A39FE55}" presName="desTx1" presStyleLbl="revTx" presStyleIdx="0" presStyleCnt="0">
        <dgm:presLayoutVars>
          <dgm:bulletEnabled val="1"/>
        </dgm:presLayoutVars>
      </dgm:prSet>
      <dgm:spPr/>
    </dgm:pt>
    <dgm:pt modelId="{63925912-70F4-4201-95A4-A00D3CBA2355}" type="pres">
      <dgm:prSet presAssocID="{16B4679E-B40B-4C27-BE56-580EF803E83A}" presName="Name11" presStyleLbl="parChTrans1D1" presStyleIdx="4" presStyleCnt="8"/>
      <dgm:spPr/>
    </dgm:pt>
    <dgm:pt modelId="{F1DE9CA6-EB4C-4970-B86E-A59C51CCED19}" type="pres">
      <dgm:prSet presAssocID="{BBF34C94-8985-4606-A349-C098E6195095}" presName="txAndLines1" presStyleCnt="0"/>
      <dgm:spPr/>
    </dgm:pt>
    <dgm:pt modelId="{69DB019F-AB20-47A2-9471-AC50F0C02669}" type="pres">
      <dgm:prSet presAssocID="{BBF34C94-8985-4606-A349-C098E6195095}" presName="anchor1" presStyleCnt="0"/>
      <dgm:spPr/>
    </dgm:pt>
    <dgm:pt modelId="{E428C96C-88C4-4BD8-8D06-0DDD5E011204}" type="pres">
      <dgm:prSet presAssocID="{BBF34C94-8985-4606-A349-C098E6195095}" presName="backup1" presStyleCnt="0"/>
      <dgm:spPr/>
    </dgm:pt>
    <dgm:pt modelId="{60190464-7398-432B-8572-E9005C55CBDA}" type="pres">
      <dgm:prSet presAssocID="{BBF34C94-8985-4606-A349-C098E6195095}" presName="preLine1" presStyleLbl="parChTrans1D1" presStyleIdx="5" presStyleCnt="8"/>
      <dgm:spPr/>
    </dgm:pt>
    <dgm:pt modelId="{A992C919-37BE-49F3-98A4-BEEBAEC78D46}" type="pres">
      <dgm:prSet presAssocID="{BBF34C94-8985-4606-A349-C098E6195095}" presName="desTx1" presStyleLbl="revTx" presStyleIdx="0" presStyleCnt="0">
        <dgm:presLayoutVars>
          <dgm:bulletEnabled val="1"/>
        </dgm:presLayoutVars>
      </dgm:prSet>
      <dgm:spPr/>
    </dgm:pt>
    <dgm:pt modelId="{E44E2758-A7A3-480B-8523-E0BF64F4A597}" type="pres">
      <dgm:prSet presAssocID="{0EBED424-B0BE-49D5-9FF5-A57F584A7D9C}" presName="Name11" presStyleLbl="parChTrans1D1" presStyleIdx="6" presStyleCnt="8"/>
      <dgm:spPr/>
    </dgm:pt>
    <dgm:pt modelId="{7B15771C-2855-4077-95D6-7409BADF6FE2}" type="pres">
      <dgm:prSet presAssocID="{5B78FF0D-5D2C-446B-8041-BDC00E6C4970}" presName="txAndLines1" presStyleCnt="0"/>
      <dgm:spPr/>
    </dgm:pt>
    <dgm:pt modelId="{022FE599-A914-4A2C-97C2-BCB64DC87482}" type="pres">
      <dgm:prSet presAssocID="{5B78FF0D-5D2C-446B-8041-BDC00E6C4970}" presName="anchor1" presStyleCnt="0"/>
      <dgm:spPr/>
    </dgm:pt>
    <dgm:pt modelId="{CF0E7444-79BA-4B43-81C1-A521D2C50625}" type="pres">
      <dgm:prSet presAssocID="{5B78FF0D-5D2C-446B-8041-BDC00E6C4970}" presName="backup1" presStyleCnt="0"/>
      <dgm:spPr/>
    </dgm:pt>
    <dgm:pt modelId="{A1818ED3-5191-4D70-8F6D-1540EEEFE6B0}" type="pres">
      <dgm:prSet presAssocID="{5B78FF0D-5D2C-446B-8041-BDC00E6C4970}" presName="preLine1" presStyleLbl="parChTrans1D1" presStyleIdx="7" presStyleCnt="8"/>
      <dgm:spPr/>
    </dgm:pt>
    <dgm:pt modelId="{68D95FA1-4E7E-4331-BC22-6012FD695460}" type="pres">
      <dgm:prSet presAssocID="{5B78FF0D-5D2C-446B-8041-BDC00E6C4970}" presName="desTx1" presStyleLbl="revTx" presStyleIdx="0" presStyleCnt="0">
        <dgm:presLayoutVars>
          <dgm:bulletEnabled val="1"/>
        </dgm:presLayoutVars>
      </dgm:prSet>
      <dgm:spPr/>
    </dgm:pt>
  </dgm:ptLst>
  <dgm:cxnLst>
    <dgm:cxn modelId="{4695E716-6746-4D3C-A891-D4506715CB5B}" type="presOf" srcId="{5FE6AFA6-2616-4927-96B3-B596704FC1B7}" destId="{654CA8B7-BCAF-4403-A8A2-EF98C393060B}" srcOrd="0" destOrd="0" presId="urn:microsoft.com/office/officeart/2009/3/layout/SubStepProcess"/>
    <dgm:cxn modelId="{668DB822-6AB1-4E27-9BE3-F1814651944A}" srcId="{CC1A54F2-DB85-4335-871A-23623DA6A192}" destId="{5B78FF0D-5D2C-446B-8041-BDC00E6C4970}" srcOrd="3" destOrd="0" parTransId="{0EBED424-B0BE-49D5-9FF5-A57F584A7D9C}" sibTransId="{2CC3D451-4855-43D3-8B1D-3BA73E5C19CC}"/>
    <dgm:cxn modelId="{2822293F-D787-4415-B4F9-0749E6ACE437}" type="presOf" srcId="{EEA61798-58B6-4E6B-8756-13D26A39FE55}" destId="{C1405F17-1ED0-4FBB-9CAE-EE862AEB36F8}" srcOrd="0" destOrd="0" presId="urn:microsoft.com/office/officeart/2009/3/layout/SubStepProcess"/>
    <dgm:cxn modelId="{13AFEA40-173C-4A65-9371-BB2AE1309EE1}" srcId="{CC1A54F2-DB85-4335-871A-23623DA6A192}" destId="{EEA61798-58B6-4E6B-8756-13D26A39FE55}" srcOrd="1" destOrd="0" parTransId="{74FB4A27-35EF-42DC-ABB0-CFA3B05A82C9}" sibTransId="{544A1BAE-F39B-42C5-ACA7-2A9EC2E902E7}"/>
    <dgm:cxn modelId="{E62A5C45-156A-4543-8E9C-9579430FDBD2}" srcId="{CC1A54F2-DB85-4335-871A-23623DA6A192}" destId="{BBF34C94-8985-4606-A349-C098E6195095}" srcOrd="2" destOrd="0" parTransId="{16B4679E-B40B-4C27-BE56-580EF803E83A}" sibTransId="{91BE5012-BD9C-49D7-83F7-C495AF16427B}"/>
    <dgm:cxn modelId="{20F52C6C-D8BC-4EAA-8630-F48364349F96}" srcId="{05513069-18E5-48AA-91F7-FAA3ADB0DF7B}" destId="{CC1A54F2-DB85-4335-871A-23623DA6A192}" srcOrd="0" destOrd="0" parTransId="{7710F232-5665-406E-B5E3-FBF794803140}" sibTransId="{153510DB-2372-4076-B331-1D5751FCC402}"/>
    <dgm:cxn modelId="{F8C98672-8912-4479-B882-6FAA6D37D21A}" type="presOf" srcId="{BBF34C94-8985-4606-A349-C098E6195095}" destId="{A992C919-37BE-49F3-98A4-BEEBAEC78D46}" srcOrd="0" destOrd="0" presId="urn:microsoft.com/office/officeart/2009/3/layout/SubStepProcess"/>
    <dgm:cxn modelId="{5ED81376-593B-44E3-AFAF-E840674F57DB}" type="presOf" srcId="{5B78FF0D-5D2C-446B-8041-BDC00E6C4970}" destId="{68D95FA1-4E7E-4331-BC22-6012FD695460}" srcOrd="0" destOrd="0" presId="urn:microsoft.com/office/officeart/2009/3/layout/SubStepProcess"/>
    <dgm:cxn modelId="{EB3A8290-B2A5-4F75-8E83-C64714379665}" srcId="{CC1A54F2-DB85-4335-871A-23623DA6A192}" destId="{5FE6AFA6-2616-4927-96B3-B596704FC1B7}" srcOrd="0" destOrd="0" parTransId="{FF00DE16-D164-444E-BFC8-5DF41E1C0A84}" sibTransId="{182C9511-23D5-4CAB-B339-842331959743}"/>
    <dgm:cxn modelId="{5A32EA99-EC9D-4809-A235-31A778C24B94}" type="presOf" srcId="{05513069-18E5-48AA-91F7-FAA3ADB0DF7B}" destId="{AB7F2041-AB85-4A5B-83AC-5EAD06C70BDE}" srcOrd="0" destOrd="0" presId="urn:microsoft.com/office/officeart/2009/3/layout/SubStepProcess"/>
    <dgm:cxn modelId="{7D489FDB-AA18-45BB-97D2-41F82CA4B3FD}" type="presOf" srcId="{CC1A54F2-DB85-4335-871A-23623DA6A192}" destId="{7182854D-809C-4670-9230-198F4D35A66C}" srcOrd="0" destOrd="0" presId="urn:microsoft.com/office/officeart/2009/3/layout/SubStepProcess"/>
    <dgm:cxn modelId="{CC806EF2-72EC-439F-9DDF-326FC97C0151}" type="presParOf" srcId="{AB7F2041-AB85-4A5B-83AC-5EAD06C70BDE}" destId="{7182854D-809C-4670-9230-198F4D35A66C}" srcOrd="0" destOrd="0" presId="urn:microsoft.com/office/officeart/2009/3/layout/SubStepProcess"/>
    <dgm:cxn modelId="{4E1A0E6A-825F-47AA-A695-CF8403343E93}" type="presParOf" srcId="{AB7F2041-AB85-4A5B-83AC-5EAD06C70BDE}" destId="{B565382E-5744-42D7-BB5E-C3FAE65CFD46}" srcOrd="1" destOrd="0" presId="urn:microsoft.com/office/officeart/2009/3/layout/SubStepProcess"/>
    <dgm:cxn modelId="{0A0DC4E6-D221-4426-B0CD-86284794CDEB}" type="presParOf" srcId="{AB7F2041-AB85-4A5B-83AC-5EAD06C70BDE}" destId="{F6E6A782-48D4-40E2-B29C-6FABD2E3E018}" srcOrd="2" destOrd="0" presId="urn:microsoft.com/office/officeart/2009/3/layout/SubStepProcess"/>
    <dgm:cxn modelId="{929FF2AF-E387-4A9F-937D-152718ABB674}" type="presParOf" srcId="{F6E6A782-48D4-40E2-B29C-6FABD2E3E018}" destId="{D03B1CAB-5D87-4B8D-A187-DDE2A1131893}" srcOrd="0" destOrd="0" presId="urn:microsoft.com/office/officeart/2009/3/layout/SubStepProcess"/>
    <dgm:cxn modelId="{B3096E5E-89AD-4524-AFBC-FC800D5B77BC}" type="presParOf" srcId="{F6E6A782-48D4-40E2-B29C-6FABD2E3E018}" destId="{F43F2582-7BDE-4213-9139-EBC1C531602E}" srcOrd="1" destOrd="0" presId="urn:microsoft.com/office/officeart/2009/3/layout/SubStepProcess"/>
    <dgm:cxn modelId="{D6A92629-B058-47ED-93E3-6F2C97AE2B94}" type="presParOf" srcId="{F43F2582-7BDE-4213-9139-EBC1C531602E}" destId="{039F0552-BF70-4826-9AF1-8FDEDF4DAECD}" srcOrd="0" destOrd="0" presId="urn:microsoft.com/office/officeart/2009/3/layout/SubStepProcess"/>
    <dgm:cxn modelId="{D2B88C2F-2CF3-4370-AE0C-3B02B3279B8D}" type="presParOf" srcId="{F43F2582-7BDE-4213-9139-EBC1C531602E}" destId="{DA7BB4B7-4EB3-45B6-8D0A-4B2A8ED81254}" srcOrd="1" destOrd="0" presId="urn:microsoft.com/office/officeart/2009/3/layout/SubStepProcess"/>
    <dgm:cxn modelId="{7822B976-70C7-4633-A0A8-49B2520975EB}" type="presParOf" srcId="{F43F2582-7BDE-4213-9139-EBC1C531602E}" destId="{02E8CD79-7711-4DBF-94ED-7E930CFE72FB}" srcOrd="2" destOrd="0" presId="urn:microsoft.com/office/officeart/2009/3/layout/SubStepProcess"/>
    <dgm:cxn modelId="{757F5EFF-EC70-48E5-AE02-1B4BDA1BCC90}" type="presParOf" srcId="{F43F2582-7BDE-4213-9139-EBC1C531602E}" destId="{654CA8B7-BCAF-4403-A8A2-EF98C393060B}" srcOrd="3" destOrd="0" presId="urn:microsoft.com/office/officeart/2009/3/layout/SubStepProcess"/>
    <dgm:cxn modelId="{650EDB24-B047-46CA-9FC0-11D66A921A57}" type="presParOf" srcId="{F6E6A782-48D4-40E2-B29C-6FABD2E3E018}" destId="{4213E337-FF97-4B7D-A1DC-D9E3BBCA1DA3}" srcOrd="2" destOrd="0" presId="urn:microsoft.com/office/officeart/2009/3/layout/SubStepProcess"/>
    <dgm:cxn modelId="{0F5A17D8-A11F-46A1-90FB-9BD0BB79B4DC}" type="presParOf" srcId="{F6E6A782-48D4-40E2-B29C-6FABD2E3E018}" destId="{91DB664C-EC1A-45E8-BA63-EC2E49B7DD41}" srcOrd="3" destOrd="0" presId="urn:microsoft.com/office/officeart/2009/3/layout/SubStepProcess"/>
    <dgm:cxn modelId="{CE7854FF-141D-455D-A78D-CFDA47CEF314}" type="presParOf" srcId="{91DB664C-EC1A-45E8-BA63-EC2E49B7DD41}" destId="{55700CCF-A293-49F6-9672-73E4EDB66D7A}" srcOrd="0" destOrd="0" presId="urn:microsoft.com/office/officeart/2009/3/layout/SubStepProcess"/>
    <dgm:cxn modelId="{529E96D1-EE86-4E7E-B970-E4147BD4096F}" type="presParOf" srcId="{91DB664C-EC1A-45E8-BA63-EC2E49B7DD41}" destId="{CC567EB6-CEA3-4B00-A1F3-D7E2751ACADB}" srcOrd="1" destOrd="0" presId="urn:microsoft.com/office/officeart/2009/3/layout/SubStepProcess"/>
    <dgm:cxn modelId="{C47BB910-4B6C-46F0-878A-4D7325FB9E50}" type="presParOf" srcId="{91DB664C-EC1A-45E8-BA63-EC2E49B7DD41}" destId="{C0B81079-6FCA-4DC5-B96B-162E0CEAD774}" srcOrd="2" destOrd="0" presId="urn:microsoft.com/office/officeart/2009/3/layout/SubStepProcess"/>
    <dgm:cxn modelId="{E29233FF-61D8-4EA2-89A9-AFD4A3E2E91B}" type="presParOf" srcId="{91DB664C-EC1A-45E8-BA63-EC2E49B7DD41}" destId="{C1405F17-1ED0-4FBB-9CAE-EE862AEB36F8}" srcOrd="3" destOrd="0" presId="urn:microsoft.com/office/officeart/2009/3/layout/SubStepProcess"/>
    <dgm:cxn modelId="{23824167-09E6-4CC6-9D75-C5808032A9BE}" type="presParOf" srcId="{F6E6A782-48D4-40E2-B29C-6FABD2E3E018}" destId="{63925912-70F4-4201-95A4-A00D3CBA2355}" srcOrd="4" destOrd="0" presId="urn:microsoft.com/office/officeart/2009/3/layout/SubStepProcess"/>
    <dgm:cxn modelId="{E770339F-4311-4020-8B49-9C6DF0EFBF89}" type="presParOf" srcId="{F6E6A782-48D4-40E2-B29C-6FABD2E3E018}" destId="{F1DE9CA6-EB4C-4970-B86E-A59C51CCED19}" srcOrd="5" destOrd="0" presId="urn:microsoft.com/office/officeart/2009/3/layout/SubStepProcess"/>
    <dgm:cxn modelId="{F1675240-F261-488B-A2F1-BF4E6E00C4E8}" type="presParOf" srcId="{F1DE9CA6-EB4C-4970-B86E-A59C51CCED19}" destId="{69DB019F-AB20-47A2-9471-AC50F0C02669}" srcOrd="0" destOrd="0" presId="urn:microsoft.com/office/officeart/2009/3/layout/SubStepProcess"/>
    <dgm:cxn modelId="{5108B889-2C0B-447D-948C-5EFE6514FA45}" type="presParOf" srcId="{F1DE9CA6-EB4C-4970-B86E-A59C51CCED19}" destId="{E428C96C-88C4-4BD8-8D06-0DDD5E011204}" srcOrd="1" destOrd="0" presId="urn:microsoft.com/office/officeart/2009/3/layout/SubStepProcess"/>
    <dgm:cxn modelId="{A98D5E65-AA1D-40D1-852F-EEC1E18327EB}" type="presParOf" srcId="{F1DE9CA6-EB4C-4970-B86E-A59C51CCED19}" destId="{60190464-7398-432B-8572-E9005C55CBDA}" srcOrd="2" destOrd="0" presId="urn:microsoft.com/office/officeart/2009/3/layout/SubStepProcess"/>
    <dgm:cxn modelId="{8169705B-1900-4D31-A7B7-0373CF9C6D90}" type="presParOf" srcId="{F1DE9CA6-EB4C-4970-B86E-A59C51CCED19}" destId="{A992C919-37BE-49F3-98A4-BEEBAEC78D46}" srcOrd="3" destOrd="0" presId="urn:microsoft.com/office/officeart/2009/3/layout/SubStepProcess"/>
    <dgm:cxn modelId="{DD6885DF-C270-4964-B436-A9B8ECD5B3A5}" type="presParOf" srcId="{F6E6A782-48D4-40E2-B29C-6FABD2E3E018}" destId="{E44E2758-A7A3-480B-8523-E0BF64F4A597}" srcOrd="6" destOrd="0" presId="urn:microsoft.com/office/officeart/2009/3/layout/SubStepProcess"/>
    <dgm:cxn modelId="{630874AD-969B-4E55-88D6-3B3E2EFC6B84}" type="presParOf" srcId="{F6E6A782-48D4-40E2-B29C-6FABD2E3E018}" destId="{7B15771C-2855-4077-95D6-7409BADF6FE2}" srcOrd="7" destOrd="0" presId="urn:microsoft.com/office/officeart/2009/3/layout/SubStepProcess"/>
    <dgm:cxn modelId="{05BFCCBF-CDD3-4D30-B27B-576EEE32FE96}" type="presParOf" srcId="{7B15771C-2855-4077-95D6-7409BADF6FE2}" destId="{022FE599-A914-4A2C-97C2-BCB64DC87482}" srcOrd="0" destOrd="0" presId="urn:microsoft.com/office/officeart/2009/3/layout/SubStepProcess"/>
    <dgm:cxn modelId="{01DDDC99-545A-43DE-A51F-F19F39B1AE4F}" type="presParOf" srcId="{7B15771C-2855-4077-95D6-7409BADF6FE2}" destId="{CF0E7444-79BA-4B43-81C1-A521D2C50625}" srcOrd="1" destOrd="0" presId="urn:microsoft.com/office/officeart/2009/3/layout/SubStepProcess"/>
    <dgm:cxn modelId="{8AFEF08D-8276-48C3-B0A4-E7810C04634A}" type="presParOf" srcId="{7B15771C-2855-4077-95D6-7409BADF6FE2}" destId="{A1818ED3-5191-4D70-8F6D-1540EEEFE6B0}" srcOrd="2" destOrd="0" presId="urn:microsoft.com/office/officeart/2009/3/layout/SubStepProcess"/>
    <dgm:cxn modelId="{16A30080-43EE-4342-96AA-7D7331362334}" type="presParOf" srcId="{7B15771C-2855-4077-95D6-7409BADF6FE2}" destId="{68D95FA1-4E7E-4331-BC22-6012FD695460}" srcOrd="3" destOrd="0" presId="urn:microsoft.com/office/officeart/2009/3/layout/SubSte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D97D17-ADBF-4AEA-986F-47060D60291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DC69DA1-8A65-4200-9E06-54C538C95577}">
      <dgm:prSet phldrT="[Text]" custT="1"/>
      <dgm:spPr/>
      <dgm:t>
        <a:bodyPr/>
        <a:lstStyle/>
        <a:p>
          <a:pPr algn="ctr">
            <a:buNone/>
          </a:pPr>
          <a:r>
            <a:rPr lang="en-IN" sz="2000" dirty="0"/>
            <a:t>Order Status Distribution (%)</a:t>
          </a:r>
        </a:p>
      </dgm:t>
    </dgm:pt>
    <dgm:pt modelId="{6174118A-A7AA-4CDC-8339-E7EEEB173862}" type="parTrans" cxnId="{37FB8932-C214-4FFC-9D52-05FBE8309436}">
      <dgm:prSet/>
      <dgm:spPr/>
      <dgm:t>
        <a:bodyPr/>
        <a:lstStyle/>
        <a:p>
          <a:endParaRPr lang="en-IN"/>
        </a:p>
      </dgm:t>
    </dgm:pt>
    <dgm:pt modelId="{AC5FE2AC-3FCE-4D21-8067-EA136AB6685B}" type="sibTrans" cxnId="{37FB8932-C214-4FFC-9D52-05FBE8309436}">
      <dgm:prSet/>
      <dgm:spPr/>
      <dgm:t>
        <a:bodyPr/>
        <a:lstStyle/>
        <a:p>
          <a:endParaRPr lang="en-IN"/>
        </a:p>
      </dgm:t>
    </dgm:pt>
    <dgm:pt modelId="{95BC124A-3E8F-4A3F-9163-4C1982D00F5B}">
      <dgm:prSet phldrT="[Text]"/>
      <dgm:spPr/>
      <dgm:t>
        <a:bodyPr/>
        <a:lstStyle/>
        <a:p>
          <a:pPr>
            <a:buFont typeface="Wingdings" panose="05000000000000000000" pitchFamily="2" charset="2"/>
            <a:buChar char="Ø"/>
          </a:pPr>
          <a:r>
            <a:rPr lang="en-US" dirty="0"/>
            <a:t>Order status percentages were calculated using the </a:t>
          </a:r>
          <a:r>
            <a:rPr lang="en-US" b="1" dirty="0"/>
            <a:t>COUNTIF formula</a:t>
          </a:r>
          <a:r>
            <a:rPr lang="en-US" dirty="0"/>
            <a:t> instead of a Pivot Table.</a:t>
          </a:r>
          <a:endParaRPr lang="en-IN" dirty="0"/>
        </a:p>
      </dgm:t>
    </dgm:pt>
    <dgm:pt modelId="{B623E687-E6BC-4E8B-AAB2-BCA63CC27287}" type="parTrans" cxnId="{CDFF1FEB-E16D-4B19-92D9-DBA8EA65B53A}">
      <dgm:prSet/>
      <dgm:spPr/>
      <dgm:t>
        <a:bodyPr/>
        <a:lstStyle/>
        <a:p>
          <a:endParaRPr lang="en-IN"/>
        </a:p>
      </dgm:t>
    </dgm:pt>
    <dgm:pt modelId="{89D28A40-0181-43BD-9062-FA6D81A20166}" type="sibTrans" cxnId="{CDFF1FEB-E16D-4B19-92D9-DBA8EA65B53A}">
      <dgm:prSet/>
      <dgm:spPr/>
      <dgm:t>
        <a:bodyPr/>
        <a:lstStyle/>
        <a:p>
          <a:endParaRPr lang="en-IN"/>
        </a:p>
      </dgm:t>
    </dgm:pt>
    <dgm:pt modelId="{9A863CF8-4009-48C3-9B9D-B614266F0C8F}">
      <dgm:prSet phldrT="[Text]" custT="1"/>
      <dgm:spPr/>
      <dgm:t>
        <a:bodyPr/>
        <a:lstStyle/>
        <a:p>
          <a:pPr algn="ctr">
            <a:buNone/>
          </a:pPr>
          <a:r>
            <a:rPr lang="en-IN" sz="2000" dirty="0"/>
            <a:t>Revenue Analysis</a:t>
          </a:r>
        </a:p>
      </dgm:t>
    </dgm:pt>
    <dgm:pt modelId="{FBC9AB16-4B28-4241-8F77-7E05052D48E0}" type="parTrans" cxnId="{065CD029-0A3A-4290-9D9A-002497FF4E52}">
      <dgm:prSet/>
      <dgm:spPr/>
      <dgm:t>
        <a:bodyPr/>
        <a:lstStyle/>
        <a:p>
          <a:endParaRPr lang="en-IN"/>
        </a:p>
      </dgm:t>
    </dgm:pt>
    <dgm:pt modelId="{C520D056-936E-4F9E-9D0E-BCB425BBFA42}" type="sibTrans" cxnId="{065CD029-0A3A-4290-9D9A-002497FF4E52}">
      <dgm:prSet/>
      <dgm:spPr/>
      <dgm:t>
        <a:bodyPr/>
        <a:lstStyle/>
        <a:p>
          <a:endParaRPr lang="en-IN"/>
        </a:p>
      </dgm:t>
    </dgm:pt>
    <dgm:pt modelId="{4508EE0A-AB43-4B3A-9C23-38A9C13F1700}">
      <dgm:prSet phldrT="[Text]"/>
      <dgm:spPr/>
      <dgm:t>
        <a:bodyPr/>
        <a:lstStyle/>
        <a:p>
          <a:pPr>
            <a:buFont typeface="Wingdings" panose="05000000000000000000" pitchFamily="2" charset="2"/>
            <a:buChar char="Ø"/>
          </a:pPr>
          <a:r>
            <a:rPr lang="en-US" b="1" dirty="0"/>
            <a:t>Total Revenue:</a:t>
          </a:r>
          <a:r>
            <a:rPr lang="en-US" dirty="0"/>
            <a:t> Sum of all successfully placed orders , </a:t>
          </a:r>
          <a:r>
            <a:rPr lang="en-IN" dirty="0"/>
            <a:t>Total Revenue = ₹ 1,97,10,544.00</a:t>
          </a:r>
        </a:p>
      </dgm:t>
    </dgm:pt>
    <dgm:pt modelId="{8C55A70A-35AC-4C05-B74C-BAFE921EEBE4}" type="parTrans" cxnId="{54D4CB63-9EB4-4A06-8839-5FE7ACCE3F0D}">
      <dgm:prSet/>
      <dgm:spPr/>
      <dgm:t>
        <a:bodyPr/>
        <a:lstStyle/>
        <a:p>
          <a:endParaRPr lang="en-IN"/>
        </a:p>
      </dgm:t>
    </dgm:pt>
    <dgm:pt modelId="{47B91F78-4D36-453D-952A-3D2A5AE9DD82}" type="sibTrans" cxnId="{54D4CB63-9EB4-4A06-8839-5FE7ACCE3F0D}">
      <dgm:prSet/>
      <dgm:spPr/>
      <dgm:t>
        <a:bodyPr/>
        <a:lstStyle/>
        <a:p>
          <a:endParaRPr lang="en-IN"/>
        </a:p>
      </dgm:t>
    </dgm:pt>
    <dgm:pt modelId="{244156AF-458F-4EA6-AC82-62E6A7E93AD4}">
      <dgm:prSet phldrT="[Text]" custT="1"/>
      <dgm:spPr/>
      <dgm:t>
        <a:bodyPr/>
        <a:lstStyle/>
        <a:p>
          <a:pPr algn="ctr">
            <a:buNone/>
          </a:pPr>
          <a:r>
            <a:rPr lang="en-IN" sz="2000" dirty="0"/>
            <a:t>Order Amount Statistics</a:t>
          </a:r>
        </a:p>
      </dgm:t>
    </dgm:pt>
    <dgm:pt modelId="{4FAA3F17-4A96-490B-8FC5-97D4B64B2EAC}" type="parTrans" cxnId="{FCE17CB8-3DF0-4B67-ACF7-6DD3279600D3}">
      <dgm:prSet/>
      <dgm:spPr/>
      <dgm:t>
        <a:bodyPr/>
        <a:lstStyle/>
        <a:p>
          <a:endParaRPr lang="en-IN"/>
        </a:p>
      </dgm:t>
    </dgm:pt>
    <dgm:pt modelId="{4FB508DB-0441-43DA-BBB2-9718E2851805}" type="sibTrans" cxnId="{FCE17CB8-3DF0-4B67-ACF7-6DD3279600D3}">
      <dgm:prSet/>
      <dgm:spPr/>
      <dgm:t>
        <a:bodyPr/>
        <a:lstStyle/>
        <a:p>
          <a:endParaRPr lang="en-IN"/>
        </a:p>
      </dgm:t>
    </dgm:pt>
    <dgm:pt modelId="{0D379C27-D88A-4116-8830-F661AFB86861}">
      <dgm:prSet phldrT="[Text]"/>
      <dgm:spPr/>
      <dgm:t>
        <a:bodyPr/>
        <a:lstStyle/>
        <a:p>
          <a:pPr>
            <a:buFont typeface="Wingdings" panose="05000000000000000000" pitchFamily="2" charset="2"/>
            <a:buChar char="Ø"/>
          </a:pPr>
          <a:r>
            <a:rPr lang="en-US" dirty="0"/>
            <a:t>The </a:t>
          </a:r>
          <a:r>
            <a:rPr lang="en-US" b="1" dirty="0"/>
            <a:t>Mean Order Amount (₹682.07)</a:t>
          </a:r>
          <a:r>
            <a:rPr lang="en-US" dirty="0"/>
            <a:t> represents the overall average value of all orders placed by customers.</a:t>
          </a:r>
          <a:endParaRPr lang="en-IN" dirty="0"/>
        </a:p>
      </dgm:t>
    </dgm:pt>
    <dgm:pt modelId="{F1577BCB-EC75-49C5-B590-7763531FE2D1}" type="parTrans" cxnId="{54EBD813-A7C1-428D-A046-74E1C41E3C6F}">
      <dgm:prSet/>
      <dgm:spPr/>
      <dgm:t>
        <a:bodyPr/>
        <a:lstStyle/>
        <a:p>
          <a:endParaRPr lang="en-IN"/>
        </a:p>
      </dgm:t>
    </dgm:pt>
    <dgm:pt modelId="{569509C4-45DB-4B89-A81F-922CC7EA2527}" type="sibTrans" cxnId="{54EBD813-A7C1-428D-A046-74E1C41E3C6F}">
      <dgm:prSet/>
      <dgm:spPr/>
      <dgm:t>
        <a:bodyPr/>
        <a:lstStyle/>
        <a:p>
          <a:endParaRPr lang="en-IN"/>
        </a:p>
      </dgm:t>
    </dgm:pt>
    <dgm:pt modelId="{33632C3E-6B75-49D1-A4F8-0F2E6F2346E0}">
      <dgm:prSet/>
      <dgm:spPr/>
      <dgm:t>
        <a:bodyPr/>
        <a:lstStyle/>
        <a:p>
          <a:pPr>
            <a:buFont typeface="Wingdings" panose="05000000000000000000" pitchFamily="2" charset="2"/>
            <a:buChar char="Ø"/>
          </a:pPr>
          <a:r>
            <a:rPr lang="en-US" dirty="0"/>
            <a:t>COUNTIF was used to count each order status, and </a:t>
          </a:r>
          <a:r>
            <a:rPr lang="en-US" b="1" dirty="0"/>
            <a:t>COUNTA</a:t>
          </a:r>
          <a:r>
            <a:rPr lang="en-US" dirty="0"/>
            <a:t> was used to calculate the total number of orders.</a:t>
          </a:r>
        </a:p>
      </dgm:t>
    </dgm:pt>
    <dgm:pt modelId="{E7E9A16F-E356-4EA7-8417-981DD15A49DF}" type="parTrans" cxnId="{0448D74C-15AB-4007-AC7E-F69F49242D94}">
      <dgm:prSet/>
      <dgm:spPr/>
      <dgm:t>
        <a:bodyPr/>
        <a:lstStyle/>
        <a:p>
          <a:endParaRPr lang="en-IN"/>
        </a:p>
      </dgm:t>
    </dgm:pt>
    <dgm:pt modelId="{BD8BDF8D-D059-4725-BB1C-2A6F91F48728}" type="sibTrans" cxnId="{0448D74C-15AB-4007-AC7E-F69F49242D94}">
      <dgm:prSet/>
      <dgm:spPr/>
      <dgm:t>
        <a:bodyPr/>
        <a:lstStyle/>
        <a:p>
          <a:endParaRPr lang="en-IN"/>
        </a:p>
      </dgm:t>
    </dgm:pt>
    <dgm:pt modelId="{1CDDEA53-1243-40B5-A5D9-95B805094E93}">
      <dgm:prSet/>
      <dgm:spPr/>
      <dgm:t>
        <a:bodyPr/>
        <a:lstStyle/>
        <a:p>
          <a:pPr>
            <a:buFont typeface="+mj-lt"/>
            <a:buAutoNum type="romanLcPeriod"/>
          </a:pPr>
          <a:r>
            <a:rPr lang="en-US" dirty="0"/>
            <a:t> </a:t>
          </a:r>
          <a:r>
            <a:rPr lang="en-US" b="1" dirty="0"/>
            <a:t>92% delivery rate</a:t>
          </a:r>
          <a:r>
            <a:rPr lang="en-US" dirty="0"/>
            <a:t> indicates efficient order fulfillment.</a:t>
          </a:r>
        </a:p>
      </dgm:t>
    </dgm:pt>
    <dgm:pt modelId="{10F5A8EA-0E08-4F8B-B37F-4612C5C97062}" type="parTrans" cxnId="{2E22CDAA-2400-4123-BA91-FB51774E6637}">
      <dgm:prSet/>
      <dgm:spPr/>
      <dgm:t>
        <a:bodyPr/>
        <a:lstStyle/>
        <a:p>
          <a:endParaRPr lang="en-IN"/>
        </a:p>
      </dgm:t>
    </dgm:pt>
    <dgm:pt modelId="{629F6ED8-D1D7-4ABC-A3F4-4213F84C6BB7}" type="sibTrans" cxnId="{2E22CDAA-2400-4123-BA91-FB51774E6637}">
      <dgm:prSet/>
      <dgm:spPr/>
      <dgm:t>
        <a:bodyPr/>
        <a:lstStyle/>
        <a:p>
          <a:endParaRPr lang="en-IN"/>
        </a:p>
      </dgm:t>
    </dgm:pt>
    <dgm:pt modelId="{354A910E-3A78-4D28-9545-6DDC8852D9C0}">
      <dgm:prSet/>
      <dgm:spPr/>
      <dgm:t>
        <a:bodyPr/>
        <a:lstStyle/>
        <a:p>
          <a:pPr>
            <a:buFont typeface="+mj-lt"/>
            <a:buAutoNum type="romanLcPeriod"/>
          </a:pPr>
          <a:r>
            <a:rPr lang="en-US" b="1" dirty="0"/>
            <a:t>8% non-delivered orders</a:t>
          </a:r>
          <a:r>
            <a:rPr lang="en-US" dirty="0"/>
            <a:t> highlight areas for operational improvement.</a:t>
          </a:r>
        </a:p>
      </dgm:t>
    </dgm:pt>
    <dgm:pt modelId="{F17503C4-7933-494D-BCD0-416204E7458F}" type="parTrans" cxnId="{76398C7E-C36E-4CC9-89CA-A3B2F4A9A581}">
      <dgm:prSet/>
      <dgm:spPr/>
      <dgm:t>
        <a:bodyPr/>
        <a:lstStyle/>
        <a:p>
          <a:endParaRPr lang="en-IN"/>
        </a:p>
      </dgm:t>
    </dgm:pt>
    <dgm:pt modelId="{D1A2D63E-D363-4C71-9350-393B7EAD8B6E}" type="sibTrans" cxnId="{76398C7E-C36E-4CC9-89CA-A3B2F4A9A581}">
      <dgm:prSet/>
      <dgm:spPr/>
      <dgm:t>
        <a:bodyPr/>
        <a:lstStyle/>
        <a:p>
          <a:endParaRPr lang="en-IN"/>
        </a:p>
      </dgm:t>
    </dgm:pt>
    <dgm:pt modelId="{9E7EAB4C-328A-47D0-9CC1-10252C01BDA8}">
      <dgm:prSet/>
      <dgm:spPr/>
      <dgm:t>
        <a:bodyPr/>
        <a:lstStyle/>
        <a:p>
          <a:pPr>
            <a:buNone/>
          </a:pPr>
          <a:r>
            <a:rPr lang="en-US" dirty="0"/>
            <a:t>Helps understand revenue leakage and operational impact</a:t>
          </a:r>
        </a:p>
      </dgm:t>
    </dgm:pt>
    <dgm:pt modelId="{0967C02E-84E0-4C48-8AD2-71C955D8C34E}" type="parTrans" cxnId="{A03BDE23-9D0A-4141-A9BF-61505698B7AF}">
      <dgm:prSet/>
      <dgm:spPr/>
      <dgm:t>
        <a:bodyPr/>
        <a:lstStyle/>
        <a:p>
          <a:endParaRPr lang="en-IN"/>
        </a:p>
      </dgm:t>
    </dgm:pt>
    <dgm:pt modelId="{69CE50C8-3501-444F-B191-97EB11AB7260}" type="sibTrans" cxnId="{A03BDE23-9D0A-4141-A9BF-61505698B7AF}">
      <dgm:prSet/>
      <dgm:spPr/>
      <dgm:t>
        <a:bodyPr/>
        <a:lstStyle/>
        <a:p>
          <a:endParaRPr lang="en-IN"/>
        </a:p>
      </dgm:t>
    </dgm:pt>
    <dgm:pt modelId="{42F1FEFD-4F92-4C3E-B4F2-F669DF2A0084}">
      <dgm:prSet/>
      <dgm:spPr/>
      <dgm:t>
        <a:bodyPr/>
        <a:lstStyle/>
        <a:p>
          <a:pPr>
            <a:buNone/>
          </a:pPr>
          <a:r>
            <a:rPr lang="en-US" dirty="0"/>
            <a:t>The difference between mean and mode suggests the presence of </a:t>
          </a:r>
          <a:r>
            <a:rPr lang="en-US" b="1" dirty="0"/>
            <a:t>higher-value orders</a:t>
          </a:r>
          <a:r>
            <a:rPr lang="en-US" dirty="0"/>
            <a:t> that increase the overall average.</a:t>
          </a:r>
        </a:p>
      </dgm:t>
    </dgm:pt>
    <dgm:pt modelId="{98E620CE-A9E4-4FF7-B384-54FA745BD5BE}" type="parTrans" cxnId="{AC49AA53-4CD8-4930-BD90-4D33170114AC}">
      <dgm:prSet/>
      <dgm:spPr/>
      <dgm:t>
        <a:bodyPr/>
        <a:lstStyle/>
        <a:p>
          <a:endParaRPr lang="en-IN"/>
        </a:p>
      </dgm:t>
    </dgm:pt>
    <dgm:pt modelId="{3BE11957-D2B9-4459-80E1-2AB03BF330BC}" type="sibTrans" cxnId="{AC49AA53-4CD8-4930-BD90-4D33170114AC}">
      <dgm:prSet/>
      <dgm:spPr/>
      <dgm:t>
        <a:bodyPr/>
        <a:lstStyle/>
        <a:p>
          <a:endParaRPr lang="en-IN"/>
        </a:p>
      </dgm:t>
    </dgm:pt>
    <dgm:pt modelId="{E1689120-C707-4B34-ADC1-9971BBEB2E60}">
      <dgm:prSet phldrT="[Text]"/>
      <dgm:spPr/>
      <dgm:t>
        <a:bodyPr/>
        <a:lstStyle/>
        <a:p>
          <a:pPr>
            <a:buFont typeface="Wingdings" panose="05000000000000000000" pitchFamily="2" charset="2"/>
            <a:buChar char="Ø"/>
          </a:pPr>
          <a:r>
            <a:rPr lang="en-US" b="1" dirty="0"/>
            <a:t>Lost Revenue:</a:t>
          </a:r>
          <a:r>
            <a:rPr lang="en-US" dirty="0"/>
            <a:t> Revenue from non-delivered orders (Cancelled, Returned, Refunded), </a:t>
          </a:r>
          <a:r>
            <a:rPr lang="en-IN" dirty="0"/>
            <a:t>Lost Revenue = ₹ 14,65,833.00</a:t>
          </a:r>
        </a:p>
      </dgm:t>
    </dgm:pt>
    <dgm:pt modelId="{1A5C6F59-B416-4CB1-A473-216C2C3ECA00}" type="parTrans" cxnId="{124042A9-878A-4E30-A0CB-4530E5451E29}">
      <dgm:prSet/>
      <dgm:spPr/>
      <dgm:t>
        <a:bodyPr/>
        <a:lstStyle/>
        <a:p>
          <a:endParaRPr lang="en-IN"/>
        </a:p>
      </dgm:t>
    </dgm:pt>
    <dgm:pt modelId="{BA6FBE9D-BED0-4342-B60C-F071ECC66996}" type="sibTrans" cxnId="{124042A9-878A-4E30-A0CB-4530E5451E29}">
      <dgm:prSet/>
      <dgm:spPr/>
      <dgm:t>
        <a:bodyPr/>
        <a:lstStyle/>
        <a:p>
          <a:endParaRPr lang="en-IN"/>
        </a:p>
      </dgm:t>
    </dgm:pt>
    <dgm:pt modelId="{1EB36BBA-CBFA-4755-9A31-309D744AF4C2}">
      <dgm:prSet phldrT="[Text]"/>
      <dgm:spPr/>
      <dgm:t>
        <a:bodyPr/>
        <a:lstStyle/>
        <a:p>
          <a:pPr>
            <a:buFont typeface="Wingdings" panose="05000000000000000000" pitchFamily="2" charset="2"/>
            <a:buChar char="Ø"/>
          </a:pPr>
          <a:r>
            <a:rPr lang="en-US" dirty="0"/>
            <a:t>The </a:t>
          </a:r>
          <a:r>
            <a:rPr lang="en-US" b="1" dirty="0"/>
            <a:t>Median Order Amount (₹646)</a:t>
          </a:r>
          <a:r>
            <a:rPr lang="en-US" dirty="0"/>
            <a:t> indicates that 50% of the orders are placed below this value and 50% above it, showing the typical spending level of most customers.</a:t>
          </a:r>
          <a:endParaRPr lang="en-IN" dirty="0"/>
        </a:p>
      </dgm:t>
    </dgm:pt>
    <dgm:pt modelId="{395798CA-0773-481F-A7D9-4937A01A33FF}" type="parTrans" cxnId="{C083ED0D-D6DB-4427-BD92-E84BB7571F16}">
      <dgm:prSet/>
      <dgm:spPr/>
      <dgm:t>
        <a:bodyPr/>
        <a:lstStyle/>
        <a:p>
          <a:endParaRPr lang="en-IN"/>
        </a:p>
      </dgm:t>
    </dgm:pt>
    <dgm:pt modelId="{F43636D9-CA66-4C69-86BF-58B29EDBD977}" type="sibTrans" cxnId="{C083ED0D-D6DB-4427-BD92-E84BB7571F16}">
      <dgm:prSet/>
      <dgm:spPr/>
      <dgm:t>
        <a:bodyPr/>
        <a:lstStyle/>
        <a:p>
          <a:endParaRPr lang="en-IN"/>
        </a:p>
      </dgm:t>
    </dgm:pt>
    <dgm:pt modelId="{B9C4B444-C3AA-4A6A-A87A-509848F35C9F}">
      <dgm:prSet phldrT="[Text]"/>
      <dgm:spPr/>
      <dgm:t>
        <a:bodyPr/>
        <a:lstStyle/>
        <a:p>
          <a:pPr>
            <a:buFont typeface="Wingdings" panose="05000000000000000000" pitchFamily="2" charset="2"/>
            <a:buChar char="Ø"/>
          </a:pPr>
          <a:r>
            <a:rPr lang="en-US" dirty="0"/>
            <a:t>The </a:t>
          </a:r>
          <a:r>
            <a:rPr lang="en-US" b="1" dirty="0"/>
            <a:t>Mode Order Amount (₹399)</a:t>
          </a:r>
          <a:r>
            <a:rPr lang="en-US" dirty="0"/>
            <a:t> is the most frequently occurring order value, highlighting the most common price point at which customers make purchases.</a:t>
          </a:r>
          <a:endParaRPr lang="en-IN" dirty="0"/>
        </a:p>
      </dgm:t>
    </dgm:pt>
    <dgm:pt modelId="{43FF7A4C-CDA6-4EBA-B0A2-F75ED9B9CD4F}" type="parTrans" cxnId="{E7C87AEA-DEF4-42A7-B03D-6EF5E1A1CE27}">
      <dgm:prSet/>
      <dgm:spPr/>
      <dgm:t>
        <a:bodyPr/>
        <a:lstStyle/>
        <a:p>
          <a:endParaRPr lang="en-IN"/>
        </a:p>
      </dgm:t>
    </dgm:pt>
    <dgm:pt modelId="{12B3D6E5-AFB8-46E3-9A14-2DFF8BDD7975}" type="sibTrans" cxnId="{E7C87AEA-DEF4-42A7-B03D-6EF5E1A1CE27}">
      <dgm:prSet/>
      <dgm:spPr/>
      <dgm:t>
        <a:bodyPr/>
        <a:lstStyle/>
        <a:p>
          <a:endParaRPr lang="en-IN"/>
        </a:p>
      </dgm:t>
    </dgm:pt>
    <dgm:pt modelId="{D8DD3900-3AF6-4FCE-A16A-0052FEC28900}">
      <dgm:prSet phldrT="[Text]" custT="1"/>
      <dgm:spPr/>
      <dgm:t>
        <a:bodyPr/>
        <a:lstStyle/>
        <a:p>
          <a:pPr algn="ctr">
            <a:buNone/>
          </a:pPr>
          <a:r>
            <a:rPr lang="en-US" sz="2000" dirty="0"/>
            <a:t>Average Order Value (AOV) by Channel</a:t>
          </a:r>
          <a:endParaRPr lang="en-IN" sz="2000" dirty="0"/>
        </a:p>
      </dgm:t>
    </dgm:pt>
    <dgm:pt modelId="{B9E41DE6-4408-44D3-8698-89AC0E87F224}" type="parTrans" cxnId="{6EBBBF6A-95CB-45AF-BA9C-F4DC453E0650}">
      <dgm:prSet/>
      <dgm:spPr/>
      <dgm:t>
        <a:bodyPr/>
        <a:lstStyle/>
        <a:p>
          <a:endParaRPr lang="en-IN"/>
        </a:p>
      </dgm:t>
    </dgm:pt>
    <dgm:pt modelId="{914324FE-CAF2-4EA7-8F0D-7643A1879512}" type="sibTrans" cxnId="{6EBBBF6A-95CB-45AF-BA9C-F4DC453E0650}">
      <dgm:prSet/>
      <dgm:spPr/>
      <dgm:t>
        <a:bodyPr/>
        <a:lstStyle/>
        <a:p>
          <a:endParaRPr lang="en-IN"/>
        </a:p>
      </dgm:t>
    </dgm:pt>
    <dgm:pt modelId="{9FBA3BE4-F647-4B81-A105-CA4B36017D1E}">
      <dgm:prSet/>
      <dgm:spPr/>
      <dgm:t>
        <a:bodyPr/>
        <a:lstStyle/>
        <a:p>
          <a:pPr>
            <a:buFont typeface="Wingdings" panose="05000000000000000000" pitchFamily="2" charset="2"/>
            <a:buChar char="Ø"/>
          </a:pPr>
          <a:r>
            <a:rPr lang="en-US" dirty="0"/>
            <a:t>Compared average revenue per order across channels</a:t>
          </a:r>
          <a:endParaRPr lang="en-IN" dirty="0"/>
        </a:p>
      </dgm:t>
    </dgm:pt>
    <dgm:pt modelId="{FEDB62D2-3342-4734-80BB-9C25814DCBD6}" type="parTrans" cxnId="{B3CAD4C4-D32E-403F-87BB-14318FB4CB6E}">
      <dgm:prSet/>
      <dgm:spPr/>
      <dgm:t>
        <a:bodyPr/>
        <a:lstStyle/>
        <a:p>
          <a:endParaRPr lang="en-IN"/>
        </a:p>
      </dgm:t>
    </dgm:pt>
    <dgm:pt modelId="{159F65DF-AF92-4F86-A75D-AC1C2B7FB0EE}" type="sibTrans" cxnId="{B3CAD4C4-D32E-403F-87BB-14318FB4CB6E}">
      <dgm:prSet/>
      <dgm:spPr/>
      <dgm:t>
        <a:bodyPr/>
        <a:lstStyle/>
        <a:p>
          <a:endParaRPr lang="en-IN"/>
        </a:p>
      </dgm:t>
    </dgm:pt>
    <dgm:pt modelId="{5C582C40-04A1-4BAC-B52F-208D509BF15C}">
      <dgm:prSet/>
      <dgm:spPr/>
      <dgm:t>
        <a:bodyPr/>
        <a:lstStyle/>
        <a:p>
          <a:pPr>
            <a:buFont typeface="Wingdings" panose="05000000000000000000" pitchFamily="2" charset="2"/>
            <a:buChar char="Ø"/>
          </a:pPr>
          <a:r>
            <a:rPr lang="en-US" dirty="0"/>
            <a:t>Identifies the most profitable sales channel</a:t>
          </a:r>
          <a:endParaRPr lang="en-IN" dirty="0"/>
        </a:p>
      </dgm:t>
    </dgm:pt>
    <dgm:pt modelId="{2BB867D3-DD4E-4F16-88D6-E8A9E65B73F9}" type="parTrans" cxnId="{D2716A74-05CE-4477-A925-81EDB688535E}">
      <dgm:prSet/>
      <dgm:spPr/>
      <dgm:t>
        <a:bodyPr/>
        <a:lstStyle/>
        <a:p>
          <a:endParaRPr lang="en-IN"/>
        </a:p>
      </dgm:t>
    </dgm:pt>
    <dgm:pt modelId="{756D341F-8D5E-4B1F-86FB-D3379EEB0F2E}" type="sibTrans" cxnId="{D2716A74-05CE-4477-A925-81EDB688535E}">
      <dgm:prSet/>
      <dgm:spPr/>
      <dgm:t>
        <a:bodyPr/>
        <a:lstStyle/>
        <a:p>
          <a:endParaRPr lang="en-IN"/>
        </a:p>
      </dgm:t>
    </dgm:pt>
    <dgm:pt modelId="{988FDEB7-82E8-4909-AA5B-FE337FA8D9C6}">
      <dgm:prSet/>
      <dgm:spPr/>
      <dgm:t>
        <a:bodyPr/>
        <a:lstStyle/>
        <a:p>
          <a:pPr>
            <a:buFont typeface="Wingdings" panose="05000000000000000000" pitchFamily="2" charset="2"/>
            <a:buChar char="Ø"/>
          </a:pPr>
          <a:r>
            <a:rPr lang="en-US" dirty="0"/>
            <a:t>Comparing AOV across channels helps identify </a:t>
          </a:r>
          <a:r>
            <a:rPr lang="en-US" b="1" dirty="0"/>
            <a:t>which platforms generate higher-value orders</a:t>
          </a:r>
          <a:r>
            <a:rPr lang="en-US" dirty="0"/>
            <a:t> and which focus on volume-based sales.</a:t>
          </a:r>
          <a:endParaRPr lang="en-IN" dirty="0"/>
        </a:p>
      </dgm:t>
    </dgm:pt>
    <dgm:pt modelId="{FB2E3F3D-5DDF-4788-84B5-F10DDFF1B3DE}" type="parTrans" cxnId="{7825E82D-A966-4718-850E-5E87F0F66121}">
      <dgm:prSet/>
      <dgm:spPr/>
      <dgm:t>
        <a:bodyPr/>
        <a:lstStyle/>
        <a:p>
          <a:endParaRPr lang="en-IN"/>
        </a:p>
      </dgm:t>
    </dgm:pt>
    <dgm:pt modelId="{61B23A89-1E4E-4E80-9B0B-CF11B13F85A9}" type="sibTrans" cxnId="{7825E82D-A966-4718-850E-5E87F0F66121}">
      <dgm:prSet/>
      <dgm:spPr/>
      <dgm:t>
        <a:bodyPr/>
        <a:lstStyle/>
        <a:p>
          <a:endParaRPr lang="en-IN"/>
        </a:p>
      </dgm:t>
    </dgm:pt>
    <dgm:pt modelId="{02202877-38EF-4AA0-BBAE-66C8B8EAA584}" type="pres">
      <dgm:prSet presAssocID="{F3D97D17-ADBF-4AEA-986F-47060D60291F}" presName="linear" presStyleCnt="0">
        <dgm:presLayoutVars>
          <dgm:dir/>
          <dgm:animLvl val="lvl"/>
          <dgm:resizeHandles val="exact"/>
        </dgm:presLayoutVars>
      </dgm:prSet>
      <dgm:spPr/>
    </dgm:pt>
    <dgm:pt modelId="{83826B11-3F45-473C-8A49-A56B799A2FD2}" type="pres">
      <dgm:prSet presAssocID="{BDC69DA1-8A65-4200-9E06-54C538C95577}" presName="parentLin" presStyleCnt="0"/>
      <dgm:spPr/>
    </dgm:pt>
    <dgm:pt modelId="{526B8160-8E25-415C-95D1-0430F4BF3625}" type="pres">
      <dgm:prSet presAssocID="{BDC69DA1-8A65-4200-9E06-54C538C95577}" presName="parentLeftMargin" presStyleLbl="node1" presStyleIdx="0" presStyleCnt="4"/>
      <dgm:spPr/>
    </dgm:pt>
    <dgm:pt modelId="{D484ED5F-EEA2-45A3-8DF1-FA25958BB206}" type="pres">
      <dgm:prSet presAssocID="{BDC69DA1-8A65-4200-9E06-54C538C95577}" presName="parentText" presStyleLbl="node1" presStyleIdx="0" presStyleCnt="4">
        <dgm:presLayoutVars>
          <dgm:chMax val="0"/>
          <dgm:bulletEnabled val="1"/>
        </dgm:presLayoutVars>
      </dgm:prSet>
      <dgm:spPr/>
    </dgm:pt>
    <dgm:pt modelId="{8F913B45-FAB3-4930-963E-A13CC1135BC2}" type="pres">
      <dgm:prSet presAssocID="{BDC69DA1-8A65-4200-9E06-54C538C95577}" presName="negativeSpace" presStyleCnt="0"/>
      <dgm:spPr/>
    </dgm:pt>
    <dgm:pt modelId="{C3764BA5-B76D-4760-B863-048E323834CD}" type="pres">
      <dgm:prSet presAssocID="{BDC69DA1-8A65-4200-9E06-54C538C95577}" presName="childText" presStyleLbl="conFgAcc1" presStyleIdx="0" presStyleCnt="4">
        <dgm:presLayoutVars>
          <dgm:bulletEnabled val="1"/>
        </dgm:presLayoutVars>
      </dgm:prSet>
      <dgm:spPr/>
    </dgm:pt>
    <dgm:pt modelId="{D9C73EF9-6186-423C-BAB5-0BC8D08C69DC}" type="pres">
      <dgm:prSet presAssocID="{AC5FE2AC-3FCE-4D21-8067-EA136AB6685B}" presName="spaceBetweenRectangles" presStyleCnt="0"/>
      <dgm:spPr/>
    </dgm:pt>
    <dgm:pt modelId="{21765A45-5640-4A70-8EE8-3B7528CDCF1C}" type="pres">
      <dgm:prSet presAssocID="{9A863CF8-4009-48C3-9B9D-B614266F0C8F}" presName="parentLin" presStyleCnt="0"/>
      <dgm:spPr/>
    </dgm:pt>
    <dgm:pt modelId="{565A71D9-B02F-46DE-B8CB-B920AE5F9398}" type="pres">
      <dgm:prSet presAssocID="{9A863CF8-4009-48C3-9B9D-B614266F0C8F}" presName="parentLeftMargin" presStyleLbl="node1" presStyleIdx="0" presStyleCnt="4"/>
      <dgm:spPr/>
    </dgm:pt>
    <dgm:pt modelId="{386E15B4-7591-458F-9153-6DE21D1EAB44}" type="pres">
      <dgm:prSet presAssocID="{9A863CF8-4009-48C3-9B9D-B614266F0C8F}" presName="parentText" presStyleLbl="node1" presStyleIdx="1" presStyleCnt="4">
        <dgm:presLayoutVars>
          <dgm:chMax val="0"/>
          <dgm:bulletEnabled val="1"/>
        </dgm:presLayoutVars>
      </dgm:prSet>
      <dgm:spPr/>
    </dgm:pt>
    <dgm:pt modelId="{57BAAB00-DA44-4F33-9339-AC8E88CEC34F}" type="pres">
      <dgm:prSet presAssocID="{9A863CF8-4009-48C3-9B9D-B614266F0C8F}" presName="negativeSpace" presStyleCnt="0"/>
      <dgm:spPr/>
    </dgm:pt>
    <dgm:pt modelId="{FCFDB61E-315F-4642-BF27-BC28F8EB81F8}" type="pres">
      <dgm:prSet presAssocID="{9A863CF8-4009-48C3-9B9D-B614266F0C8F}" presName="childText" presStyleLbl="conFgAcc1" presStyleIdx="1" presStyleCnt="4">
        <dgm:presLayoutVars>
          <dgm:bulletEnabled val="1"/>
        </dgm:presLayoutVars>
      </dgm:prSet>
      <dgm:spPr/>
    </dgm:pt>
    <dgm:pt modelId="{8BA5690A-C2BB-4378-B2AC-030D6FD4A9F1}" type="pres">
      <dgm:prSet presAssocID="{C520D056-936E-4F9E-9D0E-BCB425BBFA42}" presName="spaceBetweenRectangles" presStyleCnt="0"/>
      <dgm:spPr/>
    </dgm:pt>
    <dgm:pt modelId="{77B03CD0-32B2-408D-8C68-31F28A7D321A}" type="pres">
      <dgm:prSet presAssocID="{244156AF-458F-4EA6-AC82-62E6A7E93AD4}" presName="parentLin" presStyleCnt="0"/>
      <dgm:spPr/>
    </dgm:pt>
    <dgm:pt modelId="{BDA24554-2A0B-4258-8223-7731F996935F}" type="pres">
      <dgm:prSet presAssocID="{244156AF-458F-4EA6-AC82-62E6A7E93AD4}" presName="parentLeftMargin" presStyleLbl="node1" presStyleIdx="1" presStyleCnt="4"/>
      <dgm:spPr/>
    </dgm:pt>
    <dgm:pt modelId="{CD4B8644-496C-482F-A048-4E6873D73203}" type="pres">
      <dgm:prSet presAssocID="{244156AF-458F-4EA6-AC82-62E6A7E93AD4}" presName="parentText" presStyleLbl="node1" presStyleIdx="2" presStyleCnt="4">
        <dgm:presLayoutVars>
          <dgm:chMax val="0"/>
          <dgm:bulletEnabled val="1"/>
        </dgm:presLayoutVars>
      </dgm:prSet>
      <dgm:spPr/>
    </dgm:pt>
    <dgm:pt modelId="{CE358081-0789-449D-BA47-4D2A1BFDAFA0}" type="pres">
      <dgm:prSet presAssocID="{244156AF-458F-4EA6-AC82-62E6A7E93AD4}" presName="negativeSpace" presStyleCnt="0"/>
      <dgm:spPr/>
    </dgm:pt>
    <dgm:pt modelId="{68C1975B-77D2-4C1A-8A0C-46C007AA3CFE}" type="pres">
      <dgm:prSet presAssocID="{244156AF-458F-4EA6-AC82-62E6A7E93AD4}" presName="childText" presStyleLbl="conFgAcc1" presStyleIdx="2" presStyleCnt="4">
        <dgm:presLayoutVars>
          <dgm:bulletEnabled val="1"/>
        </dgm:presLayoutVars>
      </dgm:prSet>
      <dgm:spPr/>
    </dgm:pt>
    <dgm:pt modelId="{B39A023D-CB11-4AD5-855B-912E098BA09E}" type="pres">
      <dgm:prSet presAssocID="{4FB508DB-0441-43DA-BBB2-9718E2851805}" presName="spaceBetweenRectangles" presStyleCnt="0"/>
      <dgm:spPr/>
    </dgm:pt>
    <dgm:pt modelId="{5344B27A-911C-4254-8D7F-C25AB4176BEF}" type="pres">
      <dgm:prSet presAssocID="{D8DD3900-3AF6-4FCE-A16A-0052FEC28900}" presName="parentLin" presStyleCnt="0"/>
      <dgm:spPr/>
    </dgm:pt>
    <dgm:pt modelId="{6D70D235-4C7E-46DA-9486-40E80477449B}" type="pres">
      <dgm:prSet presAssocID="{D8DD3900-3AF6-4FCE-A16A-0052FEC28900}" presName="parentLeftMargin" presStyleLbl="node1" presStyleIdx="2" presStyleCnt="4"/>
      <dgm:spPr/>
    </dgm:pt>
    <dgm:pt modelId="{B2B93797-AD5F-41EF-A99C-DF760D868DE1}" type="pres">
      <dgm:prSet presAssocID="{D8DD3900-3AF6-4FCE-A16A-0052FEC28900}" presName="parentText" presStyleLbl="node1" presStyleIdx="3" presStyleCnt="4">
        <dgm:presLayoutVars>
          <dgm:chMax val="0"/>
          <dgm:bulletEnabled val="1"/>
        </dgm:presLayoutVars>
      </dgm:prSet>
      <dgm:spPr/>
    </dgm:pt>
    <dgm:pt modelId="{195175AB-B564-45B6-AC1D-3F0522C017B6}" type="pres">
      <dgm:prSet presAssocID="{D8DD3900-3AF6-4FCE-A16A-0052FEC28900}" presName="negativeSpace" presStyleCnt="0"/>
      <dgm:spPr/>
    </dgm:pt>
    <dgm:pt modelId="{2AF5CA72-BCAD-4D30-BE2F-6EC8C60E706B}" type="pres">
      <dgm:prSet presAssocID="{D8DD3900-3AF6-4FCE-A16A-0052FEC28900}" presName="childText" presStyleLbl="conFgAcc1" presStyleIdx="3" presStyleCnt="4">
        <dgm:presLayoutVars>
          <dgm:bulletEnabled val="1"/>
        </dgm:presLayoutVars>
      </dgm:prSet>
      <dgm:spPr/>
    </dgm:pt>
  </dgm:ptLst>
  <dgm:cxnLst>
    <dgm:cxn modelId="{C083ED0D-D6DB-4427-BD92-E84BB7571F16}" srcId="{244156AF-458F-4EA6-AC82-62E6A7E93AD4}" destId="{1EB36BBA-CBFA-4755-9A31-309D744AF4C2}" srcOrd="1" destOrd="0" parTransId="{395798CA-0773-481F-A7D9-4937A01A33FF}" sibTransId="{F43636D9-CA66-4C69-86BF-58B29EDBD977}"/>
    <dgm:cxn modelId="{54EBD813-A7C1-428D-A046-74E1C41E3C6F}" srcId="{244156AF-458F-4EA6-AC82-62E6A7E93AD4}" destId="{0D379C27-D88A-4116-8830-F661AFB86861}" srcOrd="0" destOrd="0" parTransId="{F1577BCB-EC75-49C5-B590-7763531FE2D1}" sibTransId="{569509C4-45DB-4B89-A81F-922CC7EA2527}"/>
    <dgm:cxn modelId="{A03BDE23-9D0A-4141-A9BF-61505698B7AF}" srcId="{9A863CF8-4009-48C3-9B9D-B614266F0C8F}" destId="{9E7EAB4C-328A-47D0-9CC1-10252C01BDA8}" srcOrd="2" destOrd="0" parTransId="{0967C02E-84E0-4C48-8AD2-71C955D8C34E}" sibTransId="{69CE50C8-3501-444F-B191-97EB11AB7260}"/>
    <dgm:cxn modelId="{56543029-3A66-4E0D-8CCD-5F7CFAEA873B}" type="presOf" srcId="{1CDDEA53-1243-40B5-A5D9-95B805094E93}" destId="{C3764BA5-B76D-4760-B863-048E323834CD}" srcOrd="0" destOrd="2" presId="urn:microsoft.com/office/officeart/2005/8/layout/list1"/>
    <dgm:cxn modelId="{065CD029-0A3A-4290-9D9A-002497FF4E52}" srcId="{F3D97D17-ADBF-4AEA-986F-47060D60291F}" destId="{9A863CF8-4009-48C3-9B9D-B614266F0C8F}" srcOrd="1" destOrd="0" parTransId="{FBC9AB16-4B28-4241-8F77-7E05052D48E0}" sibTransId="{C520D056-936E-4F9E-9D0E-BCB425BBFA42}"/>
    <dgm:cxn modelId="{7825E82D-A966-4718-850E-5E87F0F66121}" srcId="{D8DD3900-3AF6-4FCE-A16A-0052FEC28900}" destId="{988FDEB7-82E8-4909-AA5B-FE337FA8D9C6}" srcOrd="2" destOrd="0" parTransId="{FB2E3F3D-5DDF-4788-84B5-F10DDFF1B3DE}" sibTransId="{61B23A89-1E4E-4E80-9B0B-CF11B13F85A9}"/>
    <dgm:cxn modelId="{37FB8932-C214-4FFC-9D52-05FBE8309436}" srcId="{F3D97D17-ADBF-4AEA-986F-47060D60291F}" destId="{BDC69DA1-8A65-4200-9E06-54C538C95577}" srcOrd="0" destOrd="0" parTransId="{6174118A-A7AA-4CDC-8339-E7EEEB173862}" sibTransId="{AC5FE2AC-3FCE-4D21-8067-EA136AB6685B}"/>
    <dgm:cxn modelId="{97BB2938-86CC-4CFB-BA05-1F4EDBA8158D}" type="presOf" srcId="{9E7EAB4C-328A-47D0-9CC1-10252C01BDA8}" destId="{FCFDB61E-315F-4642-BF27-BC28F8EB81F8}" srcOrd="0" destOrd="2" presId="urn:microsoft.com/office/officeart/2005/8/layout/list1"/>
    <dgm:cxn modelId="{6BF7AA3A-121A-405A-9981-431E2C494E7A}" type="presOf" srcId="{9FBA3BE4-F647-4B81-A105-CA4B36017D1E}" destId="{2AF5CA72-BCAD-4D30-BE2F-6EC8C60E706B}" srcOrd="0" destOrd="0" presId="urn:microsoft.com/office/officeart/2005/8/layout/list1"/>
    <dgm:cxn modelId="{E311E63B-8E6D-4430-A840-76198599D660}" type="presOf" srcId="{E1689120-C707-4B34-ADC1-9971BBEB2E60}" destId="{FCFDB61E-315F-4642-BF27-BC28F8EB81F8}" srcOrd="0" destOrd="1" presId="urn:microsoft.com/office/officeart/2005/8/layout/list1"/>
    <dgm:cxn modelId="{EBD1F23E-98B1-4942-8278-13D087513EE7}" type="presOf" srcId="{5C582C40-04A1-4BAC-B52F-208D509BF15C}" destId="{2AF5CA72-BCAD-4D30-BE2F-6EC8C60E706B}" srcOrd="0" destOrd="1" presId="urn:microsoft.com/office/officeart/2005/8/layout/list1"/>
    <dgm:cxn modelId="{51A51B5B-E594-4BB6-9756-7ECA894C3BB3}" type="presOf" srcId="{B9C4B444-C3AA-4A6A-A87A-509848F35C9F}" destId="{68C1975B-77D2-4C1A-8A0C-46C007AA3CFE}" srcOrd="0" destOrd="2" presId="urn:microsoft.com/office/officeart/2005/8/layout/list1"/>
    <dgm:cxn modelId="{6D3C255F-73C2-4EEB-86DA-826FF7D75129}" type="presOf" srcId="{354A910E-3A78-4D28-9545-6DDC8852D9C0}" destId="{C3764BA5-B76D-4760-B863-048E323834CD}" srcOrd="0" destOrd="3" presId="urn:microsoft.com/office/officeart/2005/8/layout/list1"/>
    <dgm:cxn modelId="{A89F9B41-ABF3-4979-8C71-10D290951279}" type="presOf" srcId="{D8DD3900-3AF6-4FCE-A16A-0052FEC28900}" destId="{6D70D235-4C7E-46DA-9486-40E80477449B}" srcOrd="0" destOrd="0" presId="urn:microsoft.com/office/officeart/2005/8/layout/list1"/>
    <dgm:cxn modelId="{54D4CB63-9EB4-4A06-8839-5FE7ACCE3F0D}" srcId="{9A863CF8-4009-48C3-9B9D-B614266F0C8F}" destId="{4508EE0A-AB43-4B3A-9C23-38A9C13F1700}" srcOrd="0" destOrd="0" parTransId="{8C55A70A-35AC-4C05-B74C-BAFE921EEBE4}" sibTransId="{47B91F78-4D36-453D-952A-3D2A5AE9DD82}"/>
    <dgm:cxn modelId="{6EBBBF6A-95CB-45AF-BA9C-F4DC453E0650}" srcId="{F3D97D17-ADBF-4AEA-986F-47060D60291F}" destId="{D8DD3900-3AF6-4FCE-A16A-0052FEC28900}" srcOrd="3" destOrd="0" parTransId="{B9E41DE6-4408-44D3-8698-89AC0E87F224}" sibTransId="{914324FE-CAF2-4EA7-8F0D-7643A1879512}"/>
    <dgm:cxn modelId="{FBB0596B-D79F-482A-AAC6-376AA8147B96}" type="presOf" srcId="{4508EE0A-AB43-4B3A-9C23-38A9C13F1700}" destId="{FCFDB61E-315F-4642-BF27-BC28F8EB81F8}" srcOrd="0" destOrd="0" presId="urn:microsoft.com/office/officeart/2005/8/layout/list1"/>
    <dgm:cxn modelId="{0448D74C-15AB-4007-AC7E-F69F49242D94}" srcId="{BDC69DA1-8A65-4200-9E06-54C538C95577}" destId="{33632C3E-6B75-49D1-A4F8-0F2E6F2346E0}" srcOrd="1" destOrd="0" parTransId="{E7E9A16F-E356-4EA7-8417-981DD15A49DF}" sibTransId="{BD8BDF8D-D059-4725-BB1C-2A6F91F48728}"/>
    <dgm:cxn modelId="{AC49AA53-4CD8-4930-BD90-4D33170114AC}" srcId="{244156AF-458F-4EA6-AC82-62E6A7E93AD4}" destId="{42F1FEFD-4F92-4C3E-B4F2-F669DF2A0084}" srcOrd="3" destOrd="0" parTransId="{98E620CE-A9E4-4FF7-B384-54FA745BD5BE}" sibTransId="{3BE11957-D2B9-4459-80E1-2AB03BF330BC}"/>
    <dgm:cxn modelId="{D2716A74-05CE-4477-A925-81EDB688535E}" srcId="{D8DD3900-3AF6-4FCE-A16A-0052FEC28900}" destId="{5C582C40-04A1-4BAC-B52F-208D509BF15C}" srcOrd="1" destOrd="0" parTransId="{2BB867D3-DD4E-4F16-88D6-E8A9E65B73F9}" sibTransId="{756D341F-8D5E-4B1F-86FB-D3379EEB0F2E}"/>
    <dgm:cxn modelId="{BA159C75-A914-42C7-AAE3-09C3090ABC73}" type="presOf" srcId="{244156AF-458F-4EA6-AC82-62E6A7E93AD4}" destId="{CD4B8644-496C-482F-A048-4E6873D73203}" srcOrd="1" destOrd="0" presId="urn:microsoft.com/office/officeart/2005/8/layout/list1"/>
    <dgm:cxn modelId="{8BE61A56-1349-41C0-AE47-D8250A408B73}" type="presOf" srcId="{9A863CF8-4009-48C3-9B9D-B614266F0C8F}" destId="{565A71D9-B02F-46DE-B8CB-B920AE5F9398}" srcOrd="0" destOrd="0" presId="urn:microsoft.com/office/officeart/2005/8/layout/list1"/>
    <dgm:cxn modelId="{CC52F876-0A1C-4127-AB68-673A555D2EFC}" type="presOf" srcId="{42F1FEFD-4F92-4C3E-B4F2-F669DF2A0084}" destId="{68C1975B-77D2-4C1A-8A0C-46C007AA3CFE}" srcOrd="0" destOrd="3" presId="urn:microsoft.com/office/officeart/2005/8/layout/list1"/>
    <dgm:cxn modelId="{130CAD77-6416-4310-83E3-D47D853DB3EA}" type="presOf" srcId="{33632C3E-6B75-49D1-A4F8-0F2E6F2346E0}" destId="{C3764BA5-B76D-4760-B863-048E323834CD}" srcOrd="0" destOrd="1" presId="urn:microsoft.com/office/officeart/2005/8/layout/list1"/>
    <dgm:cxn modelId="{3F12E357-8516-437A-82EF-11560B9B7BA3}" type="presOf" srcId="{D8DD3900-3AF6-4FCE-A16A-0052FEC28900}" destId="{B2B93797-AD5F-41EF-A99C-DF760D868DE1}" srcOrd="1" destOrd="0" presId="urn:microsoft.com/office/officeart/2005/8/layout/list1"/>
    <dgm:cxn modelId="{181A017D-6F9A-44EC-9981-3D186A4EFA86}" type="presOf" srcId="{9A863CF8-4009-48C3-9B9D-B614266F0C8F}" destId="{386E15B4-7591-458F-9153-6DE21D1EAB44}" srcOrd="1" destOrd="0" presId="urn:microsoft.com/office/officeart/2005/8/layout/list1"/>
    <dgm:cxn modelId="{76398C7E-C36E-4CC9-89CA-A3B2F4A9A581}" srcId="{BDC69DA1-8A65-4200-9E06-54C538C95577}" destId="{354A910E-3A78-4D28-9545-6DDC8852D9C0}" srcOrd="3" destOrd="0" parTransId="{F17503C4-7933-494D-BCD0-416204E7458F}" sibTransId="{D1A2D63E-D363-4C71-9350-393B7EAD8B6E}"/>
    <dgm:cxn modelId="{A5864098-B37F-4749-B13B-513FFE54C14A}" type="presOf" srcId="{1EB36BBA-CBFA-4755-9A31-309D744AF4C2}" destId="{68C1975B-77D2-4C1A-8A0C-46C007AA3CFE}" srcOrd="0" destOrd="1" presId="urn:microsoft.com/office/officeart/2005/8/layout/list1"/>
    <dgm:cxn modelId="{541796A6-F7AA-4E73-AFA3-2F3ED5FDD89F}" type="presOf" srcId="{244156AF-458F-4EA6-AC82-62E6A7E93AD4}" destId="{BDA24554-2A0B-4258-8223-7731F996935F}" srcOrd="0" destOrd="0" presId="urn:microsoft.com/office/officeart/2005/8/layout/list1"/>
    <dgm:cxn modelId="{124042A9-878A-4E30-A0CB-4530E5451E29}" srcId="{9A863CF8-4009-48C3-9B9D-B614266F0C8F}" destId="{E1689120-C707-4B34-ADC1-9971BBEB2E60}" srcOrd="1" destOrd="0" parTransId="{1A5C6F59-B416-4CB1-A473-216C2C3ECA00}" sibTransId="{BA6FBE9D-BED0-4342-B60C-F071ECC66996}"/>
    <dgm:cxn modelId="{2E22CDAA-2400-4123-BA91-FB51774E6637}" srcId="{BDC69DA1-8A65-4200-9E06-54C538C95577}" destId="{1CDDEA53-1243-40B5-A5D9-95B805094E93}" srcOrd="2" destOrd="0" parTransId="{10F5A8EA-0E08-4F8B-B37F-4612C5C97062}" sibTransId="{629F6ED8-D1D7-4ABC-A3F4-4213F84C6BB7}"/>
    <dgm:cxn modelId="{8F0EE7AA-BA38-4C4E-8B6E-1F7495305BF0}" type="presOf" srcId="{95BC124A-3E8F-4A3F-9163-4C1982D00F5B}" destId="{C3764BA5-B76D-4760-B863-048E323834CD}" srcOrd="0" destOrd="0" presId="urn:microsoft.com/office/officeart/2005/8/layout/list1"/>
    <dgm:cxn modelId="{26CB36B0-17DF-40F9-AC18-1145507642CF}" type="presOf" srcId="{988FDEB7-82E8-4909-AA5B-FE337FA8D9C6}" destId="{2AF5CA72-BCAD-4D30-BE2F-6EC8C60E706B}" srcOrd="0" destOrd="2" presId="urn:microsoft.com/office/officeart/2005/8/layout/list1"/>
    <dgm:cxn modelId="{FCE17CB8-3DF0-4B67-ACF7-6DD3279600D3}" srcId="{F3D97D17-ADBF-4AEA-986F-47060D60291F}" destId="{244156AF-458F-4EA6-AC82-62E6A7E93AD4}" srcOrd="2" destOrd="0" parTransId="{4FAA3F17-4A96-490B-8FC5-97D4B64B2EAC}" sibTransId="{4FB508DB-0441-43DA-BBB2-9718E2851805}"/>
    <dgm:cxn modelId="{74B5F5BA-72AC-4641-9509-4AF80FC95004}" type="presOf" srcId="{BDC69DA1-8A65-4200-9E06-54C538C95577}" destId="{D484ED5F-EEA2-45A3-8DF1-FA25958BB206}" srcOrd="1" destOrd="0" presId="urn:microsoft.com/office/officeart/2005/8/layout/list1"/>
    <dgm:cxn modelId="{B3CAD4C4-D32E-403F-87BB-14318FB4CB6E}" srcId="{D8DD3900-3AF6-4FCE-A16A-0052FEC28900}" destId="{9FBA3BE4-F647-4B81-A105-CA4B36017D1E}" srcOrd="0" destOrd="0" parTransId="{FEDB62D2-3342-4734-80BB-9C25814DCBD6}" sibTransId="{159F65DF-AF92-4F86-A75D-AC1C2B7FB0EE}"/>
    <dgm:cxn modelId="{3F1784E0-A4B4-427C-9B3B-6B8C6124D3C8}" type="presOf" srcId="{BDC69DA1-8A65-4200-9E06-54C538C95577}" destId="{526B8160-8E25-415C-95D1-0430F4BF3625}" srcOrd="0" destOrd="0" presId="urn:microsoft.com/office/officeart/2005/8/layout/list1"/>
    <dgm:cxn modelId="{2613B6E0-DB57-4C65-BEB7-1455753034FA}" type="presOf" srcId="{F3D97D17-ADBF-4AEA-986F-47060D60291F}" destId="{02202877-38EF-4AA0-BBAE-66C8B8EAA584}" srcOrd="0" destOrd="0" presId="urn:microsoft.com/office/officeart/2005/8/layout/list1"/>
    <dgm:cxn modelId="{7A3116E2-C2C2-4A3A-A676-959D8C966ED7}" type="presOf" srcId="{0D379C27-D88A-4116-8830-F661AFB86861}" destId="{68C1975B-77D2-4C1A-8A0C-46C007AA3CFE}" srcOrd="0" destOrd="0" presId="urn:microsoft.com/office/officeart/2005/8/layout/list1"/>
    <dgm:cxn modelId="{E7C87AEA-DEF4-42A7-B03D-6EF5E1A1CE27}" srcId="{244156AF-458F-4EA6-AC82-62E6A7E93AD4}" destId="{B9C4B444-C3AA-4A6A-A87A-509848F35C9F}" srcOrd="2" destOrd="0" parTransId="{43FF7A4C-CDA6-4EBA-B0A2-F75ED9B9CD4F}" sibTransId="{12B3D6E5-AFB8-46E3-9A14-2DFF8BDD7975}"/>
    <dgm:cxn modelId="{CDFF1FEB-E16D-4B19-92D9-DBA8EA65B53A}" srcId="{BDC69DA1-8A65-4200-9E06-54C538C95577}" destId="{95BC124A-3E8F-4A3F-9163-4C1982D00F5B}" srcOrd="0" destOrd="0" parTransId="{B623E687-E6BC-4E8B-AAB2-BCA63CC27287}" sibTransId="{89D28A40-0181-43BD-9062-FA6D81A20166}"/>
    <dgm:cxn modelId="{F2802E39-811C-456E-8C84-79B902E21A12}" type="presParOf" srcId="{02202877-38EF-4AA0-BBAE-66C8B8EAA584}" destId="{83826B11-3F45-473C-8A49-A56B799A2FD2}" srcOrd="0" destOrd="0" presId="urn:microsoft.com/office/officeart/2005/8/layout/list1"/>
    <dgm:cxn modelId="{B3917E60-9D59-4612-98C0-6E4B2E74F284}" type="presParOf" srcId="{83826B11-3F45-473C-8A49-A56B799A2FD2}" destId="{526B8160-8E25-415C-95D1-0430F4BF3625}" srcOrd="0" destOrd="0" presId="urn:microsoft.com/office/officeart/2005/8/layout/list1"/>
    <dgm:cxn modelId="{1C7E20C4-2F52-4E8F-9843-963B313FFAAB}" type="presParOf" srcId="{83826B11-3F45-473C-8A49-A56B799A2FD2}" destId="{D484ED5F-EEA2-45A3-8DF1-FA25958BB206}" srcOrd="1" destOrd="0" presId="urn:microsoft.com/office/officeart/2005/8/layout/list1"/>
    <dgm:cxn modelId="{70CD26CB-38B6-4450-8209-047D1A2DC132}" type="presParOf" srcId="{02202877-38EF-4AA0-BBAE-66C8B8EAA584}" destId="{8F913B45-FAB3-4930-963E-A13CC1135BC2}" srcOrd="1" destOrd="0" presId="urn:microsoft.com/office/officeart/2005/8/layout/list1"/>
    <dgm:cxn modelId="{A43EE224-3BA3-407E-9570-7DF65E1B8FE1}" type="presParOf" srcId="{02202877-38EF-4AA0-BBAE-66C8B8EAA584}" destId="{C3764BA5-B76D-4760-B863-048E323834CD}" srcOrd="2" destOrd="0" presId="urn:microsoft.com/office/officeart/2005/8/layout/list1"/>
    <dgm:cxn modelId="{0A545938-C5EF-4DB7-8F25-749F171454CC}" type="presParOf" srcId="{02202877-38EF-4AA0-BBAE-66C8B8EAA584}" destId="{D9C73EF9-6186-423C-BAB5-0BC8D08C69DC}" srcOrd="3" destOrd="0" presId="urn:microsoft.com/office/officeart/2005/8/layout/list1"/>
    <dgm:cxn modelId="{00FB7EB8-C44C-4E6B-A60D-871CA7F5DFFB}" type="presParOf" srcId="{02202877-38EF-4AA0-BBAE-66C8B8EAA584}" destId="{21765A45-5640-4A70-8EE8-3B7528CDCF1C}" srcOrd="4" destOrd="0" presId="urn:microsoft.com/office/officeart/2005/8/layout/list1"/>
    <dgm:cxn modelId="{A95299DA-4F35-4AB5-A5A7-F124DA5F8121}" type="presParOf" srcId="{21765A45-5640-4A70-8EE8-3B7528CDCF1C}" destId="{565A71D9-B02F-46DE-B8CB-B920AE5F9398}" srcOrd="0" destOrd="0" presId="urn:microsoft.com/office/officeart/2005/8/layout/list1"/>
    <dgm:cxn modelId="{ED2D8814-1CBF-48C4-8BE0-E9FE24D1B1A6}" type="presParOf" srcId="{21765A45-5640-4A70-8EE8-3B7528CDCF1C}" destId="{386E15B4-7591-458F-9153-6DE21D1EAB44}" srcOrd="1" destOrd="0" presId="urn:microsoft.com/office/officeart/2005/8/layout/list1"/>
    <dgm:cxn modelId="{D2CAEED4-11BA-4FC9-BC8D-DE0495BB0C9D}" type="presParOf" srcId="{02202877-38EF-4AA0-BBAE-66C8B8EAA584}" destId="{57BAAB00-DA44-4F33-9339-AC8E88CEC34F}" srcOrd="5" destOrd="0" presId="urn:microsoft.com/office/officeart/2005/8/layout/list1"/>
    <dgm:cxn modelId="{1D87011F-7AB6-47B7-9C38-06071E7E23A3}" type="presParOf" srcId="{02202877-38EF-4AA0-BBAE-66C8B8EAA584}" destId="{FCFDB61E-315F-4642-BF27-BC28F8EB81F8}" srcOrd="6" destOrd="0" presId="urn:microsoft.com/office/officeart/2005/8/layout/list1"/>
    <dgm:cxn modelId="{9A477434-5EA1-4FED-9A46-305E1802BE68}" type="presParOf" srcId="{02202877-38EF-4AA0-BBAE-66C8B8EAA584}" destId="{8BA5690A-C2BB-4378-B2AC-030D6FD4A9F1}" srcOrd="7" destOrd="0" presId="urn:microsoft.com/office/officeart/2005/8/layout/list1"/>
    <dgm:cxn modelId="{5EFF6686-3214-441B-A84C-135B2D9C7E1B}" type="presParOf" srcId="{02202877-38EF-4AA0-BBAE-66C8B8EAA584}" destId="{77B03CD0-32B2-408D-8C68-31F28A7D321A}" srcOrd="8" destOrd="0" presId="urn:microsoft.com/office/officeart/2005/8/layout/list1"/>
    <dgm:cxn modelId="{768713CC-ABCF-4FCB-956B-A90C85123085}" type="presParOf" srcId="{77B03CD0-32B2-408D-8C68-31F28A7D321A}" destId="{BDA24554-2A0B-4258-8223-7731F996935F}" srcOrd="0" destOrd="0" presId="urn:microsoft.com/office/officeart/2005/8/layout/list1"/>
    <dgm:cxn modelId="{867B92AD-90B9-436B-9422-B7CEEB74A45E}" type="presParOf" srcId="{77B03CD0-32B2-408D-8C68-31F28A7D321A}" destId="{CD4B8644-496C-482F-A048-4E6873D73203}" srcOrd="1" destOrd="0" presId="urn:microsoft.com/office/officeart/2005/8/layout/list1"/>
    <dgm:cxn modelId="{89736914-3DB1-4B9B-85DE-13612E8D7EC2}" type="presParOf" srcId="{02202877-38EF-4AA0-BBAE-66C8B8EAA584}" destId="{CE358081-0789-449D-BA47-4D2A1BFDAFA0}" srcOrd="9" destOrd="0" presId="urn:microsoft.com/office/officeart/2005/8/layout/list1"/>
    <dgm:cxn modelId="{43836DF0-912D-4F03-9593-50E9E06C05D6}" type="presParOf" srcId="{02202877-38EF-4AA0-BBAE-66C8B8EAA584}" destId="{68C1975B-77D2-4C1A-8A0C-46C007AA3CFE}" srcOrd="10" destOrd="0" presId="urn:microsoft.com/office/officeart/2005/8/layout/list1"/>
    <dgm:cxn modelId="{C5C205ED-6E66-49EE-9557-CF2F33440A6F}" type="presParOf" srcId="{02202877-38EF-4AA0-BBAE-66C8B8EAA584}" destId="{B39A023D-CB11-4AD5-855B-912E098BA09E}" srcOrd="11" destOrd="0" presId="urn:microsoft.com/office/officeart/2005/8/layout/list1"/>
    <dgm:cxn modelId="{1B37E345-B873-4D2A-B80A-D0A61E07A17B}" type="presParOf" srcId="{02202877-38EF-4AA0-BBAE-66C8B8EAA584}" destId="{5344B27A-911C-4254-8D7F-C25AB4176BEF}" srcOrd="12" destOrd="0" presId="urn:microsoft.com/office/officeart/2005/8/layout/list1"/>
    <dgm:cxn modelId="{39F1C97E-A2E8-4F5D-A725-B19FF791BEB2}" type="presParOf" srcId="{5344B27A-911C-4254-8D7F-C25AB4176BEF}" destId="{6D70D235-4C7E-46DA-9486-40E80477449B}" srcOrd="0" destOrd="0" presId="urn:microsoft.com/office/officeart/2005/8/layout/list1"/>
    <dgm:cxn modelId="{0B9E1AED-A4F5-40CE-887A-F1B7C37DD1CB}" type="presParOf" srcId="{5344B27A-911C-4254-8D7F-C25AB4176BEF}" destId="{B2B93797-AD5F-41EF-A99C-DF760D868DE1}" srcOrd="1" destOrd="0" presId="urn:microsoft.com/office/officeart/2005/8/layout/list1"/>
    <dgm:cxn modelId="{8DA9F7FA-07F1-4649-833B-C1A667FFADE4}" type="presParOf" srcId="{02202877-38EF-4AA0-BBAE-66C8B8EAA584}" destId="{195175AB-B564-45B6-AC1D-3F0522C017B6}" srcOrd="13" destOrd="0" presId="urn:microsoft.com/office/officeart/2005/8/layout/list1"/>
    <dgm:cxn modelId="{976134A6-8F65-4B2A-9BF0-6D47A63B3390}" type="presParOf" srcId="{02202877-38EF-4AA0-BBAE-66C8B8EAA584}" destId="{2AF5CA72-BCAD-4D30-BE2F-6EC8C60E706B}"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D97D17-ADBF-4AEA-986F-47060D60291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DC69DA1-8A65-4200-9E06-54C538C95577}">
      <dgm:prSet phldrT="[Text]" custT="1"/>
      <dgm:spPr/>
      <dgm:t>
        <a:bodyPr/>
        <a:lstStyle/>
        <a:p>
          <a:pPr algn="ctr">
            <a:buNone/>
          </a:pPr>
          <a:r>
            <a:rPr lang="en-IN" sz="2000" b="1" dirty="0"/>
            <a:t>Customer Demographics Insight</a:t>
          </a:r>
          <a:endParaRPr lang="en-IN" sz="2000" dirty="0"/>
        </a:p>
      </dgm:t>
    </dgm:pt>
    <dgm:pt modelId="{6174118A-A7AA-4CDC-8339-E7EEEB173862}" type="parTrans" cxnId="{37FB8932-C214-4FFC-9D52-05FBE8309436}">
      <dgm:prSet/>
      <dgm:spPr/>
      <dgm:t>
        <a:bodyPr/>
        <a:lstStyle/>
        <a:p>
          <a:endParaRPr lang="en-IN"/>
        </a:p>
      </dgm:t>
    </dgm:pt>
    <dgm:pt modelId="{AC5FE2AC-3FCE-4D21-8067-EA136AB6685B}" type="sibTrans" cxnId="{37FB8932-C214-4FFC-9D52-05FBE8309436}">
      <dgm:prSet/>
      <dgm:spPr/>
      <dgm:t>
        <a:bodyPr/>
        <a:lstStyle/>
        <a:p>
          <a:endParaRPr lang="en-IN"/>
        </a:p>
      </dgm:t>
    </dgm:pt>
    <dgm:pt modelId="{95BC124A-3E8F-4A3F-9163-4C1982D00F5B}">
      <dgm:prSet phldrT="[Text]"/>
      <dgm:spPr/>
      <dgm:t>
        <a:bodyPr/>
        <a:lstStyle/>
        <a:p>
          <a:pPr>
            <a:buFont typeface="Wingdings" panose="05000000000000000000" pitchFamily="2" charset="2"/>
            <a:buChar char="Ø"/>
          </a:pPr>
          <a:r>
            <a:rPr lang="en-US" dirty="0"/>
            <a:t>Analyzed revenue contribution by </a:t>
          </a:r>
          <a:r>
            <a:rPr lang="en-US" b="1" dirty="0"/>
            <a:t>Age Group</a:t>
          </a:r>
          <a:r>
            <a:rPr lang="en-US" dirty="0"/>
            <a:t>:</a:t>
          </a:r>
          <a:r>
            <a:rPr lang="en-US" altLang="en-US" dirty="0">
              <a:latin typeface="Arial" panose="020B0604020202020204" pitchFamily="34" charset="0"/>
            </a:rPr>
            <a:t>18–25, 26–30 ,31–35, 36-40, 41-45, 46-50, 55-60, 60+</a:t>
          </a:r>
          <a:endParaRPr lang="en-IN" dirty="0"/>
        </a:p>
      </dgm:t>
    </dgm:pt>
    <dgm:pt modelId="{B623E687-E6BC-4E8B-AAB2-BCA63CC27287}" type="parTrans" cxnId="{CDFF1FEB-E16D-4B19-92D9-DBA8EA65B53A}">
      <dgm:prSet/>
      <dgm:spPr/>
      <dgm:t>
        <a:bodyPr/>
        <a:lstStyle/>
        <a:p>
          <a:endParaRPr lang="en-IN"/>
        </a:p>
      </dgm:t>
    </dgm:pt>
    <dgm:pt modelId="{89D28A40-0181-43BD-9062-FA6D81A20166}" type="sibTrans" cxnId="{CDFF1FEB-E16D-4B19-92D9-DBA8EA65B53A}">
      <dgm:prSet/>
      <dgm:spPr/>
      <dgm:t>
        <a:bodyPr/>
        <a:lstStyle/>
        <a:p>
          <a:endParaRPr lang="en-IN"/>
        </a:p>
      </dgm:t>
    </dgm:pt>
    <dgm:pt modelId="{9A863CF8-4009-48C3-9B9D-B614266F0C8F}">
      <dgm:prSet phldrT="[Text]" custT="1"/>
      <dgm:spPr/>
      <dgm:t>
        <a:bodyPr/>
        <a:lstStyle/>
        <a:p>
          <a:pPr algn="ctr">
            <a:buNone/>
          </a:pPr>
          <a:r>
            <a:rPr lang="en-US" sz="2000" dirty="0"/>
            <a:t>Top 5 States by Revenue</a:t>
          </a:r>
          <a:endParaRPr lang="en-IN" sz="2000" dirty="0"/>
        </a:p>
      </dgm:t>
    </dgm:pt>
    <dgm:pt modelId="{FBC9AB16-4B28-4241-8F77-7E05052D48E0}" type="parTrans" cxnId="{065CD029-0A3A-4290-9D9A-002497FF4E52}">
      <dgm:prSet/>
      <dgm:spPr/>
      <dgm:t>
        <a:bodyPr/>
        <a:lstStyle/>
        <a:p>
          <a:endParaRPr lang="en-IN"/>
        </a:p>
      </dgm:t>
    </dgm:pt>
    <dgm:pt modelId="{C520D056-936E-4F9E-9D0E-BCB425BBFA42}" type="sibTrans" cxnId="{065CD029-0A3A-4290-9D9A-002497FF4E52}">
      <dgm:prSet/>
      <dgm:spPr/>
      <dgm:t>
        <a:bodyPr/>
        <a:lstStyle/>
        <a:p>
          <a:endParaRPr lang="en-IN"/>
        </a:p>
      </dgm:t>
    </dgm:pt>
    <dgm:pt modelId="{4508EE0A-AB43-4B3A-9C23-38A9C13F1700}">
      <dgm:prSet phldrT="[Text]"/>
      <dgm:spPr/>
      <dgm:t>
        <a:bodyPr/>
        <a:lstStyle/>
        <a:p>
          <a:pPr>
            <a:buFont typeface="Wingdings" panose="05000000000000000000" pitchFamily="2" charset="2"/>
            <a:buChar char="Ø"/>
          </a:pPr>
          <a:r>
            <a:rPr lang="en-US" dirty="0"/>
            <a:t>This analysis identifies the </a:t>
          </a:r>
          <a:r>
            <a:rPr lang="en-US" b="1" dirty="0"/>
            <a:t>five highest revenue-generating states</a:t>
          </a:r>
          <a:r>
            <a:rPr lang="en-US" dirty="0"/>
            <a:t> based on total order value.</a:t>
          </a:r>
          <a:endParaRPr lang="en-IN" dirty="0"/>
        </a:p>
      </dgm:t>
    </dgm:pt>
    <dgm:pt modelId="{8C55A70A-35AC-4C05-B74C-BAFE921EEBE4}" type="parTrans" cxnId="{54D4CB63-9EB4-4A06-8839-5FE7ACCE3F0D}">
      <dgm:prSet/>
      <dgm:spPr/>
      <dgm:t>
        <a:bodyPr/>
        <a:lstStyle/>
        <a:p>
          <a:endParaRPr lang="en-IN"/>
        </a:p>
      </dgm:t>
    </dgm:pt>
    <dgm:pt modelId="{47B91F78-4D36-453D-952A-3D2A5AE9DD82}" type="sibTrans" cxnId="{54D4CB63-9EB4-4A06-8839-5FE7ACCE3F0D}">
      <dgm:prSet/>
      <dgm:spPr/>
      <dgm:t>
        <a:bodyPr/>
        <a:lstStyle/>
        <a:p>
          <a:endParaRPr lang="en-IN"/>
        </a:p>
      </dgm:t>
    </dgm:pt>
    <dgm:pt modelId="{244156AF-458F-4EA6-AC82-62E6A7E93AD4}">
      <dgm:prSet phldrT="[Text]" custT="1"/>
      <dgm:spPr/>
      <dgm:t>
        <a:bodyPr/>
        <a:lstStyle/>
        <a:p>
          <a:pPr algn="ctr">
            <a:buNone/>
          </a:pPr>
          <a:r>
            <a:rPr lang="en-US" sz="2000" dirty="0"/>
            <a:t>Top 5 Cities by Number of Orders</a:t>
          </a:r>
          <a:endParaRPr lang="en-IN" sz="2000" dirty="0"/>
        </a:p>
      </dgm:t>
    </dgm:pt>
    <dgm:pt modelId="{4FAA3F17-4A96-490B-8FC5-97D4B64B2EAC}" type="parTrans" cxnId="{FCE17CB8-3DF0-4B67-ACF7-6DD3279600D3}">
      <dgm:prSet/>
      <dgm:spPr/>
      <dgm:t>
        <a:bodyPr/>
        <a:lstStyle/>
        <a:p>
          <a:endParaRPr lang="en-IN"/>
        </a:p>
      </dgm:t>
    </dgm:pt>
    <dgm:pt modelId="{4FB508DB-0441-43DA-BBB2-9718E2851805}" type="sibTrans" cxnId="{FCE17CB8-3DF0-4B67-ACF7-6DD3279600D3}">
      <dgm:prSet/>
      <dgm:spPr/>
      <dgm:t>
        <a:bodyPr/>
        <a:lstStyle/>
        <a:p>
          <a:endParaRPr lang="en-IN"/>
        </a:p>
      </dgm:t>
    </dgm:pt>
    <dgm:pt modelId="{0D379C27-D88A-4116-8830-F661AFB86861}">
      <dgm:prSet phldrT="[Text]"/>
      <dgm:spPr/>
      <dgm:t>
        <a:bodyPr/>
        <a:lstStyle/>
        <a:p>
          <a:pPr>
            <a:buFont typeface="Wingdings" panose="05000000000000000000" pitchFamily="2" charset="2"/>
            <a:buChar char="Ø"/>
          </a:pPr>
          <a:r>
            <a:rPr lang="en-US" dirty="0"/>
            <a:t>Cities were ranked based on the </a:t>
          </a:r>
          <a:r>
            <a:rPr lang="en-US" b="1" dirty="0"/>
            <a:t>total number of orders placed</a:t>
          </a:r>
          <a:r>
            <a:rPr lang="en-US" dirty="0"/>
            <a:t>.</a:t>
          </a:r>
          <a:endParaRPr lang="en-IN" dirty="0"/>
        </a:p>
      </dgm:t>
    </dgm:pt>
    <dgm:pt modelId="{F1577BCB-EC75-49C5-B590-7763531FE2D1}" type="parTrans" cxnId="{54EBD813-A7C1-428D-A046-74E1C41E3C6F}">
      <dgm:prSet/>
      <dgm:spPr/>
      <dgm:t>
        <a:bodyPr/>
        <a:lstStyle/>
        <a:p>
          <a:endParaRPr lang="en-IN"/>
        </a:p>
      </dgm:t>
    </dgm:pt>
    <dgm:pt modelId="{569509C4-45DB-4B89-A81F-922CC7EA2527}" type="sibTrans" cxnId="{54EBD813-A7C1-428D-A046-74E1C41E3C6F}">
      <dgm:prSet/>
      <dgm:spPr/>
      <dgm:t>
        <a:bodyPr/>
        <a:lstStyle/>
        <a:p>
          <a:endParaRPr lang="en-IN"/>
        </a:p>
      </dgm:t>
    </dgm:pt>
    <dgm:pt modelId="{D8DD3900-3AF6-4FCE-A16A-0052FEC28900}">
      <dgm:prSet phldrT="[Text]" custT="1"/>
      <dgm:spPr/>
      <dgm:t>
        <a:bodyPr/>
        <a:lstStyle/>
        <a:p>
          <a:pPr algn="ctr">
            <a:buNone/>
          </a:pPr>
          <a:r>
            <a:rPr lang="en-IN" sz="2000" dirty="0"/>
            <a:t>Category × Size Combinations</a:t>
          </a:r>
        </a:p>
      </dgm:t>
    </dgm:pt>
    <dgm:pt modelId="{B9E41DE6-4408-44D3-8698-89AC0E87F224}" type="parTrans" cxnId="{6EBBBF6A-95CB-45AF-BA9C-F4DC453E0650}">
      <dgm:prSet/>
      <dgm:spPr/>
      <dgm:t>
        <a:bodyPr/>
        <a:lstStyle/>
        <a:p>
          <a:endParaRPr lang="en-IN"/>
        </a:p>
      </dgm:t>
    </dgm:pt>
    <dgm:pt modelId="{914324FE-CAF2-4EA7-8F0D-7643A1879512}" type="sibTrans" cxnId="{6EBBBF6A-95CB-45AF-BA9C-F4DC453E0650}">
      <dgm:prSet/>
      <dgm:spPr/>
      <dgm:t>
        <a:bodyPr/>
        <a:lstStyle/>
        <a:p>
          <a:endParaRPr lang="en-IN"/>
        </a:p>
      </dgm:t>
    </dgm:pt>
    <dgm:pt modelId="{9FBA3BE4-F647-4B81-A105-CA4B36017D1E}">
      <dgm:prSet/>
      <dgm:spPr/>
      <dgm:t>
        <a:bodyPr/>
        <a:lstStyle/>
        <a:p>
          <a:pPr>
            <a:buFont typeface="Wingdings" panose="05000000000000000000" pitchFamily="2" charset="2"/>
            <a:buChar char="Ø"/>
          </a:pPr>
          <a:r>
            <a:rPr lang="en-US" dirty="0"/>
            <a:t>Sales performance was analyzed by combining </a:t>
          </a:r>
          <a:r>
            <a:rPr lang="en-US" b="1" dirty="0"/>
            <a:t>product category and size</a:t>
          </a:r>
          <a:r>
            <a:rPr lang="en-US" dirty="0"/>
            <a:t>.</a:t>
          </a:r>
          <a:endParaRPr lang="en-IN" dirty="0"/>
        </a:p>
      </dgm:t>
    </dgm:pt>
    <dgm:pt modelId="{FEDB62D2-3342-4734-80BB-9C25814DCBD6}" type="parTrans" cxnId="{B3CAD4C4-D32E-403F-87BB-14318FB4CB6E}">
      <dgm:prSet/>
      <dgm:spPr/>
      <dgm:t>
        <a:bodyPr/>
        <a:lstStyle/>
        <a:p>
          <a:endParaRPr lang="en-IN"/>
        </a:p>
      </dgm:t>
    </dgm:pt>
    <dgm:pt modelId="{159F65DF-AF92-4F86-A75D-AC1C2B7FB0EE}" type="sibTrans" cxnId="{B3CAD4C4-D32E-403F-87BB-14318FB4CB6E}">
      <dgm:prSet/>
      <dgm:spPr/>
      <dgm:t>
        <a:bodyPr/>
        <a:lstStyle/>
        <a:p>
          <a:endParaRPr lang="en-IN"/>
        </a:p>
      </dgm:t>
    </dgm:pt>
    <dgm:pt modelId="{0E3F03DB-C5FF-4090-AC54-3EA94E4C627D}">
      <dgm:prSet/>
      <dgm:spPr/>
      <dgm:t>
        <a:bodyPr/>
        <a:lstStyle/>
        <a:p>
          <a:pPr>
            <a:buFont typeface="Wingdings" panose="05000000000000000000" pitchFamily="2" charset="2"/>
            <a:buChar char="Ø"/>
          </a:pPr>
          <a:r>
            <a:rPr lang="en-US" dirty="0"/>
            <a:t>Revenue contribution was analyzed for each age group to identify the </a:t>
          </a:r>
          <a:r>
            <a:rPr lang="en-US" b="1" dirty="0"/>
            <a:t>most valuable customer segment</a:t>
          </a:r>
          <a:r>
            <a:rPr lang="en-US" dirty="0"/>
            <a:t>.</a:t>
          </a:r>
        </a:p>
      </dgm:t>
    </dgm:pt>
    <dgm:pt modelId="{79B8CDCE-E513-4755-AA78-37F1BDC28062}" type="parTrans" cxnId="{EC8ED3B9-2F61-49A6-BF37-41711E8805F4}">
      <dgm:prSet/>
      <dgm:spPr/>
      <dgm:t>
        <a:bodyPr/>
        <a:lstStyle/>
        <a:p>
          <a:endParaRPr lang="en-IN"/>
        </a:p>
      </dgm:t>
    </dgm:pt>
    <dgm:pt modelId="{2FC6D00D-4585-4701-8CBB-C15401EB85B6}" type="sibTrans" cxnId="{EC8ED3B9-2F61-49A6-BF37-41711E8805F4}">
      <dgm:prSet/>
      <dgm:spPr/>
      <dgm:t>
        <a:bodyPr/>
        <a:lstStyle/>
        <a:p>
          <a:endParaRPr lang="en-IN"/>
        </a:p>
      </dgm:t>
    </dgm:pt>
    <dgm:pt modelId="{5A7A3DDF-8020-42A8-A20E-FDDE1F084D5B}">
      <dgm:prSet/>
      <dgm:spPr/>
      <dgm:t>
        <a:bodyPr/>
        <a:lstStyle/>
        <a:p>
          <a:pPr>
            <a:buFont typeface="Wingdings" panose="05000000000000000000" pitchFamily="2" charset="2"/>
            <a:buChar char="Ø"/>
          </a:pPr>
          <a:r>
            <a:rPr lang="en-US" dirty="0"/>
            <a:t>This analysis helps the business tailor </a:t>
          </a:r>
          <a:r>
            <a:rPr lang="en-US" b="1" dirty="0"/>
            <a:t>marketing strategies, product offerings, and promotions</a:t>
          </a:r>
          <a:r>
            <a:rPr lang="en-US" dirty="0"/>
            <a:t> to the most profitable age group.</a:t>
          </a:r>
        </a:p>
      </dgm:t>
    </dgm:pt>
    <dgm:pt modelId="{EB4C7A86-9224-44B7-8FDB-EA76CC787B7B}" type="parTrans" cxnId="{BE66F402-2C47-4F8D-B131-E7FA6597EACB}">
      <dgm:prSet/>
      <dgm:spPr/>
      <dgm:t>
        <a:bodyPr/>
        <a:lstStyle/>
        <a:p>
          <a:endParaRPr lang="en-IN"/>
        </a:p>
      </dgm:t>
    </dgm:pt>
    <dgm:pt modelId="{29905E70-799B-4DB2-ACBA-4D0ED0BD17A9}" type="sibTrans" cxnId="{BE66F402-2C47-4F8D-B131-E7FA6597EACB}">
      <dgm:prSet/>
      <dgm:spPr/>
      <dgm:t>
        <a:bodyPr/>
        <a:lstStyle/>
        <a:p>
          <a:endParaRPr lang="en-IN"/>
        </a:p>
      </dgm:t>
    </dgm:pt>
    <dgm:pt modelId="{2AEBD1BA-F616-4881-B5FC-357D59C55AA4}">
      <dgm:prSet phldrT="[Text]"/>
      <dgm:spPr/>
      <dgm:t>
        <a:bodyPr/>
        <a:lstStyle/>
        <a:p>
          <a:pPr>
            <a:buFont typeface="Wingdings" panose="05000000000000000000" pitchFamily="2" charset="2"/>
            <a:buChar char="Ø"/>
          </a:pPr>
          <a:r>
            <a:rPr lang="en-US" dirty="0"/>
            <a:t>It helps understand </a:t>
          </a:r>
          <a:r>
            <a:rPr lang="en-US" b="1" dirty="0"/>
            <a:t>regional demand patterns</a:t>
          </a:r>
          <a:r>
            <a:rPr lang="en-US" dirty="0"/>
            <a:t> and highlights key markets contributing most to overall revenue.</a:t>
          </a:r>
          <a:endParaRPr lang="en-IN" dirty="0"/>
        </a:p>
      </dgm:t>
    </dgm:pt>
    <dgm:pt modelId="{981D94EC-AD40-4F89-9D34-77885CFC7BA5}" type="parTrans" cxnId="{D4880AF8-FA70-4476-A15C-8034F587944D}">
      <dgm:prSet/>
      <dgm:spPr/>
      <dgm:t>
        <a:bodyPr/>
        <a:lstStyle/>
        <a:p>
          <a:endParaRPr lang="en-IN"/>
        </a:p>
      </dgm:t>
    </dgm:pt>
    <dgm:pt modelId="{46B9F07A-90D1-40CA-BD32-0AF74EF0F1B6}" type="sibTrans" cxnId="{D4880AF8-FA70-4476-A15C-8034F587944D}">
      <dgm:prSet/>
      <dgm:spPr/>
      <dgm:t>
        <a:bodyPr/>
        <a:lstStyle/>
        <a:p>
          <a:endParaRPr lang="en-IN"/>
        </a:p>
      </dgm:t>
    </dgm:pt>
    <dgm:pt modelId="{60078BFF-787C-4318-8922-1EE1D68D1FC5}">
      <dgm:prSet phldrT="[Text]"/>
      <dgm:spPr/>
      <dgm:t>
        <a:bodyPr/>
        <a:lstStyle/>
        <a:p>
          <a:pPr>
            <a:buFont typeface="Wingdings" panose="05000000000000000000" pitchFamily="2" charset="2"/>
            <a:buChar char="Ø"/>
          </a:pPr>
          <a:r>
            <a:rPr lang="en-US" dirty="0"/>
            <a:t>These insights support decisions related to </a:t>
          </a:r>
          <a:r>
            <a:rPr lang="en-US" b="1" dirty="0"/>
            <a:t>regional marketing, inventory allocation, and logistics planning</a:t>
          </a:r>
          <a:r>
            <a:rPr lang="en-US" dirty="0"/>
            <a:t>.</a:t>
          </a:r>
          <a:endParaRPr lang="en-IN" dirty="0"/>
        </a:p>
      </dgm:t>
    </dgm:pt>
    <dgm:pt modelId="{B05DE971-C5CF-4738-8E16-36BFAA04E33C}" type="parTrans" cxnId="{06DA5A5B-DC69-4032-A862-7B5F588A4F04}">
      <dgm:prSet/>
      <dgm:spPr/>
      <dgm:t>
        <a:bodyPr/>
        <a:lstStyle/>
        <a:p>
          <a:endParaRPr lang="en-IN"/>
        </a:p>
      </dgm:t>
    </dgm:pt>
    <dgm:pt modelId="{ECA6F7A1-9550-4E83-A1D6-C858B115DDCB}" type="sibTrans" cxnId="{06DA5A5B-DC69-4032-A862-7B5F588A4F04}">
      <dgm:prSet/>
      <dgm:spPr/>
      <dgm:t>
        <a:bodyPr/>
        <a:lstStyle/>
        <a:p>
          <a:endParaRPr lang="en-IN"/>
        </a:p>
      </dgm:t>
    </dgm:pt>
    <dgm:pt modelId="{9374D058-21D4-4B8B-BC06-E3701E8FFB6E}">
      <dgm:prSet phldrT="[Text]"/>
      <dgm:spPr/>
      <dgm:t>
        <a:bodyPr/>
        <a:lstStyle/>
        <a:p>
          <a:pPr>
            <a:buFont typeface="Wingdings" panose="05000000000000000000" pitchFamily="2" charset="2"/>
            <a:buChar char="Ø"/>
          </a:pPr>
          <a:r>
            <a:rPr lang="en-US" dirty="0"/>
            <a:t>This helps identify </a:t>
          </a:r>
          <a:r>
            <a:rPr lang="en-US" b="1" dirty="0"/>
            <a:t>high-demand urban centers</a:t>
          </a:r>
          <a:r>
            <a:rPr lang="en-US" dirty="0"/>
            <a:t> where customer activity is strongest.</a:t>
          </a:r>
          <a:endParaRPr lang="en-IN" dirty="0"/>
        </a:p>
      </dgm:t>
    </dgm:pt>
    <dgm:pt modelId="{9F23072C-73D0-4A94-B7EB-EAE30243F2AB}" type="parTrans" cxnId="{4AC06B36-85AE-4CE8-8B6E-1307137EE389}">
      <dgm:prSet/>
      <dgm:spPr/>
      <dgm:t>
        <a:bodyPr/>
        <a:lstStyle/>
        <a:p>
          <a:endParaRPr lang="en-IN"/>
        </a:p>
      </dgm:t>
    </dgm:pt>
    <dgm:pt modelId="{CF64D92D-B830-4C09-9601-6344E0FA2620}" type="sibTrans" cxnId="{4AC06B36-85AE-4CE8-8B6E-1307137EE389}">
      <dgm:prSet/>
      <dgm:spPr/>
      <dgm:t>
        <a:bodyPr/>
        <a:lstStyle/>
        <a:p>
          <a:endParaRPr lang="en-IN"/>
        </a:p>
      </dgm:t>
    </dgm:pt>
    <dgm:pt modelId="{75504D4C-0FA9-42A9-A9EA-5BD32107DF02}">
      <dgm:prSet phldrT="[Text]"/>
      <dgm:spPr/>
      <dgm:t>
        <a:bodyPr/>
        <a:lstStyle/>
        <a:p>
          <a:pPr>
            <a:buFont typeface="Wingdings" panose="05000000000000000000" pitchFamily="2" charset="2"/>
            <a:buChar char="Ø"/>
          </a:pPr>
          <a:r>
            <a:rPr lang="en-US" dirty="0"/>
            <a:t>Such analysis is useful for improving </a:t>
          </a:r>
          <a:r>
            <a:rPr lang="en-US" b="1" dirty="0"/>
            <a:t>delivery efficiency and local promotions</a:t>
          </a:r>
          <a:r>
            <a:rPr lang="en-US" dirty="0"/>
            <a:t>.</a:t>
          </a:r>
          <a:endParaRPr lang="en-IN" dirty="0"/>
        </a:p>
      </dgm:t>
    </dgm:pt>
    <dgm:pt modelId="{E1C2F05E-AAFE-4B2D-AD94-B275C11BF5C3}" type="parTrans" cxnId="{BA77A45D-D8F9-42CD-B729-6A72C855A8C0}">
      <dgm:prSet/>
      <dgm:spPr/>
      <dgm:t>
        <a:bodyPr/>
        <a:lstStyle/>
        <a:p>
          <a:endParaRPr lang="en-IN"/>
        </a:p>
      </dgm:t>
    </dgm:pt>
    <dgm:pt modelId="{3F300434-06B5-4757-85A7-18A851E04991}" type="sibTrans" cxnId="{BA77A45D-D8F9-42CD-B729-6A72C855A8C0}">
      <dgm:prSet/>
      <dgm:spPr/>
      <dgm:t>
        <a:bodyPr/>
        <a:lstStyle/>
        <a:p>
          <a:endParaRPr lang="en-IN"/>
        </a:p>
      </dgm:t>
    </dgm:pt>
    <dgm:pt modelId="{CE235002-2DA8-4533-A906-C57D44F1064D}">
      <dgm:prSet/>
      <dgm:spPr/>
      <dgm:t>
        <a:bodyPr/>
        <a:lstStyle/>
        <a:p>
          <a:pPr>
            <a:buFont typeface="Wingdings" panose="05000000000000000000" pitchFamily="2" charset="2"/>
            <a:buChar char="Ø"/>
          </a:pPr>
          <a:r>
            <a:rPr lang="en-US" dirty="0"/>
            <a:t>This helps identify which </a:t>
          </a:r>
          <a:r>
            <a:rPr lang="en-US" b="1" dirty="0"/>
            <a:t>category–size combinations sell the most</a:t>
          </a:r>
          <a:r>
            <a:rPr lang="en-US" dirty="0"/>
            <a:t>, indicating customer preferences.</a:t>
          </a:r>
          <a:endParaRPr lang="en-IN" dirty="0"/>
        </a:p>
      </dgm:t>
    </dgm:pt>
    <dgm:pt modelId="{15906D37-DC51-4AF9-BCDB-1D641989C81A}" type="parTrans" cxnId="{0009916E-2F68-4200-A8E5-4A41E4E5DF8A}">
      <dgm:prSet/>
      <dgm:spPr/>
      <dgm:t>
        <a:bodyPr/>
        <a:lstStyle/>
        <a:p>
          <a:endParaRPr lang="en-IN"/>
        </a:p>
      </dgm:t>
    </dgm:pt>
    <dgm:pt modelId="{DA7AD578-208D-413E-A5B8-B1D8FAC2DDD1}" type="sibTrans" cxnId="{0009916E-2F68-4200-A8E5-4A41E4E5DF8A}">
      <dgm:prSet/>
      <dgm:spPr/>
      <dgm:t>
        <a:bodyPr/>
        <a:lstStyle/>
        <a:p>
          <a:endParaRPr lang="en-IN"/>
        </a:p>
      </dgm:t>
    </dgm:pt>
    <dgm:pt modelId="{44C5707B-D165-4088-8249-FF94FEC30881}">
      <dgm:prSet/>
      <dgm:spPr/>
      <dgm:t>
        <a:bodyPr/>
        <a:lstStyle/>
        <a:p>
          <a:pPr>
            <a:buFont typeface="Wingdings" panose="05000000000000000000" pitchFamily="2" charset="2"/>
            <a:buChar char="Ø"/>
          </a:pPr>
          <a:r>
            <a:rPr lang="en-US" dirty="0"/>
            <a:t>The results assist in </a:t>
          </a:r>
          <a:r>
            <a:rPr lang="en-US" b="1" dirty="0"/>
            <a:t>inventory planning, demand forecasting, and product assortment optimization</a:t>
          </a:r>
          <a:r>
            <a:rPr lang="en-US" dirty="0"/>
            <a:t>.</a:t>
          </a:r>
          <a:endParaRPr lang="en-IN" dirty="0"/>
        </a:p>
      </dgm:t>
    </dgm:pt>
    <dgm:pt modelId="{DD099AD8-D71B-4ED2-8452-856495380E58}" type="parTrans" cxnId="{72495856-7848-4421-AC73-C4A427E69F8A}">
      <dgm:prSet/>
      <dgm:spPr/>
      <dgm:t>
        <a:bodyPr/>
        <a:lstStyle/>
        <a:p>
          <a:endParaRPr lang="en-IN"/>
        </a:p>
      </dgm:t>
    </dgm:pt>
    <dgm:pt modelId="{4031B8F7-9BD0-4ECE-A68D-11532B8FA6B3}" type="sibTrans" cxnId="{72495856-7848-4421-AC73-C4A427E69F8A}">
      <dgm:prSet/>
      <dgm:spPr/>
      <dgm:t>
        <a:bodyPr/>
        <a:lstStyle/>
        <a:p>
          <a:endParaRPr lang="en-IN"/>
        </a:p>
      </dgm:t>
    </dgm:pt>
    <dgm:pt modelId="{37568B25-F3D4-441A-844C-6680278C93AF}" type="pres">
      <dgm:prSet presAssocID="{F3D97D17-ADBF-4AEA-986F-47060D60291F}" presName="linear" presStyleCnt="0">
        <dgm:presLayoutVars>
          <dgm:dir/>
          <dgm:animLvl val="lvl"/>
          <dgm:resizeHandles val="exact"/>
        </dgm:presLayoutVars>
      </dgm:prSet>
      <dgm:spPr/>
    </dgm:pt>
    <dgm:pt modelId="{C4975D6A-9B36-4E3B-8355-D4B4D0504AFD}" type="pres">
      <dgm:prSet presAssocID="{BDC69DA1-8A65-4200-9E06-54C538C95577}" presName="parentLin" presStyleCnt="0"/>
      <dgm:spPr/>
    </dgm:pt>
    <dgm:pt modelId="{6554C8C6-241E-47D6-9182-D1FDCB9A1F47}" type="pres">
      <dgm:prSet presAssocID="{BDC69DA1-8A65-4200-9E06-54C538C95577}" presName="parentLeftMargin" presStyleLbl="node1" presStyleIdx="0" presStyleCnt="4"/>
      <dgm:spPr/>
    </dgm:pt>
    <dgm:pt modelId="{ADA58F4A-4F1A-4609-8B1A-D2D003A0B4EF}" type="pres">
      <dgm:prSet presAssocID="{BDC69DA1-8A65-4200-9E06-54C538C95577}" presName="parentText" presStyleLbl="node1" presStyleIdx="0" presStyleCnt="4">
        <dgm:presLayoutVars>
          <dgm:chMax val="0"/>
          <dgm:bulletEnabled val="1"/>
        </dgm:presLayoutVars>
      </dgm:prSet>
      <dgm:spPr/>
    </dgm:pt>
    <dgm:pt modelId="{CAFB966A-338E-4679-99D0-49B20DF268F5}" type="pres">
      <dgm:prSet presAssocID="{BDC69DA1-8A65-4200-9E06-54C538C95577}" presName="negativeSpace" presStyleCnt="0"/>
      <dgm:spPr/>
    </dgm:pt>
    <dgm:pt modelId="{7F3B80FA-294A-45F5-B628-24A654A2EA03}" type="pres">
      <dgm:prSet presAssocID="{BDC69DA1-8A65-4200-9E06-54C538C95577}" presName="childText" presStyleLbl="conFgAcc1" presStyleIdx="0" presStyleCnt="4">
        <dgm:presLayoutVars>
          <dgm:bulletEnabled val="1"/>
        </dgm:presLayoutVars>
      </dgm:prSet>
      <dgm:spPr/>
    </dgm:pt>
    <dgm:pt modelId="{361DC44F-C178-4ED4-8BF4-A69BD9A5983F}" type="pres">
      <dgm:prSet presAssocID="{AC5FE2AC-3FCE-4D21-8067-EA136AB6685B}" presName="spaceBetweenRectangles" presStyleCnt="0"/>
      <dgm:spPr/>
    </dgm:pt>
    <dgm:pt modelId="{521536DB-7239-466C-8390-B0CD2073F9B2}" type="pres">
      <dgm:prSet presAssocID="{9A863CF8-4009-48C3-9B9D-B614266F0C8F}" presName="parentLin" presStyleCnt="0"/>
      <dgm:spPr/>
    </dgm:pt>
    <dgm:pt modelId="{DB77CACB-C035-4A3B-9D00-CB97F04240C5}" type="pres">
      <dgm:prSet presAssocID="{9A863CF8-4009-48C3-9B9D-B614266F0C8F}" presName="parentLeftMargin" presStyleLbl="node1" presStyleIdx="0" presStyleCnt="4"/>
      <dgm:spPr/>
    </dgm:pt>
    <dgm:pt modelId="{83DEA149-3731-4219-9848-94249817A921}" type="pres">
      <dgm:prSet presAssocID="{9A863CF8-4009-48C3-9B9D-B614266F0C8F}" presName="parentText" presStyleLbl="node1" presStyleIdx="1" presStyleCnt="4">
        <dgm:presLayoutVars>
          <dgm:chMax val="0"/>
          <dgm:bulletEnabled val="1"/>
        </dgm:presLayoutVars>
      </dgm:prSet>
      <dgm:spPr/>
    </dgm:pt>
    <dgm:pt modelId="{6094E9DF-BAF3-40A1-9C14-2EB8AFB23359}" type="pres">
      <dgm:prSet presAssocID="{9A863CF8-4009-48C3-9B9D-B614266F0C8F}" presName="negativeSpace" presStyleCnt="0"/>
      <dgm:spPr/>
    </dgm:pt>
    <dgm:pt modelId="{0FB0D235-F95E-463C-9A23-9AB61B0F7808}" type="pres">
      <dgm:prSet presAssocID="{9A863CF8-4009-48C3-9B9D-B614266F0C8F}" presName="childText" presStyleLbl="conFgAcc1" presStyleIdx="1" presStyleCnt="4">
        <dgm:presLayoutVars>
          <dgm:bulletEnabled val="1"/>
        </dgm:presLayoutVars>
      </dgm:prSet>
      <dgm:spPr/>
    </dgm:pt>
    <dgm:pt modelId="{E37110AF-8C62-4975-8206-801454ABDEA6}" type="pres">
      <dgm:prSet presAssocID="{C520D056-936E-4F9E-9D0E-BCB425BBFA42}" presName="spaceBetweenRectangles" presStyleCnt="0"/>
      <dgm:spPr/>
    </dgm:pt>
    <dgm:pt modelId="{FD4D2E4B-958F-494C-ACF0-E07E623C2A05}" type="pres">
      <dgm:prSet presAssocID="{244156AF-458F-4EA6-AC82-62E6A7E93AD4}" presName="parentLin" presStyleCnt="0"/>
      <dgm:spPr/>
    </dgm:pt>
    <dgm:pt modelId="{5D1D8712-079F-4AA7-B848-03D11F518D10}" type="pres">
      <dgm:prSet presAssocID="{244156AF-458F-4EA6-AC82-62E6A7E93AD4}" presName="parentLeftMargin" presStyleLbl="node1" presStyleIdx="1" presStyleCnt="4"/>
      <dgm:spPr/>
    </dgm:pt>
    <dgm:pt modelId="{8C16E880-8FCD-4562-9997-587B8D863662}" type="pres">
      <dgm:prSet presAssocID="{244156AF-458F-4EA6-AC82-62E6A7E93AD4}" presName="parentText" presStyleLbl="node1" presStyleIdx="2" presStyleCnt="4">
        <dgm:presLayoutVars>
          <dgm:chMax val="0"/>
          <dgm:bulletEnabled val="1"/>
        </dgm:presLayoutVars>
      </dgm:prSet>
      <dgm:spPr/>
    </dgm:pt>
    <dgm:pt modelId="{1E0F46DB-5A3E-4782-95D4-93A4427984A6}" type="pres">
      <dgm:prSet presAssocID="{244156AF-458F-4EA6-AC82-62E6A7E93AD4}" presName="negativeSpace" presStyleCnt="0"/>
      <dgm:spPr/>
    </dgm:pt>
    <dgm:pt modelId="{FF87E14D-E0EF-4942-B9EB-31F8B4DB44CD}" type="pres">
      <dgm:prSet presAssocID="{244156AF-458F-4EA6-AC82-62E6A7E93AD4}" presName="childText" presStyleLbl="conFgAcc1" presStyleIdx="2" presStyleCnt="4">
        <dgm:presLayoutVars>
          <dgm:bulletEnabled val="1"/>
        </dgm:presLayoutVars>
      </dgm:prSet>
      <dgm:spPr/>
    </dgm:pt>
    <dgm:pt modelId="{D9C2CED3-D7E4-48AD-A605-92BA1E9C364A}" type="pres">
      <dgm:prSet presAssocID="{4FB508DB-0441-43DA-BBB2-9718E2851805}" presName="spaceBetweenRectangles" presStyleCnt="0"/>
      <dgm:spPr/>
    </dgm:pt>
    <dgm:pt modelId="{E6F316D4-0CFA-4FC6-8939-CB29E213FAF8}" type="pres">
      <dgm:prSet presAssocID="{D8DD3900-3AF6-4FCE-A16A-0052FEC28900}" presName="parentLin" presStyleCnt="0"/>
      <dgm:spPr/>
    </dgm:pt>
    <dgm:pt modelId="{D1459E3F-FD67-419D-BF62-47B0B1C73095}" type="pres">
      <dgm:prSet presAssocID="{D8DD3900-3AF6-4FCE-A16A-0052FEC28900}" presName="parentLeftMargin" presStyleLbl="node1" presStyleIdx="2" presStyleCnt="4"/>
      <dgm:spPr/>
    </dgm:pt>
    <dgm:pt modelId="{C547F914-6BAF-4E31-A947-73FAF6160536}" type="pres">
      <dgm:prSet presAssocID="{D8DD3900-3AF6-4FCE-A16A-0052FEC28900}" presName="parentText" presStyleLbl="node1" presStyleIdx="3" presStyleCnt="4">
        <dgm:presLayoutVars>
          <dgm:chMax val="0"/>
          <dgm:bulletEnabled val="1"/>
        </dgm:presLayoutVars>
      </dgm:prSet>
      <dgm:spPr/>
    </dgm:pt>
    <dgm:pt modelId="{E30F3544-FFC2-4FCE-90EE-E6D1C3C63264}" type="pres">
      <dgm:prSet presAssocID="{D8DD3900-3AF6-4FCE-A16A-0052FEC28900}" presName="negativeSpace" presStyleCnt="0"/>
      <dgm:spPr/>
    </dgm:pt>
    <dgm:pt modelId="{193D1B9C-6277-4D20-AE86-42FDB46045D8}" type="pres">
      <dgm:prSet presAssocID="{D8DD3900-3AF6-4FCE-A16A-0052FEC28900}" presName="childText" presStyleLbl="conFgAcc1" presStyleIdx="3" presStyleCnt="4">
        <dgm:presLayoutVars>
          <dgm:bulletEnabled val="1"/>
        </dgm:presLayoutVars>
      </dgm:prSet>
      <dgm:spPr/>
    </dgm:pt>
  </dgm:ptLst>
  <dgm:cxnLst>
    <dgm:cxn modelId="{82505900-E449-443D-AD90-DBFB00C01282}" type="presOf" srcId="{F3D97D17-ADBF-4AEA-986F-47060D60291F}" destId="{37568B25-F3D4-441A-844C-6680278C93AF}" srcOrd="0" destOrd="0" presId="urn:microsoft.com/office/officeart/2005/8/layout/list1"/>
    <dgm:cxn modelId="{CB13AB02-535C-4B63-B9C6-531F5C96E412}" type="presOf" srcId="{5A7A3DDF-8020-42A8-A20E-FDDE1F084D5B}" destId="{7F3B80FA-294A-45F5-B628-24A654A2EA03}" srcOrd="0" destOrd="2" presId="urn:microsoft.com/office/officeart/2005/8/layout/list1"/>
    <dgm:cxn modelId="{BE66F402-2C47-4F8D-B131-E7FA6597EACB}" srcId="{BDC69DA1-8A65-4200-9E06-54C538C95577}" destId="{5A7A3DDF-8020-42A8-A20E-FDDE1F084D5B}" srcOrd="2" destOrd="0" parTransId="{EB4C7A86-9224-44B7-8FDB-EA76CC787B7B}" sibTransId="{29905E70-799B-4DB2-ACBA-4D0ED0BD17A9}"/>
    <dgm:cxn modelId="{FA49C712-5525-488B-90DA-41A6067F8627}" type="presOf" srcId="{BDC69DA1-8A65-4200-9E06-54C538C95577}" destId="{ADA58F4A-4F1A-4609-8B1A-D2D003A0B4EF}" srcOrd="1" destOrd="0" presId="urn:microsoft.com/office/officeart/2005/8/layout/list1"/>
    <dgm:cxn modelId="{54EBD813-A7C1-428D-A046-74E1C41E3C6F}" srcId="{244156AF-458F-4EA6-AC82-62E6A7E93AD4}" destId="{0D379C27-D88A-4116-8830-F661AFB86861}" srcOrd="0" destOrd="0" parTransId="{F1577BCB-EC75-49C5-B590-7763531FE2D1}" sibTransId="{569509C4-45DB-4B89-A81F-922CC7EA2527}"/>
    <dgm:cxn modelId="{662F0526-18FC-45CD-8266-6016D9C5E706}" type="presOf" srcId="{4508EE0A-AB43-4B3A-9C23-38A9C13F1700}" destId="{0FB0D235-F95E-463C-9A23-9AB61B0F7808}" srcOrd="0" destOrd="0" presId="urn:microsoft.com/office/officeart/2005/8/layout/list1"/>
    <dgm:cxn modelId="{141D6426-3464-43EE-9B4D-5621628AD2F5}" type="presOf" srcId="{9A863CF8-4009-48C3-9B9D-B614266F0C8F}" destId="{83DEA149-3731-4219-9848-94249817A921}" srcOrd="1" destOrd="0" presId="urn:microsoft.com/office/officeart/2005/8/layout/list1"/>
    <dgm:cxn modelId="{065CD029-0A3A-4290-9D9A-002497FF4E52}" srcId="{F3D97D17-ADBF-4AEA-986F-47060D60291F}" destId="{9A863CF8-4009-48C3-9B9D-B614266F0C8F}" srcOrd="1" destOrd="0" parTransId="{FBC9AB16-4B28-4241-8F77-7E05052D48E0}" sibTransId="{C520D056-936E-4F9E-9D0E-BCB425BBFA42}"/>
    <dgm:cxn modelId="{F1AE922E-8D28-4501-A6CF-4279D80863CB}" type="presOf" srcId="{9A863CF8-4009-48C3-9B9D-B614266F0C8F}" destId="{DB77CACB-C035-4A3B-9D00-CB97F04240C5}" srcOrd="0" destOrd="0" presId="urn:microsoft.com/office/officeart/2005/8/layout/list1"/>
    <dgm:cxn modelId="{66337C31-FCFA-4EC5-9B8F-D84EC58ABEE4}" type="presOf" srcId="{75504D4C-0FA9-42A9-A9EA-5BD32107DF02}" destId="{FF87E14D-E0EF-4942-B9EB-31F8B4DB44CD}" srcOrd="0" destOrd="2" presId="urn:microsoft.com/office/officeart/2005/8/layout/list1"/>
    <dgm:cxn modelId="{37FB8932-C214-4FFC-9D52-05FBE8309436}" srcId="{F3D97D17-ADBF-4AEA-986F-47060D60291F}" destId="{BDC69DA1-8A65-4200-9E06-54C538C95577}" srcOrd="0" destOrd="0" parTransId="{6174118A-A7AA-4CDC-8339-E7EEEB173862}" sibTransId="{AC5FE2AC-3FCE-4D21-8067-EA136AB6685B}"/>
    <dgm:cxn modelId="{A9063A35-EAB0-4C88-A970-655D1730C8E9}" type="presOf" srcId="{CE235002-2DA8-4533-A906-C57D44F1064D}" destId="{193D1B9C-6277-4D20-AE86-42FDB46045D8}" srcOrd="0" destOrd="1" presId="urn:microsoft.com/office/officeart/2005/8/layout/list1"/>
    <dgm:cxn modelId="{4AC06B36-85AE-4CE8-8B6E-1307137EE389}" srcId="{244156AF-458F-4EA6-AC82-62E6A7E93AD4}" destId="{9374D058-21D4-4B8B-BC06-E3701E8FFB6E}" srcOrd="1" destOrd="0" parTransId="{9F23072C-73D0-4A94-B7EB-EAE30243F2AB}" sibTransId="{CF64D92D-B830-4C09-9601-6344E0FA2620}"/>
    <dgm:cxn modelId="{1CF9483F-4B65-4EE5-9055-8568430E7334}" type="presOf" srcId="{D8DD3900-3AF6-4FCE-A16A-0052FEC28900}" destId="{C547F914-6BAF-4E31-A947-73FAF6160536}" srcOrd="1" destOrd="0" presId="urn:microsoft.com/office/officeart/2005/8/layout/list1"/>
    <dgm:cxn modelId="{06DA5A5B-DC69-4032-A862-7B5F588A4F04}" srcId="{9A863CF8-4009-48C3-9B9D-B614266F0C8F}" destId="{60078BFF-787C-4318-8922-1EE1D68D1FC5}" srcOrd="2" destOrd="0" parTransId="{B05DE971-C5CF-4738-8E16-36BFAA04E33C}" sibTransId="{ECA6F7A1-9550-4E83-A1D6-C858B115DDCB}"/>
    <dgm:cxn modelId="{BA77A45D-D8F9-42CD-B729-6A72C855A8C0}" srcId="{244156AF-458F-4EA6-AC82-62E6A7E93AD4}" destId="{75504D4C-0FA9-42A9-A9EA-5BD32107DF02}" srcOrd="2" destOrd="0" parTransId="{E1C2F05E-AAFE-4B2D-AD94-B275C11BF5C3}" sibTransId="{3F300434-06B5-4757-85A7-18A851E04991}"/>
    <dgm:cxn modelId="{1BB74341-1840-469E-9418-D61EEC7B814E}" type="presOf" srcId="{BDC69DA1-8A65-4200-9E06-54C538C95577}" destId="{6554C8C6-241E-47D6-9182-D1FDCB9A1F47}" srcOrd="0" destOrd="0" presId="urn:microsoft.com/office/officeart/2005/8/layout/list1"/>
    <dgm:cxn modelId="{FBBE2843-82DD-4D9A-97E9-6BBEB91685E8}" type="presOf" srcId="{244156AF-458F-4EA6-AC82-62E6A7E93AD4}" destId="{8C16E880-8FCD-4562-9997-587B8D863662}" srcOrd="1" destOrd="0" presId="urn:microsoft.com/office/officeart/2005/8/layout/list1"/>
    <dgm:cxn modelId="{54D4CB63-9EB4-4A06-8839-5FE7ACCE3F0D}" srcId="{9A863CF8-4009-48C3-9B9D-B614266F0C8F}" destId="{4508EE0A-AB43-4B3A-9C23-38A9C13F1700}" srcOrd="0" destOrd="0" parTransId="{8C55A70A-35AC-4C05-B74C-BAFE921EEBE4}" sibTransId="{47B91F78-4D36-453D-952A-3D2A5AE9DD82}"/>
    <dgm:cxn modelId="{A6C98765-0A12-43EF-9C09-4D6C04A1DD3C}" type="presOf" srcId="{9374D058-21D4-4B8B-BC06-E3701E8FFB6E}" destId="{FF87E14D-E0EF-4942-B9EB-31F8B4DB44CD}" srcOrd="0" destOrd="1" presId="urn:microsoft.com/office/officeart/2005/8/layout/list1"/>
    <dgm:cxn modelId="{6EBBBF6A-95CB-45AF-BA9C-F4DC453E0650}" srcId="{F3D97D17-ADBF-4AEA-986F-47060D60291F}" destId="{D8DD3900-3AF6-4FCE-A16A-0052FEC28900}" srcOrd="3" destOrd="0" parTransId="{B9E41DE6-4408-44D3-8698-89AC0E87F224}" sibTransId="{914324FE-CAF2-4EA7-8F0D-7643A1879512}"/>
    <dgm:cxn modelId="{0009916E-2F68-4200-A8E5-4A41E4E5DF8A}" srcId="{D8DD3900-3AF6-4FCE-A16A-0052FEC28900}" destId="{CE235002-2DA8-4533-A906-C57D44F1064D}" srcOrd="1" destOrd="0" parTransId="{15906D37-DC51-4AF9-BCDB-1D641989C81A}" sibTransId="{DA7AD578-208D-413E-A5B8-B1D8FAC2DDD1}"/>
    <dgm:cxn modelId="{0F5DA653-3C15-4DB6-93BA-D62BC6ED8739}" type="presOf" srcId="{9FBA3BE4-F647-4B81-A105-CA4B36017D1E}" destId="{193D1B9C-6277-4D20-AE86-42FDB46045D8}" srcOrd="0" destOrd="0" presId="urn:microsoft.com/office/officeart/2005/8/layout/list1"/>
    <dgm:cxn modelId="{72495856-7848-4421-AC73-C4A427E69F8A}" srcId="{D8DD3900-3AF6-4FCE-A16A-0052FEC28900}" destId="{44C5707B-D165-4088-8249-FF94FEC30881}" srcOrd="2" destOrd="0" parTransId="{DD099AD8-D71B-4ED2-8452-856495380E58}" sibTransId="{4031B8F7-9BD0-4ECE-A68D-11532B8FA6B3}"/>
    <dgm:cxn modelId="{044A235A-D0CC-466C-A87E-A4BF1D898D2A}" type="presOf" srcId="{2AEBD1BA-F616-4881-B5FC-357D59C55AA4}" destId="{0FB0D235-F95E-463C-9A23-9AB61B0F7808}" srcOrd="0" destOrd="1" presId="urn:microsoft.com/office/officeart/2005/8/layout/list1"/>
    <dgm:cxn modelId="{C68C5290-C195-4ACE-BF9A-D9AB1D0ED997}" type="presOf" srcId="{0E3F03DB-C5FF-4090-AC54-3EA94E4C627D}" destId="{7F3B80FA-294A-45F5-B628-24A654A2EA03}" srcOrd="0" destOrd="1" presId="urn:microsoft.com/office/officeart/2005/8/layout/list1"/>
    <dgm:cxn modelId="{ADED3397-2D6E-4612-B3AD-3E1385FB41F5}" type="presOf" srcId="{D8DD3900-3AF6-4FCE-A16A-0052FEC28900}" destId="{D1459E3F-FD67-419D-BF62-47B0B1C73095}" srcOrd="0" destOrd="0" presId="urn:microsoft.com/office/officeart/2005/8/layout/list1"/>
    <dgm:cxn modelId="{2FB95FA7-1EFF-486C-B950-EEED790A8A81}" type="presOf" srcId="{95BC124A-3E8F-4A3F-9163-4C1982D00F5B}" destId="{7F3B80FA-294A-45F5-B628-24A654A2EA03}" srcOrd="0" destOrd="0" presId="urn:microsoft.com/office/officeart/2005/8/layout/list1"/>
    <dgm:cxn modelId="{ABD855A9-C258-4273-BA61-0A11D4F11FF2}" type="presOf" srcId="{0D379C27-D88A-4116-8830-F661AFB86861}" destId="{FF87E14D-E0EF-4942-B9EB-31F8B4DB44CD}" srcOrd="0" destOrd="0" presId="urn:microsoft.com/office/officeart/2005/8/layout/list1"/>
    <dgm:cxn modelId="{FCE17CB8-3DF0-4B67-ACF7-6DD3279600D3}" srcId="{F3D97D17-ADBF-4AEA-986F-47060D60291F}" destId="{244156AF-458F-4EA6-AC82-62E6A7E93AD4}" srcOrd="2" destOrd="0" parTransId="{4FAA3F17-4A96-490B-8FC5-97D4B64B2EAC}" sibTransId="{4FB508DB-0441-43DA-BBB2-9718E2851805}"/>
    <dgm:cxn modelId="{EC8ED3B9-2F61-49A6-BF37-41711E8805F4}" srcId="{BDC69DA1-8A65-4200-9E06-54C538C95577}" destId="{0E3F03DB-C5FF-4090-AC54-3EA94E4C627D}" srcOrd="1" destOrd="0" parTransId="{79B8CDCE-E513-4755-AA78-37F1BDC28062}" sibTransId="{2FC6D00D-4585-4701-8CBB-C15401EB85B6}"/>
    <dgm:cxn modelId="{D1893FC3-AE94-4EB1-8FD4-AFC7AE5AA1C0}" type="presOf" srcId="{44C5707B-D165-4088-8249-FF94FEC30881}" destId="{193D1B9C-6277-4D20-AE86-42FDB46045D8}" srcOrd="0" destOrd="2" presId="urn:microsoft.com/office/officeart/2005/8/layout/list1"/>
    <dgm:cxn modelId="{B3CAD4C4-D32E-403F-87BB-14318FB4CB6E}" srcId="{D8DD3900-3AF6-4FCE-A16A-0052FEC28900}" destId="{9FBA3BE4-F647-4B81-A105-CA4B36017D1E}" srcOrd="0" destOrd="0" parTransId="{FEDB62D2-3342-4734-80BB-9C25814DCBD6}" sibTransId="{159F65DF-AF92-4F86-A75D-AC1C2B7FB0EE}"/>
    <dgm:cxn modelId="{4B745BE0-0C02-47F6-9D56-6858714888D3}" type="presOf" srcId="{244156AF-458F-4EA6-AC82-62E6A7E93AD4}" destId="{5D1D8712-079F-4AA7-B848-03D11F518D10}" srcOrd="0" destOrd="0" presId="urn:microsoft.com/office/officeart/2005/8/layout/list1"/>
    <dgm:cxn modelId="{CDFF1FEB-E16D-4B19-92D9-DBA8EA65B53A}" srcId="{BDC69DA1-8A65-4200-9E06-54C538C95577}" destId="{95BC124A-3E8F-4A3F-9163-4C1982D00F5B}" srcOrd="0" destOrd="0" parTransId="{B623E687-E6BC-4E8B-AAB2-BCA63CC27287}" sibTransId="{89D28A40-0181-43BD-9062-FA6D81A20166}"/>
    <dgm:cxn modelId="{D4880AF8-FA70-4476-A15C-8034F587944D}" srcId="{9A863CF8-4009-48C3-9B9D-B614266F0C8F}" destId="{2AEBD1BA-F616-4881-B5FC-357D59C55AA4}" srcOrd="1" destOrd="0" parTransId="{981D94EC-AD40-4F89-9D34-77885CFC7BA5}" sibTransId="{46B9F07A-90D1-40CA-BD32-0AF74EF0F1B6}"/>
    <dgm:cxn modelId="{36013DFD-C4E7-4673-9D11-E1C01BE647EF}" type="presOf" srcId="{60078BFF-787C-4318-8922-1EE1D68D1FC5}" destId="{0FB0D235-F95E-463C-9A23-9AB61B0F7808}" srcOrd="0" destOrd="2" presId="urn:microsoft.com/office/officeart/2005/8/layout/list1"/>
    <dgm:cxn modelId="{6680CF7B-2230-42D8-92FB-4A68B643982A}" type="presParOf" srcId="{37568B25-F3D4-441A-844C-6680278C93AF}" destId="{C4975D6A-9B36-4E3B-8355-D4B4D0504AFD}" srcOrd="0" destOrd="0" presId="urn:microsoft.com/office/officeart/2005/8/layout/list1"/>
    <dgm:cxn modelId="{7437D540-CADC-4460-ADAC-1B0642B8A54A}" type="presParOf" srcId="{C4975D6A-9B36-4E3B-8355-D4B4D0504AFD}" destId="{6554C8C6-241E-47D6-9182-D1FDCB9A1F47}" srcOrd="0" destOrd="0" presId="urn:microsoft.com/office/officeart/2005/8/layout/list1"/>
    <dgm:cxn modelId="{4C3C8FBC-18FA-44F1-B511-3F7450946E8C}" type="presParOf" srcId="{C4975D6A-9B36-4E3B-8355-D4B4D0504AFD}" destId="{ADA58F4A-4F1A-4609-8B1A-D2D003A0B4EF}" srcOrd="1" destOrd="0" presId="urn:microsoft.com/office/officeart/2005/8/layout/list1"/>
    <dgm:cxn modelId="{1FD1B638-962F-43EB-9972-C1695666B9C1}" type="presParOf" srcId="{37568B25-F3D4-441A-844C-6680278C93AF}" destId="{CAFB966A-338E-4679-99D0-49B20DF268F5}" srcOrd="1" destOrd="0" presId="urn:microsoft.com/office/officeart/2005/8/layout/list1"/>
    <dgm:cxn modelId="{1E7EA481-0183-4816-BC64-DFB4442E46AF}" type="presParOf" srcId="{37568B25-F3D4-441A-844C-6680278C93AF}" destId="{7F3B80FA-294A-45F5-B628-24A654A2EA03}" srcOrd="2" destOrd="0" presId="urn:microsoft.com/office/officeart/2005/8/layout/list1"/>
    <dgm:cxn modelId="{9BE45B81-5948-4A9D-A878-C90C30F0D331}" type="presParOf" srcId="{37568B25-F3D4-441A-844C-6680278C93AF}" destId="{361DC44F-C178-4ED4-8BF4-A69BD9A5983F}" srcOrd="3" destOrd="0" presId="urn:microsoft.com/office/officeart/2005/8/layout/list1"/>
    <dgm:cxn modelId="{B6CE711B-0A92-46B0-8638-72F32B8A4709}" type="presParOf" srcId="{37568B25-F3D4-441A-844C-6680278C93AF}" destId="{521536DB-7239-466C-8390-B0CD2073F9B2}" srcOrd="4" destOrd="0" presId="urn:microsoft.com/office/officeart/2005/8/layout/list1"/>
    <dgm:cxn modelId="{0D8C4A24-E421-48C7-84D8-C22DC195CD61}" type="presParOf" srcId="{521536DB-7239-466C-8390-B0CD2073F9B2}" destId="{DB77CACB-C035-4A3B-9D00-CB97F04240C5}" srcOrd="0" destOrd="0" presId="urn:microsoft.com/office/officeart/2005/8/layout/list1"/>
    <dgm:cxn modelId="{8ABCD84B-7F15-4533-B438-6A3119B7204B}" type="presParOf" srcId="{521536DB-7239-466C-8390-B0CD2073F9B2}" destId="{83DEA149-3731-4219-9848-94249817A921}" srcOrd="1" destOrd="0" presId="urn:microsoft.com/office/officeart/2005/8/layout/list1"/>
    <dgm:cxn modelId="{E530C4B0-B192-41D0-9E67-273C85A265F0}" type="presParOf" srcId="{37568B25-F3D4-441A-844C-6680278C93AF}" destId="{6094E9DF-BAF3-40A1-9C14-2EB8AFB23359}" srcOrd="5" destOrd="0" presId="urn:microsoft.com/office/officeart/2005/8/layout/list1"/>
    <dgm:cxn modelId="{E40516BE-60F1-4FAD-BFF3-38A0E71D1F57}" type="presParOf" srcId="{37568B25-F3D4-441A-844C-6680278C93AF}" destId="{0FB0D235-F95E-463C-9A23-9AB61B0F7808}" srcOrd="6" destOrd="0" presId="urn:microsoft.com/office/officeart/2005/8/layout/list1"/>
    <dgm:cxn modelId="{6F6234F3-C718-44BB-94C2-5A36421536C6}" type="presParOf" srcId="{37568B25-F3D4-441A-844C-6680278C93AF}" destId="{E37110AF-8C62-4975-8206-801454ABDEA6}" srcOrd="7" destOrd="0" presId="urn:microsoft.com/office/officeart/2005/8/layout/list1"/>
    <dgm:cxn modelId="{99B000C1-1EB4-4DDC-8128-C518537BA1F7}" type="presParOf" srcId="{37568B25-F3D4-441A-844C-6680278C93AF}" destId="{FD4D2E4B-958F-494C-ACF0-E07E623C2A05}" srcOrd="8" destOrd="0" presId="urn:microsoft.com/office/officeart/2005/8/layout/list1"/>
    <dgm:cxn modelId="{0EF1DF12-95A8-4382-8797-30BD6BE9F0ED}" type="presParOf" srcId="{FD4D2E4B-958F-494C-ACF0-E07E623C2A05}" destId="{5D1D8712-079F-4AA7-B848-03D11F518D10}" srcOrd="0" destOrd="0" presId="urn:microsoft.com/office/officeart/2005/8/layout/list1"/>
    <dgm:cxn modelId="{46B6AD40-C2DC-44FF-8FBD-8D8C0B7D6C6F}" type="presParOf" srcId="{FD4D2E4B-958F-494C-ACF0-E07E623C2A05}" destId="{8C16E880-8FCD-4562-9997-587B8D863662}" srcOrd="1" destOrd="0" presId="urn:microsoft.com/office/officeart/2005/8/layout/list1"/>
    <dgm:cxn modelId="{D3BE57B6-3F3F-4C74-8703-4ADE9C66423B}" type="presParOf" srcId="{37568B25-F3D4-441A-844C-6680278C93AF}" destId="{1E0F46DB-5A3E-4782-95D4-93A4427984A6}" srcOrd="9" destOrd="0" presId="urn:microsoft.com/office/officeart/2005/8/layout/list1"/>
    <dgm:cxn modelId="{D9B270A4-FBB4-4086-91DE-7679CB9B385F}" type="presParOf" srcId="{37568B25-F3D4-441A-844C-6680278C93AF}" destId="{FF87E14D-E0EF-4942-B9EB-31F8B4DB44CD}" srcOrd="10" destOrd="0" presId="urn:microsoft.com/office/officeart/2005/8/layout/list1"/>
    <dgm:cxn modelId="{FB41BB0B-46E0-417E-9D1B-49128A3CD97C}" type="presParOf" srcId="{37568B25-F3D4-441A-844C-6680278C93AF}" destId="{D9C2CED3-D7E4-48AD-A605-92BA1E9C364A}" srcOrd="11" destOrd="0" presId="urn:microsoft.com/office/officeart/2005/8/layout/list1"/>
    <dgm:cxn modelId="{553633AA-8B49-4D47-A4D5-F6F957AA834D}" type="presParOf" srcId="{37568B25-F3D4-441A-844C-6680278C93AF}" destId="{E6F316D4-0CFA-4FC6-8939-CB29E213FAF8}" srcOrd="12" destOrd="0" presId="urn:microsoft.com/office/officeart/2005/8/layout/list1"/>
    <dgm:cxn modelId="{9CBE73D7-97D5-4F60-93CB-B39580C54D37}" type="presParOf" srcId="{E6F316D4-0CFA-4FC6-8939-CB29E213FAF8}" destId="{D1459E3F-FD67-419D-BF62-47B0B1C73095}" srcOrd="0" destOrd="0" presId="urn:microsoft.com/office/officeart/2005/8/layout/list1"/>
    <dgm:cxn modelId="{75AC2206-52B7-499A-AEAF-9258F302B0C1}" type="presParOf" srcId="{E6F316D4-0CFA-4FC6-8939-CB29E213FAF8}" destId="{C547F914-6BAF-4E31-A947-73FAF6160536}" srcOrd="1" destOrd="0" presId="urn:microsoft.com/office/officeart/2005/8/layout/list1"/>
    <dgm:cxn modelId="{E40B66BD-1900-44CA-83A1-066C5EAB1DFD}" type="presParOf" srcId="{37568B25-F3D4-441A-844C-6680278C93AF}" destId="{E30F3544-FFC2-4FCE-90EE-E6D1C3C63264}" srcOrd="13" destOrd="0" presId="urn:microsoft.com/office/officeart/2005/8/layout/list1"/>
    <dgm:cxn modelId="{F5FD3E07-84D8-4EEF-8E6D-8B5972BDA1C6}" type="presParOf" srcId="{37568B25-F3D4-441A-844C-6680278C93AF}" destId="{193D1B9C-6277-4D20-AE86-42FDB46045D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E13DDB-AC89-4798-866F-1571AD4669CE}" type="doc">
      <dgm:prSet loTypeId="urn:microsoft.com/office/officeart/2005/8/layout/vList3" loCatId="list" qsTypeId="urn:microsoft.com/office/officeart/2005/8/quickstyle/simple2" qsCatId="simple" csTypeId="urn:microsoft.com/office/officeart/2005/8/colors/accent1_2" csCatId="accent1" phldr="1"/>
      <dgm:spPr/>
      <dgm:t>
        <a:bodyPr/>
        <a:lstStyle/>
        <a:p>
          <a:endParaRPr lang="en-IN"/>
        </a:p>
      </dgm:t>
    </dgm:pt>
    <dgm:pt modelId="{35E8D68D-2563-42C3-85A0-EFDC97F11FFF}">
      <dgm:prSet phldrT="[Text]"/>
      <dgm:spPr/>
      <dgm:t>
        <a:bodyPr/>
        <a:lstStyle/>
        <a:p>
          <a:pPr>
            <a:buNone/>
          </a:pPr>
          <a:r>
            <a:rPr lang="en-US" dirty="0"/>
            <a:t>1. Which sales channels should Vrinda Store focus on and why?</a:t>
          </a:r>
          <a:endParaRPr lang="en-IN" dirty="0"/>
        </a:p>
      </dgm:t>
    </dgm:pt>
    <dgm:pt modelId="{FF0F3438-3324-4425-A640-985A6345B281}" type="parTrans" cxnId="{EA99396E-C159-4B96-B185-F5BDFD20EB0D}">
      <dgm:prSet/>
      <dgm:spPr/>
      <dgm:t>
        <a:bodyPr/>
        <a:lstStyle/>
        <a:p>
          <a:endParaRPr lang="en-IN"/>
        </a:p>
      </dgm:t>
    </dgm:pt>
    <dgm:pt modelId="{DB9611DF-479F-45EF-BCD4-9EABC7C8134C}" type="sibTrans" cxnId="{EA99396E-C159-4B96-B185-F5BDFD20EB0D}">
      <dgm:prSet/>
      <dgm:spPr/>
      <dgm:t>
        <a:bodyPr/>
        <a:lstStyle/>
        <a:p>
          <a:endParaRPr lang="en-IN"/>
        </a:p>
      </dgm:t>
    </dgm:pt>
    <dgm:pt modelId="{7D4CA592-A423-43FF-A7DB-6669D2A4C21C}">
      <dgm:prSet phldrT="[Text]"/>
      <dgm:spPr/>
      <dgm:t>
        <a:bodyPr/>
        <a:lstStyle/>
        <a:p>
          <a:pPr>
            <a:buFont typeface="Arial" panose="020B0604020202020204" pitchFamily="34" charset="0"/>
            <a:buChar char="•"/>
          </a:pPr>
          <a:r>
            <a:rPr lang="en-US" dirty="0"/>
            <a:t>Vrinda Store should focus on </a:t>
          </a:r>
          <a:r>
            <a:rPr lang="en-US" b="1" dirty="0"/>
            <a:t>Ajio, Others, and Nalli</a:t>
          </a:r>
          <a:r>
            <a:rPr lang="en-US" dirty="0"/>
            <a:t>, as these channels show the </a:t>
          </a:r>
          <a:r>
            <a:rPr lang="en-US" b="1" dirty="0"/>
            <a:t>highest Average Order Value (AOV)</a:t>
          </a:r>
          <a:r>
            <a:rPr lang="en-US" dirty="0"/>
            <a:t>.</a:t>
          </a:r>
          <a:endParaRPr lang="en-IN" dirty="0"/>
        </a:p>
      </dgm:t>
    </dgm:pt>
    <dgm:pt modelId="{F7144EC4-CE67-41D4-B3EB-A3675C08EF20}" type="parTrans" cxnId="{D8724560-1374-4738-92FE-E1E19862CEF1}">
      <dgm:prSet/>
      <dgm:spPr/>
      <dgm:t>
        <a:bodyPr/>
        <a:lstStyle/>
        <a:p>
          <a:endParaRPr lang="en-IN"/>
        </a:p>
      </dgm:t>
    </dgm:pt>
    <dgm:pt modelId="{B5DA7F42-A2FD-4DD2-81EE-2445070DA7B4}" type="sibTrans" cxnId="{D8724560-1374-4738-92FE-E1E19862CEF1}">
      <dgm:prSet/>
      <dgm:spPr/>
      <dgm:t>
        <a:bodyPr/>
        <a:lstStyle/>
        <a:p>
          <a:endParaRPr lang="en-IN"/>
        </a:p>
      </dgm:t>
    </dgm:pt>
    <dgm:pt modelId="{464CD2DC-D8C6-430D-980F-93326B26ED3B}">
      <dgm:prSet phldrT="[Text]" custT="1"/>
      <dgm:spPr/>
      <dgm:t>
        <a:bodyPr/>
        <a:lstStyle/>
        <a:p>
          <a:pPr>
            <a:buNone/>
          </a:pPr>
          <a:r>
            <a:rPr lang="en-US" sz="2000" dirty="0"/>
            <a:t>2. Which states show high demand but high returns?</a:t>
          </a:r>
          <a:endParaRPr lang="en-IN" sz="2000" dirty="0"/>
        </a:p>
      </dgm:t>
    </dgm:pt>
    <dgm:pt modelId="{EC5E68AD-B7CA-4FA0-AAA5-9FC26CE2852C}" type="parTrans" cxnId="{F8E5B0F9-5BC2-4858-92A8-1378E9CE5F27}">
      <dgm:prSet/>
      <dgm:spPr/>
      <dgm:t>
        <a:bodyPr/>
        <a:lstStyle/>
        <a:p>
          <a:endParaRPr lang="en-IN"/>
        </a:p>
      </dgm:t>
    </dgm:pt>
    <dgm:pt modelId="{ECE5F56A-1411-4082-B005-3454D288C10B}" type="sibTrans" cxnId="{F8E5B0F9-5BC2-4858-92A8-1378E9CE5F27}">
      <dgm:prSet/>
      <dgm:spPr/>
      <dgm:t>
        <a:bodyPr/>
        <a:lstStyle/>
        <a:p>
          <a:endParaRPr lang="en-IN"/>
        </a:p>
      </dgm:t>
    </dgm:pt>
    <dgm:pt modelId="{F4B01D70-8B06-4EE3-9E2D-F3E3FDFE55F5}">
      <dgm:prSet phldrT="[Text]" custT="1"/>
      <dgm:spPr/>
      <dgm:t>
        <a:bodyPr/>
        <a:lstStyle/>
        <a:p>
          <a:pPr>
            <a:buNone/>
          </a:pPr>
          <a:r>
            <a:rPr lang="en-US" sz="1600" dirty="0"/>
            <a:t>    West Bengal contributes high order volume, indicating strong customer demand. However, the relatively high share of cancelled, returned, and refunded orders suggests fulfillment or customer expectation issues, leading to revenue leakage</a:t>
          </a:r>
          <a:endParaRPr lang="en-IN" sz="1600" dirty="0"/>
        </a:p>
      </dgm:t>
    </dgm:pt>
    <dgm:pt modelId="{AAF848F5-A5A4-4C6B-8514-C35FB2A32FE7}" type="parTrans" cxnId="{9BD3CF53-DBD8-408A-806B-CA1D6D8C4014}">
      <dgm:prSet/>
      <dgm:spPr/>
      <dgm:t>
        <a:bodyPr/>
        <a:lstStyle/>
        <a:p>
          <a:endParaRPr lang="en-IN"/>
        </a:p>
      </dgm:t>
    </dgm:pt>
    <dgm:pt modelId="{748F2BB2-21E5-48D9-A45A-856C194A8A06}" type="sibTrans" cxnId="{9BD3CF53-DBD8-408A-806B-CA1D6D8C4014}">
      <dgm:prSet/>
      <dgm:spPr/>
      <dgm:t>
        <a:bodyPr/>
        <a:lstStyle/>
        <a:p>
          <a:endParaRPr lang="en-IN"/>
        </a:p>
      </dgm:t>
    </dgm:pt>
    <dgm:pt modelId="{D5C095D1-7216-4845-8444-93F95DFC33C9}">
      <dgm:prSet/>
      <dgm:spPr/>
      <dgm:t>
        <a:bodyPr/>
        <a:lstStyle/>
        <a:p>
          <a:pPr>
            <a:buFont typeface="Arial" panose="020B0604020202020204" pitchFamily="34" charset="0"/>
            <a:buChar char="•"/>
          </a:pPr>
          <a:r>
            <a:rPr lang="en-US" dirty="0"/>
            <a:t>Higher AOV indicates </a:t>
          </a:r>
          <a:r>
            <a:rPr lang="en-US" b="1" dirty="0"/>
            <a:t>better revenue per order</a:t>
          </a:r>
          <a:r>
            <a:rPr lang="en-US" dirty="0"/>
            <a:t>, meaning fewer orders are needed to generate the same revenue.</a:t>
          </a:r>
        </a:p>
      </dgm:t>
    </dgm:pt>
    <dgm:pt modelId="{28839496-6BB5-4EDD-9254-F7964DB45B71}" type="parTrans" cxnId="{4A44C613-F626-4CFC-A6BF-8384517BFE55}">
      <dgm:prSet/>
      <dgm:spPr/>
      <dgm:t>
        <a:bodyPr/>
        <a:lstStyle/>
        <a:p>
          <a:endParaRPr lang="en-IN"/>
        </a:p>
      </dgm:t>
    </dgm:pt>
    <dgm:pt modelId="{9F828ECF-0540-4C9F-B3F5-D8BBD3B4314F}" type="sibTrans" cxnId="{4A44C613-F626-4CFC-A6BF-8384517BFE55}">
      <dgm:prSet/>
      <dgm:spPr/>
      <dgm:t>
        <a:bodyPr/>
        <a:lstStyle/>
        <a:p>
          <a:endParaRPr lang="en-IN"/>
        </a:p>
      </dgm:t>
    </dgm:pt>
    <dgm:pt modelId="{66090881-0746-4BEE-B695-5A0C879F6582}">
      <dgm:prSet/>
      <dgm:spPr/>
      <dgm:t>
        <a:bodyPr/>
        <a:lstStyle/>
        <a:p>
          <a:pPr>
            <a:buFont typeface="Arial" panose="020B0604020202020204" pitchFamily="34" charset="0"/>
            <a:buChar char="•"/>
          </a:pPr>
          <a:r>
            <a:rPr lang="en-US" dirty="0"/>
            <a:t>Channels like </a:t>
          </a:r>
          <a:r>
            <a:rPr lang="en-US" b="1" dirty="0" err="1"/>
            <a:t>Meesho</a:t>
          </a:r>
          <a:r>
            <a:rPr lang="en-US" dirty="0"/>
            <a:t>, with lower AOV, appear to be more </a:t>
          </a:r>
          <a:r>
            <a:rPr lang="en-US" b="1" dirty="0"/>
            <a:t>price-sensitive and volume-driven</a:t>
          </a:r>
          <a:r>
            <a:rPr lang="en-US" dirty="0"/>
            <a:t>.</a:t>
          </a:r>
        </a:p>
      </dgm:t>
    </dgm:pt>
    <dgm:pt modelId="{7E3509B4-3DA8-4494-A384-65949F3FB35A}" type="parTrans" cxnId="{874CF7B1-B049-40D6-A708-0545C1363A91}">
      <dgm:prSet/>
      <dgm:spPr/>
      <dgm:t>
        <a:bodyPr/>
        <a:lstStyle/>
        <a:p>
          <a:endParaRPr lang="en-IN"/>
        </a:p>
      </dgm:t>
    </dgm:pt>
    <dgm:pt modelId="{101EA891-BADF-442D-A67F-A41315714378}" type="sibTrans" cxnId="{874CF7B1-B049-40D6-A708-0545C1363A91}">
      <dgm:prSet/>
      <dgm:spPr/>
      <dgm:t>
        <a:bodyPr/>
        <a:lstStyle/>
        <a:p>
          <a:endParaRPr lang="en-IN"/>
        </a:p>
      </dgm:t>
    </dgm:pt>
    <dgm:pt modelId="{01B05414-F45F-4ED0-9367-F97556909B92}" type="pres">
      <dgm:prSet presAssocID="{B4E13DDB-AC89-4798-866F-1571AD4669CE}" presName="linearFlow" presStyleCnt="0">
        <dgm:presLayoutVars>
          <dgm:dir/>
          <dgm:resizeHandles val="exact"/>
        </dgm:presLayoutVars>
      </dgm:prSet>
      <dgm:spPr/>
    </dgm:pt>
    <dgm:pt modelId="{67EEB428-6DDF-4D3C-8206-0B121096B737}" type="pres">
      <dgm:prSet presAssocID="{35E8D68D-2563-42C3-85A0-EFDC97F11FFF}" presName="composite" presStyleCnt="0"/>
      <dgm:spPr/>
    </dgm:pt>
    <dgm:pt modelId="{59323428-290A-4620-97BA-34B30B1CB6F5}" type="pres">
      <dgm:prSet presAssocID="{35E8D68D-2563-42C3-85A0-EFDC97F11FFF}" presName="imgShp" presStyleLbl="fgImgPlace1" presStyleIdx="0" presStyleCnt="2" custScaleX="110000" custScaleY="110000"/>
      <dgm:spPr>
        <a:blipFill dpi="0" rotWithShape="1">
          <a:blip xmlns:r="http://schemas.openxmlformats.org/officeDocument/2006/relationships" r:embed="rId1">
            <a:alphaModFix amt="85000"/>
          </a:blip>
          <a:srcRect/>
          <a:stretch>
            <a:fillRect l="-1698" t="1679" r="1903" b="-1679"/>
          </a:stretch>
        </a:blipFill>
      </dgm:spPr>
    </dgm:pt>
    <dgm:pt modelId="{8E09AF2D-0E85-47F4-A736-D52C2736EC55}" type="pres">
      <dgm:prSet presAssocID="{35E8D68D-2563-42C3-85A0-EFDC97F11FFF}" presName="txShp" presStyleLbl="node1" presStyleIdx="0" presStyleCnt="2">
        <dgm:presLayoutVars>
          <dgm:bulletEnabled val="1"/>
        </dgm:presLayoutVars>
      </dgm:prSet>
      <dgm:spPr/>
    </dgm:pt>
    <dgm:pt modelId="{923AEC1E-C420-481E-AA59-27544BD8AA87}" type="pres">
      <dgm:prSet presAssocID="{DB9611DF-479F-45EF-BCD4-9EABC7C8134C}" presName="spacing" presStyleCnt="0"/>
      <dgm:spPr/>
    </dgm:pt>
    <dgm:pt modelId="{B6BBA19E-96F9-492D-A2E2-596641E12BE1}" type="pres">
      <dgm:prSet presAssocID="{464CD2DC-D8C6-430D-980F-93326B26ED3B}" presName="composite" presStyleCnt="0"/>
      <dgm:spPr/>
    </dgm:pt>
    <dgm:pt modelId="{EAF04B47-F749-4951-AE85-7880C2B50FE8}" type="pres">
      <dgm:prSet presAssocID="{464CD2DC-D8C6-430D-980F-93326B26ED3B}" presName="imgShp" presStyleLbl="fgImgPlace1" presStyleIdx="1" presStyleCnt="2" custScaleX="110000" custScaleY="110000"/>
      <dgm:spPr>
        <a:blipFill>
          <a:blip xmlns:r="http://schemas.openxmlformats.org/officeDocument/2006/relationships" r:embed="rId2">
            <a:alphaModFix amt="85000"/>
          </a:blip>
          <a:srcRect/>
          <a:stretch>
            <a:fillRect l="-17000" r="-17000"/>
          </a:stretch>
        </a:blipFill>
      </dgm:spPr>
    </dgm:pt>
    <dgm:pt modelId="{4141C57C-138C-4148-A066-8C320963BDBC}" type="pres">
      <dgm:prSet presAssocID="{464CD2DC-D8C6-430D-980F-93326B26ED3B}" presName="txShp" presStyleLbl="node1" presStyleIdx="1" presStyleCnt="2">
        <dgm:presLayoutVars>
          <dgm:bulletEnabled val="1"/>
        </dgm:presLayoutVars>
      </dgm:prSet>
      <dgm:spPr/>
    </dgm:pt>
  </dgm:ptLst>
  <dgm:cxnLst>
    <dgm:cxn modelId="{4A44C613-F626-4CFC-A6BF-8384517BFE55}" srcId="{35E8D68D-2563-42C3-85A0-EFDC97F11FFF}" destId="{D5C095D1-7216-4845-8444-93F95DFC33C9}" srcOrd="1" destOrd="0" parTransId="{28839496-6BB5-4EDD-9254-F7964DB45B71}" sibTransId="{9F828ECF-0540-4C9F-B3F5-D8BBD3B4314F}"/>
    <dgm:cxn modelId="{B5BBA33C-C912-44EE-B26B-E4F8A678C538}" type="presOf" srcId="{35E8D68D-2563-42C3-85A0-EFDC97F11FFF}" destId="{8E09AF2D-0E85-47F4-A736-D52C2736EC55}" srcOrd="0" destOrd="0" presId="urn:microsoft.com/office/officeart/2005/8/layout/vList3"/>
    <dgm:cxn modelId="{D8724560-1374-4738-92FE-E1E19862CEF1}" srcId="{35E8D68D-2563-42C3-85A0-EFDC97F11FFF}" destId="{7D4CA592-A423-43FF-A7DB-6669D2A4C21C}" srcOrd="0" destOrd="0" parTransId="{F7144EC4-CE67-41D4-B3EB-A3675C08EF20}" sibTransId="{B5DA7F42-A2FD-4DD2-81EE-2445070DA7B4}"/>
    <dgm:cxn modelId="{76844643-B765-4C88-8AE9-F62231F001C2}" type="presOf" srcId="{7D4CA592-A423-43FF-A7DB-6669D2A4C21C}" destId="{8E09AF2D-0E85-47F4-A736-D52C2736EC55}" srcOrd="0" destOrd="1" presId="urn:microsoft.com/office/officeart/2005/8/layout/vList3"/>
    <dgm:cxn modelId="{C545D26B-B8FE-4779-A07E-2BC60BC2DF7D}" type="presOf" srcId="{B4E13DDB-AC89-4798-866F-1571AD4669CE}" destId="{01B05414-F45F-4ED0-9367-F97556909B92}" srcOrd="0" destOrd="0" presId="urn:microsoft.com/office/officeart/2005/8/layout/vList3"/>
    <dgm:cxn modelId="{EA99396E-C159-4B96-B185-F5BDFD20EB0D}" srcId="{B4E13DDB-AC89-4798-866F-1571AD4669CE}" destId="{35E8D68D-2563-42C3-85A0-EFDC97F11FFF}" srcOrd="0" destOrd="0" parTransId="{FF0F3438-3324-4425-A640-985A6345B281}" sibTransId="{DB9611DF-479F-45EF-BCD4-9EABC7C8134C}"/>
    <dgm:cxn modelId="{9BD3CF53-DBD8-408A-806B-CA1D6D8C4014}" srcId="{464CD2DC-D8C6-430D-980F-93326B26ED3B}" destId="{F4B01D70-8B06-4EE3-9E2D-F3E3FDFE55F5}" srcOrd="0" destOrd="0" parTransId="{AAF848F5-A5A4-4C6B-8514-C35FB2A32FE7}" sibTransId="{748F2BB2-21E5-48D9-A45A-856C194A8A06}"/>
    <dgm:cxn modelId="{D348EB53-33E6-490C-B9AF-D77E93A30B0F}" type="presOf" srcId="{D5C095D1-7216-4845-8444-93F95DFC33C9}" destId="{8E09AF2D-0E85-47F4-A736-D52C2736EC55}" srcOrd="0" destOrd="2" presId="urn:microsoft.com/office/officeart/2005/8/layout/vList3"/>
    <dgm:cxn modelId="{70E82477-C89F-4024-AE74-6B50A481B73B}" type="presOf" srcId="{F4B01D70-8B06-4EE3-9E2D-F3E3FDFE55F5}" destId="{4141C57C-138C-4148-A066-8C320963BDBC}" srcOrd="0" destOrd="1" presId="urn:microsoft.com/office/officeart/2005/8/layout/vList3"/>
    <dgm:cxn modelId="{CC49A68A-6118-4CAE-B909-AFF109A58975}" type="presOf" srcId="{464CD2DC-D8C6-430D-980F-93326B26ED3B}" destId="{4141C57C-138C-4148-A066-8C320963BDBC}" srcOrd="0" destOrd="0" presId="urn:microsoft.com/office/officeart/2005/8/layout/vList3"/>
    <dgm:cxn modelId="{874CF7B1-B049-40D6-A708-0545C1363A91}" srcId="{35E8D68D-2563-42C3-85A0-EFDC97F11FFF}" destId="{66090881-0746-4BEE-B695-5A0C879F6582}" srcOrd="2" destOrd="0" parTransId="{7E3509B4-3DA8-4494-A384-65949F3FB35A}" sibTransId="{101EA891-BADF-442D-A67F-A41315714378}"/>
    <dgm:cxn modelId="{7AA5FAE4-1676-4164-B9B8-B0A1DB9B75E2}" type="presOf" srcId="{66090881-0746-4BEE-B695-5A0C879F6582}" destId="{8E09AF2D-0E85-47F4-A736-D52C2736EC55}" srcOrd="0" destOrd="3" presId="urn:microsoft.com/office/officeart/2005/8/layout/vList3"/>
    <dgm:cxn modelId="{F8E5B0F9-5BC2-4858-92A8-1378E9CE5F27}" srcId="{B4E13DDB-AC89-4798-866F-1571AD4669CE}" destId="{464CD2DC-D8C6-430D-980F-93326B26ED3B}" srcOrd="1" destOrd="0" parTransId="{EC5E68AD-B7CA-4FA0-AAA5-9FC26CE2852C}" sibTransId="{ECE5F56A-1411-4082-B005-3454D288C10B}"/>
    <dgm:cxn modelId="{A2E6B239-08DD-4D67-8A17-E1EA655581C8}" type="presParOf" srcId="{01B05414-F45F-4ED0-9367-F97556909B92}" destId="{67EEB428-6DDF-4D3C-8206-0B121096B737}" srcOrd="0" destOrd="0" presId="urn:microsoft.com/office/officeart/2005/8/layout/vList3"/>
    <dgm:cxn modelId="{01CADE73-F95C-4C8D-BE13-0A1761F4F8BC}" type="presParOf" srcId="{67EEB428-6DDF-4D3C-8206-0B121096B737}" destId="{59323428-290A-4620-97BA-34B30B1CB6F5}" srcOrd="0" destOrd="0" presId="urn:microsoft.com/office/officeart/2005/8/layout/vList3"/>
    <dgm:cxn modelId="{39AD6DCE-C24A-4487-AAF3-EFD2888BC2C5}" type="presParOf" srcId="{67EEB428-6DDF-4D3C-8206-0B121096B737}" destId="{8E09AF2D-0E85-47F4-A736-D52C2736EC55}" srcOrd="1" destOrd="0" presId="urn:microsoft.com/office/officeart/2005/8/layout/vList3"/>
    <dgm:cxn modelId="{209042DC-0091-426F-8029-F652D0E0AC3D}" type="presParOf" srcId="{01B05414-F45F-4ED0-9367-F97556909B92}" destId="{923AEC1E-C420-481E-AA59-27544BD8AA87}" srcOrd="1" destOrd="0" presId="urn:microsoft.com/office/officeart/2005/8/layout/vList3"/>
    <dgm:cxn modelId="{EBB073F2-78AE-429F-B7A2-564FA37053F9}" type="presParOf" srcId="{01B05414-F45F-4ED0-9367-F97556909B92}" destId="{B6BBA19E-96F9-492D-A2E2-596641E12BE1}" srcOrd="2" destOrd="0" presId="urn:microsoft.com/office/officeart/2005/8/layout/vList3"/>
    <dgm:cxn modelId="{EFD81FBE-2DD7-4376-9A46-7CC76C34D574}" type="presParOf" srcId="{B6BBA19E-96F9-492D-A2E2-596641E12BE1}" destId="{EAF04B47-F749-4951-AE85-7880C2B50FE8}" srcOrd="0" destOrd="0" presId="urn:microsoft.com/office/officeart/2005/8/layout/vList3"/>
    <dgm:cxn modelId="{E7DA5D78-151D-4FBF-91E1-1BC3289BE454}" type="presParOf" srcId="{B6BBA19E-96F9-492D-A2E2-596641E12BE1}" destId="{4141C57C-138C-4148-A066-8C320963BDBC}"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4E13DDB-AC89-4798-866F-1571AD4669CE}"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35E8D68D-2563-42C3-85A0-EFDC97F11FFF}">
      <dgm:prSet phldrT="[Text]"/>
      <dgm:spPr/>
      <dgm:t>
        <a:bodyPr/>
        <a:lstStyle/>
        <a:p>
          <a:pPr>
            <a:buNone/>
          </a:pPr>
          <a:r>
            <a:rPr lang="en-US" dirty="0"/>
            <a:t>3. Which customer segment appears most valuable?</a:t>
          </a:r>
          <a:endParaRPr lang="en-IN" dirty="0"/>
        </a:p>
      </dgm:t>
    </dgm:pt>
    <dgm:pt modelId="{FF0F3438-3324-4425-A640-985A6345B281}" type="parTrans" cxnId="{EA99396E-C159-4B96-B185-F5BDFD20EB0D}">
      <dgm:prSet/>
      <dgm:spPr/>
      <dgm:t>
        <a:bodyPr/>
        <a:lstStyle/>
        <a:p>
          <a:endParaRPr lang="en-IN"/>
        </a:p>
      </dgm:t>
    </dgm:pt>
    <dgm:pt modelId="{DB9611DF-479F-45EF-BCD4-9EABC7C8134C}" type="sibTrans" cxnId="{EA99396E-C159-4B96-B185-F5BDFD20EB0D}">
      <dgm:prSet/>
      <dgm:spPr/>
      <dgm:t>
        <a:bodyPr/>
        <a:lstStyle/>
        <a:p>
          <a:endParaRPr lang="en-IN"/>
        </a:p>
      </dgm:t>
    </dgm:pt>
    <dgm:pt modelId="{7D4CA592-A423-43FF-A7DB-6669D2A4C21C}">
      <dgm:prSet phldrT="[Text]"/>
      <dgm:spPr/>
      <dgm:t>
        <a:bodyPr/>
        <a:lstStyle/>
        <a:p>
          <a:pPr>
            <a:buNone/>
          </a:pPr>
          <a:r>
            <a:rPr lang="en-US" dirty="0"/>
            <a:t>    The 18–25 age group is the most valuable customer segment as it contributes the highest revenue, places the maximum number of orders, and maintains a strong delivery success rate, making it both high-volume and low-risk.  </a:t>
          </a:r>
          <a:endParaRPr lang="en-IN" dirty="0"/>
        </a:p>
      </dgm:t>
    </dgm:pt>
    <dgm:pt modelId="{F7144EC4-CE67-41D4-B3EB-A3675C08EF20}" type="parTrans" cxnId="{D8724560-1374-4738-92FE-E1E19862CEF1}">
      <dgm:prSet/>
      <dgm:spPr/>
      <dgm:t>
        <a:bodyPr/>
        <a:lstStyle/>
        <a:p>
          <a:endParaRPr lang="en-IN"/>
        </a:p>
      </dgm:t>
    </dgm:pt>
    <dgm:pt modelId="{B5DA7F42-A2FD-4DD2-81EE-2445070DA7B4}" type="sibTrans" cxnId="{D8724560-1374-4738-92FE-E1E19862CEF1}">
      <dgm:prSet/>
      <dgm:spPr/>
      <dgm:t>
        <a:bodyPr/>
        <a:lstStyle/>
        <a:p>
          <a:endParaRPr lang="en-IN"/>
        </a:p>
      </dgm:t>
    </dgm:pt>
    <dgm:pt modelId="{464CD2DC-D8C6-430D-980F-93326B26ED3B}">
      <dgm:prSet phldrT="[Text]"/>
      <dgm:spPr/>
      <dgm:t>
        <a:bodyPr/>
        <a:lstStyle/>
        <a:p>
          <a:pPr>
            <a:buNone/>
          </a:pPr>
          <a:r>
            <a:rPr lang="en-US" sz="2100" dirty="0"/>
            <a:t>5. Three key recommendations to management</a:t>
          </a:r>
          <a:endParaRPr lang="en-IN" sz="2100" dirty="0"/>
        </a:p>
      </dgm:t>
    </dgm:pt>
    <dgm:pt modelId="{EC5E68AD-B7CA-4FA0-AAA5-9FC26CE2852C}" type="parTrans" cxnId="{F8E5B0F9-5BC2-4858-92A8-1378E9CE5F27}">
      <dgm:prSet/>
      <dgm:spPr/>
      <dgm:t>
        <a:bodyPr/>
        <a:lstStyle/>
        <a:p>
          <a:endParaRPr lang="en-IN"/>
        </a:p>
      </dgm:t>
    </dgm:pt>
    <dgm:pt modelId="{ECE5F56A-1411-4082-B005-3454D288C10B}" type="sibTrans" cxnId="{F8E5B0F9-5BC2-4858-92A8-1378E9CE5F27}">
      <dgm:prSet/>
      <dgm:spPr/>
      <dgm:t>
        <a:bodyPr/>
        <a:lstStyle/>
        <a:p>
          <a:endParaRPr lang="en-IN"/>
        </a:p>
      </dgm:t>
    </dgm:pt>
    <dgm:pt modelId="{F4B01D70-8B06-4EE3-9E2D-F3E3FDFE55F5}">
      <dgm:prSet phldrT="[Text]" custT="1"/>
      <dgm:spPr/>
      <dgm:t>
        <a:bodyPr/>
        <a:lstStyle/>
        <a:p>
          <a:pPr>
            <a:buNone/>
          </a:pPr>
          <a:r>
            <a:rPr lang="en-US" sz="1600" dirty="0"/>
            <a:t>    • </a:t>
          </a:r>
          <a:r>
            <a:rPr lang="en-US" sz="1800" dirty="0"/>
            <a:t>Minimize cancellations and returns to reduce revenue leakage</a:t>
          </a:r>
          <a:br>
            <a:rPr lang="en-US" sz="1800" dirty="0"/>
          </a:br>
          <a:r>
            <a:rPr lang="en-US" sz="1800" dirty="0"/>
            <a:t>• Improve logistics in high-demand but high-return regions</a:t>
          </a:r>
          <a:br>
            <a:rPr lang="en-US" sz="1800" dirty="0"/>
          </a:br>
          <a:r>
            <a:rPr lang="en-US" sz="1800" dirty="0"/>
            <a:t>• Focus marketing efforts on the high-value 18–25 customer segment</a:t>
          </a:r>
          <a:endParaRPr lang="en-IN" sz="1600" dirty="0"/>
        </a:p>
      </dgm:t>
    </dgm:pt>
    <dgm:pt modelId="{AAF848F5-A5A4-4C6B-8514-C35FB2A32FE7}" type="parTrans" cxnId="{9BD3CF53-DBD8-408A-806B-CA1D6D8C4014}">
      <dgm:prSet/>
      <dgm:spPr/>
      <dgm:t>
        <a:bodyPr/>
        <a:lstStyle/>
        <a:p>
          <a:endParaRPr lang="en-IN"/>
        </a:p>
      </dgm:t>
    </dgm:pt>
    <dgm:pt modelId="{748F2BB2-21E5-48D9-A45A-856C194A8A06}" type="sibTrans" cxnId="{9BD3CF53-DBD8-408A-806B-CA1D6D8C4014}">
      <dgm:prSet/>
      <dgm:spPr/>
      <dgm:t>
        <a:bodyPr/>
        <a:lstStyle/>
        <a:p>
          <a:endParaRPr lang="en-IN"/>
        </a:p>
      </dgm:t>
    </dgm:pt>
    <dgm:pt modelId="{975B7AF9-EDC3-4BF7-894B-528F188A3194}">
      <dgm:prSet phldrT="[Text]"/>
      <dgm:spPr/>
      <dgm:t>
        <a:bodyPr/>
        <a:lstStyle/>
        <a:p>
          <a:pPr>
            <a:buNone/>
          </a:pPr>
          <a:r>
            <a:rPr lang="en-US" dirty="0"/>
            <a:t>4. What operational issue is hurting revenue the most?</a:t>
          </a:r>
          <a:endParaRPr lang="en-IN" dirty="0"/>
        </a:p>
      </dgm:t>
    </dgm:pt>
    <dgm:pt modelId="{47AF47D2-544E-4AE6-B346-5BCC1B53BB0A}" type="parTrans" cxnId="{D81EA21C-B964-4DDA-B54A-2A2827EFC580}">
      <dgm:prSet/>
      <dgm:spPr/>
      <dgm:t>
        <a:bodyPr/>
        <a:lstStyle/>
        <a:p>
          <a:endParaRPr lang="en-IN"/>
        </a:p>
      </dgm:t>
    </dgm:pt>
    <dgm:pt modelId="{C73A0D00-221C-4427-A06A-7EAC053C1D4D}" type="sibTrans" cxnId="{D81EA21C-B964-4DDA-B54A-2A2827EFC580}">
      <dgm:prSet/>
      <dgm:spPr/>
      <dgm:t>
        <a:bodyPr/>
        <a:lstStyle/>
        <a:p>
          <a:endParaRPr lang="en-IN"/>
        </a:p>
      </dgm:t>
    </dgm:pt>
    <dgm:pt modelId="{F69B3FD4-0DE9-4076-8F5C-A157E2021511}">
      <dgm:prSet/>
      <dgm:spPr/>
      <dgm:t>
        <a:bodyPr/>
        <a:lstStyle/>
        <a:p>
          <a:pPr>
            <a:buNone/>
          </a:pPr>
          <a:r>
            <a:rPr lang="en-US" dirty="0"/>
            <a:t>    Although 92% of orders are successfully delivered, the remaining 8% of cancelled, returned, and refunded orders represent significant revenue leakage. Cancellations and returns are the largest contributors and the key operational issue affecting profitability.</a:t>
          </a:r>
          <a:endParaRPr lang="en-IN" dirty="0"/>
        </a:p>
      </dgm:t>
    </dgm:pt>
    <dgm:pt modelId="{4A12BB35-9461-4B29-B959-B5E6F2C62284}" type="parTrans" cxnId="{96F2DFAF-948F-411A-A6DD-543A9BD2854B}">
      <dgm:prSet/>
      <dgm:spPr/>
      <dgm:t>
        <a:bodyPr/>
        <a:lstStyle/>
        <a:p>
          <a:endParaRPr lang="en-IN"/>
        </a:p>
      </dgm:t>
    </dgm:pt>
    <dgm:pt modelId="{C39FDDC2-FECA-4188-BA82-BF730B507683}" type="sibTrans" cxnId="{96F2DFAF-948F-411A-A6DD-543A9BD2854B}">
      <dgm:prSet/>
      <dgm:spPr/>
      <dgm:t>
        <a:bodyPr/>
        <a:lstStyle/>
        <a:p>
          <a:endParaRPr lang="en-IN"/>
        </a:p>
      </dgm:t>
    </dgm:pt>
    <dgm:pt modelId="{395BA071-3783-4C3A-AA40-09A79BCE5C02}" type="pres">
      <dgm:prSet presAssocID="{B4E13DDB-AC89-4798-866F-1571AD4669CE}" presName="linearFlow" presStyleCnt="0">
        <dgm:presLayoutVars>
          <dgm:dir/>
          <dgm:resizeHandles val="exact"/>
        </dgm:presLayoutVars>
      </dgm:prSet>
      <dgm:spPr/>
    </dgm:pt>
    <dgm:pt modelId="{AD832EA4-93E5-4A21-86CB-EDB222B742A1}" type="pres">
      <dgm:prSet presAssocID="{35E8D68D-2563-42C3-85A0-EFDC97F11FFF}" presName="composite" presStyleCnt="0"/>
      <dgm:spPr/>
    </dgm:pt>
    <dgm:pt modelId="{287EA7A7-5E89-4F99-8E9D-2F2766ACBCB9}" type="pres">
      <dgm:prSet presAssocID="{35E8D68D-2563-42C3-85A0-EFDC97F11FFF}" presName="imgShp" presStyleLbl="fgImgPlace1" presStyleIdx="0" presStyleCnt="3" custScaleX="110000" custScaleY="110000"/>
      <dgm:spPr>
        <a:blipFill dpi="0" rotWithShape="1">
          <a:blip xmlns:r="http://schemas.openxmlformats.org/officeDocument/2006/relationships" r:embed="rId1">
            <a:alphaModFix amt="85000"/>
            <a:extLst>
              <a:ext uri="{28A0092B-C50C-407E-A947-70E740481C1C}">
                <a14:useLocalDpi xmlns:a14="http://schemas.microsoft.com/office/drawing/2010/main" val="0"/>
              </a:ext>
            </a:extLst>
          </a:blip>
          <a:srcRect/>
          <a:stretch>
            <a:fillRect/>
          </a:stretch>
        </a:blipFill>
      </dgm:spPr>
    </dgm:pt>
    <dgm:pt modelId="{5D240103-6B37-47A7-A504-4AE06FC74B99}" type="pres">
      <dgm:prSet presAssocID="{35E8D68D-2563-42C3-85A0-EFDC97F11FFF}" presName="txShp" presStyleLbl="node1" presStyleIdx="0" presStyleCnt="3">
        <dgm:presLayoutVars>
          <dgm:bulletEnabled val="1"/>
        </dgm:presLayoutVars>
      </dgm:prSet>
      <dgm:spPr/>
    </dgm:pt>
    <dgm:pt modelId="{4943F9CF-C2E7-44BD-BCAD-81A305ADE8A1}" type="pres">
      <dgm:prSet presAssocID="{DB9611DF-479F-45EF-BCD4-9EABC7C8134C}" presName="spacing" presStyleCnt="0"/>
      <dgm:spPr/>
    </dgm:pt>
    <dgm:pt modelId="{BF35F17F-7ABD-41D0-A023-4B820027442E}" type="pres">
      <dgm:prSet presAssocID="{975B7AF9-EDC3-4BF7-894B-528F188A3194}" presName="composite" presStyleCnt="0"/>
      <dgm:spPr/>
    </dgm:pt>
    <dgm:pt modelId="{330A50AE-C403-4DF2-BBB0-0463DEABD797}" type="pres">
      <dgm:prSet presAssocID="{975B7AF9-EDC3-4BF7-894B-528F188A3194}" presName="imgShp" presStyleLbl="fgImgPlace1" presStyleIdx="1" presStyleCnt="3" custScaleX="110000" custScaleY="110000"/>
      <dgm:spPr>
        <a:blipFill dpi="0" rotWithShape="1">
          <a:blip xmlns:r="http://schemas.openxmlformats.org/officeDocument/2006/relationships" r:embed="rId2">
            <a:alphaModFix amt="85000"/>
            <a:extLst>
              <a:ext uri="{28A0092B-C50C-407E-A947-70E740481C1C}">
                <a14:useLocalDpi xmlns:a14="http://schemas.microsoft.com/office/drawing/2010/main" val="0"/>
              </a:ext>
            </a:extLst>
          </a:blip>
          <a:srcRect/>
          <a:stretch>
            <a:fillRect/>
          </a:stretch>
        </a:blipFill>
      </dgm:spPr>
    </dgm:pt>
    <dgm:pt modelId="{5368397B-1016-4B7E-ABF6-F21B2E442C7D}" type="pres">
      <dgm:prSet presAssocID="{975B7AF9-EDC3-4BF7-894B-528F188A3194}" presName="txShp" presStyleLbl="node1" presStyleIdx="1" presStyleCnt="3">
        <dgm:presLayoutVars>
          <dgm:bulletEnabled val="1"/>
        </dgm:presLayoutVars>
      </dgm:prSet>
      <dgm:spPr/>
    </dgm:pt>
    <dgm:pt modelId="{25AFCB84-2EA0-4941-A6FB-35EB78E4231E}" type="pres">
      <dgm:prSet presAssocID="{C73A0D00-221C-4427-A06A-7EAC053C1D4D}" presName="spacing" presStyleCnt="0"/>
      <dgm:spPr/>
    </dgm:pt>
    <dgm:pt modelId="{8A4B99E8-9A86-41A7-97F9-FEBB259EF50D}" type="pres">
      <dgm:prSet presAssocID="{464CD2DC-D8C6-430D-980F-93326B26ED3B}" presName="composite" presStyleCnt="0"/>
      <dgm:spPr/>
    </dgm:pt>
    <dgm:pt modelId="{7A0DE83C-DF61-4EFA-9066-C2C48D630AF7}" type="pres">
      <dgm:prSet presAssocID="{464CD2DC-D8C6-430D-980F-93326B26ED3B}" presName="imgShp" presStyleLbl="fgImgPlace1" presStyleIdx="2" presStyleCnt="3" custScaleX="110000" custScaleY="110000"/>
      <dgm:spPr>
        <a:blipFill dpi="0" rotWithShape="1">
          <a:blip xmlns:r="http://schemas.openxmlformats.org/officeDocument/2006/relationships" r:embed="rId3">
            <a:alphaModFix amt="85000"/>
            <a:extLst>
              <a:ext uri="{28A0092B-C50C-407E-A947-70E740481C1C}">
                <a14:useLocalDpi xmlns:a14="http://schemas.microsoft.com/office/drawing/2010/main" val="0"/>
              </a:ext>
            </a:extLst>
          </a:blip>
          <a:srcRect/>
          <a:stretch>
            <a:fillRect l="8106" t="-1169" r="1289" b="1169"/>
          </a:stretch>
        </a:blipFill>
      </dgm:spPr>
    </dgm:pt>
    <dgm:pt modelId="{283CBBBC-EF10-4ECA-8CF3-BD613D92E4D9}" type="pres">
      <dgm:prSet presAssocID="{464CD2DC-D8C6-430D-980F-93326B26ED3B}" presName="txShp" presStyleLbl="node1" presStyleIdx="2" presStyleCnt="3">
        <dgm:presLayoutVars>
          <dgm:bulletEnabled val="1"/>
        </dgm:presLayoutVars>
      </dgm:prSet>
      <dgm:spPr/>
    </dgm:pt>
  </dgm:ptLst>
  <dgm:cxnLst>
    <dgm:cxn modelId="{55512919-1A6A-4BF1-B492-F8C154E3CD0E}" type="presOf" srcId="{35E8D68D-2563-42C3-85A0-EFDC97F11FFF}" destId="{5D240103-6B37-47A7-A504-4AE06FC74B99}" srcOrd="0" destOrd="0" presId="urn:microsoft.com/office/officeart/2005/8/layout/vList3"/>
    <dgm:cxn modelId="{D81EA21C-B964-4DDA-B54A-2A2827EFC580}" srcId="{B4E13DDB-AC89-4798-866F-1571AD4669CE}" destId="{975B7AF9-EDC3-4BF7-894B-528F188A3194}" srcOrd="1" destOrd="0" parTransId="{47AF47D2-544E-4AE6-B346-5BCC1B53BB0A}" sibTransId="{C73A0D00-221C-4427-A06A-7EAC053C1D4D}"/>
    <dgm:cxn modelId="{D8724560-1374-4738-92FE-E1E19862CEF1}" srcId="{35E8D68D-2563-42C3-85A0-EFDC97F11FFF}" destId="{7D4CA592-A423-43FF-A7DB-6669D2A4C21C}" srcOrd="0" destOrd="0" parTransId="{F7144EC4-CE67-41D4-B3EB-A3675C08EF20}" sibTransId="{B5DA7F42-A2FD-4DD2-81EE-2445070DA7B4}"/>
    <dgm:cxn modelId="{6FD5A547-6CD0-4D37-8916-8EE9287AC4DC}" type="presOf" srcId="{F69B3FD4-0DE9-4076-8F5C-A157E2021511}" destId="{5368397B-1016-4B7E-ABF6-F21B2E442C7D}" srcOrd="0" destOrd="1" presId="urn:microsoft.com/office/officeart/2005/8/layout/vList3"/>
    <dgm:cxn modelId="{EA99396E-C159-4B96-B185-F5BDFD20EB0D}" srcId="{B4E13DDB-AC89-4798-866F-1571AD4669CE}" destId="{35E8D68D-2563-42C3-85A0-EFDC97F11FFF}" srcOrd="0" destOrd="0" parTransId="{FF0F3438-3324-4425-A640-985A6345B281}" sibTransId="{DB9611DF-479F-45EF-BCD4-9EABC7C8134C}"/>
    <dgm:cxn modelId="{9BD3CF53-DBD8-408A-806B-CA1D6D8C4014}" srcId="{464CD2DC-D8C6-430D-980F-93326B26ED3B}" destId="{F4B01D70-8B06-4EE3-9E2D-F3E3FDFE55F5}" srcOrd="0" destOrd="0" parTransId="{AAF848F5-A5A4-4C6B-8514-C35FB2A32FE7}" sibTransId="{748F2BB2-21E5-48D9-A45A-856C194A8A06}"/>
    <dgm:cxn modelId="{8B697779-6D14-47D4-BF6F-7FC2A1DD31DA}" type="presOf" srcId="{F4B01D70-8B06-4EE3-9E2D-F3E3FDFE55F5}" destId="{283CBBBC-EF10-4ECA-8CF3-BD613D92E4D9}" srcOrd="0" destOrd="1" presId="urn:microsoft.com/office/officeart/2005/8/layout/vList3"/>
    <dgm:cxn modelId="{96F2DFAF-948F-411A-A6DD-543A9BD2854B}" srcId="{975B7AF9-EDC3-4BF7-894B-528F188A3194}" destId="{F69B3FD4-0DE9-4076-8F5C-A157E2021511}" srcOrd="0" destOrd="0" parTransId="{4A12BB35-9461-4B29-B959-B5E6F2C62284}" sibTransId="{C39FDDC2-FECA-4188-BA82-BF730B507683}"/>
    <dgm:cxn modelId="{A22A64B4-FF9B-4965-B189-8815AF59DC5A}" type="presOf" srcId="{975B7AF9-EDC3-4BF7-894B-528F188A3194}" destId="{5368397B-1016-4B7E-ABF6-F21B2E442C7D}" srcOrd="0" destOrd="0" presId="urn:microsoft.com/office/officeart/2005/8/layout/vList3"/>
    <dgm:cxn modelId="{F8005BB5-1281-45A1-9568-18D811FEC7B5}" type="presOf" srcId="{B4E13DDB-AC89-4798-866F-1571AD4669CE}" destId="{395BA071-3783-4C3A-AA40-09A79BCE5C02}" srcOrd="0" destOrd="0" presId="urn:microsoft.com/office/officeart/2005/8/layout/vList3"/>
    <dgm:cxn modelId="{5CCD1DEA-ECAD-407F-A506-3355058C683C}" type="presOf" srcId="{464CD2DC-D8C6-430D-980F-93326B26ED3B}" destId="{283CBBBC-EF10-4ECA-8CF3-BD613D92E4D9}" srcOrd="0" destOrd="0" presId="urn:microsoft.com/office/officeart/2005/8/layout/vList3"/>
    <dgm:cxn modelId="{232B23F3-B32D-4DB3-80CD-E6505A8553C8}" type="presOf" srcId="{7D4CA592-A423-43FF-A7DB-6669D2A4C21C}" destId="{5D240103-6B37-47A7-A504-4AE06FC74B99}" srcOrd="0" destOrd="1" presId="urn:microsoft.com/office/officeart/2005/8/layout/vList3"/>
    <dgm:cxn modelId="{F8E5B0F9-5BC2-4858-92A8-1378E9CE5F27}" srcId="{B4E13DDB-AC89-4798-866F-1571AD4669CE}" destId="{464CD2DC-D8C6-430D-980F-93326B26ED3B}" srcOrd="2" destOrd="0" parTransId="{EC5E68AD-B7CA-4FA0-AAA5-9FC26CE2852C}" sibTransId="{ECE5F56A-1411-4082-B005-3454D288C10B}"/>
    <dgm:cxn modelId="{2B874ED6-FCAC-4BC7-9241-147F4B38CD76}" type="presParOf" srcId="{395BA071-3783-4C3A-AA40-09A79BCE5C02}" destId="{AD832EA4-93E5-4A21-86CB-EDB222B742A1}" srcOrd="0" destOrd="0" presId="urn:microsoft.com/office/officeart/2005/8/layout/vList3"/>
    <dgm:cxn modelId="{DF54BC27-7878-4D93-AF57-0FC937BC0616}" type="presParOf" srcId="{AD832EA4-93E5-4A21-86CB-EDB222B742A1}" destId="{287EA7A7-5E89-4F99-8E9D-2F2766ACBCB9}" srcOrd="0" destOrd="0" presId="urn:microsoft.com/office/officeart/2005/8/layout/vList3"/>
    <dgm:cxn modelId="{2E36AD07-1C1B-49FD-8AFC-5D404F4DAA85}" type="presParOf" srcId="{AD832EA4-93E5-4A21-86CB-EDB222B742A1}" destId="{5D240103-6B37-47A7-A504-4AE06FC74B99}" srcOrd="1" destOrd="0" presId="urn:microsoft.com/office/officeart/2005/8/layout/vList3"/>
    <dgm:cxn modelId="{F622FB70-F7C6-478A-9F32-4C0651EE5F5A}" type="presParOf" srcId="{395BA071-3783-4C3A-AA40-09A79BCE5C02}" destId="{4943F9CF-C2E7-44BD-BCAD-81A305ADE8A1}" srcOrd="1" destOrd="0" presId="urn:microsoft.com/office/officeart/2005/8/layout/vList3"/>
    <dgm:cxn modelId="{E0D2AEBD-65A7-4E09-9B19-8C0407903F06}" type="presParOf" srcId="{395BA071-3783-4C3A-AA40-09A79BCE5C02}" destId="{BF35F17F-7ABD-41D0-A023-4B820027442E}" srcOrd="2" destOrd="0" presId="urn:microsoft.com/office/officeart/2005/8/layout/vList3"/>
    <dgm:cxn modelId="{EC455AB5-55E2-4CE8-AB34-91DAF32EFBE0}" type="presParOf" srcId="{BF35F17F-7ABD-41D0-A023-4B820027442E}" destId="{330A50AE-C403-4DF2-BBB0-0463DEABD797}" srcOrd="0" destOrd="0" presId="urn:microsoft.com/office/officeart/2005/8/layout/vList3"/>
    <dgm:cxn modelId="{1CA2C571-B19D-498A-93B2-36B50E9666B2}" type="presParOf" srcId="{BF35F17F-7ABD-41D0-A023-4B820027442E}" destId="{5368397B-1016-4B7E-ABF6-F21B2E442C7D}" srcOrd="1" destOrd="0" presId="urn:microsoft.com/office/officeart/2005/8/layout/vList3"/>
    <dgm:cxn modelId="{962131FB-08A3-4B67-BF54-BFA5C388B3A2}" type="presParOf" srcId="{395BA071-3783-4C3A-AA40-09A79BCE5C02}" destId="{25AFCB84-2EA0-4941-A6FB-35EB78E4231E}" srcOrd="3" destOrd="0" presId="urn:microsoft.com/office/officeart/2005/8/layout/vList3"/>
    <dgm:cxn modelId="{8BCD217C-205B-47C2-AB80-AF8F5F414A46}" type="presParOf" srcId="{395BA071-3783-4C3A-AA40-09A79BCE5C02}" destId="{8A4B99E8-9A86-41A7-97F9-FEBB259EF50D}" srcOrd="4" destOrd="0" presId="urn:microsoft.com/office/officeart/2005/8/layout/vList3"/>
    <dgm:cxn modelId="{16AB86A7-BDE3-44D6-9C86-505A38A8F483}" type="presParOf" srcId="{8A4B99E8-9A86-41A7-97F9-FEBB259EF50D}" destId="{7A0DE83C-DF61-4EFA-9066-C2C48D630AF7}" srcOrd="0" destOrd="0" presId="urn:microsoft.com/office/officeart/2005/8/layout/vList3"/>
    <dgm:cxn modelId="{44A700E4-C432-478F-BCFC-8B2C6BF59131}" type="presParOf" srcId="{8A4B99E8-9A86-41A7-97F9-FEBB259EF50D}" destId="{283CBBBC-EF10-4ECA-8CF3-BD613D92E4D9}"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2854D-809C-4670-9230-198F4D35A66C}">
      <dsp:nvSpPr>
        <dsp:cNvPr id="0" name=""/>
        <dsp:cNvSpPr/>
      </dsp:nvSpPr>
      <dsp:spPr>
        <a:xfrm>
          <a:off x="3249" y="0"/>
          <a:ext cx="4291900" cy="4351338"/>
        </a:xfrm>
        <a:prstGeom prst="ellipse">
          <a:avLst/>
        </a:prstGeom>
        <a:solidFill>
          <a:schemeClr val="accent3">
            <a:lumMod val="60000"/>
            <a:lumOff val="4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400300">
            <a:lnSpc>
              <a:spcPct val="90000"/>
            </a:lnSpc>
            <a:spcBef>
              <a:spcPct val="0"/>
            </a:spcBef>
            <a:spcAft>
              <a:spcPct val="35000"/>
            </a:spcAft>
            <a:buNone/>
          </a:pPr>
          <a:endParaRPr lang="en-IN" sz="5400" kern="1200" dirty="0"/>
        </a:p>
      </dsp:txBody>
      <dsp:txXfrm>
        <a:off x="631783" y="637239"/>
        <a:ext cx="3034832" cy="3076860"/>
      </dsp:txXfrm>
    </dsp:sp>
    <dsp:sp modelId="{D03B1CAB-5D87-4B8D-A187-DDE2A1131893}">
      <dsp:nvSpPr>
        <dsp:cNvPr id="0" name=""/>
        <dsp:cNvSpPr/>
      </dsp:nvSpPr>
      <dsp:spPr>
        <a:xfrm rot="18614405">
          <a:off x="4110313" y="1270116"/>
          <a:ext cx="1902348" cy="0"/>
        </a:xfrm>
        <a:custGeom>
          <a:avLst/>
          <a:gdLst/>
          <a:ahLst/>
          <a:cxnLst/>
          <a:rect l="0" t="0" r="0" b="0"/>
          <a:pathLst>
            <a:path>
              <a:moveTo>
                <a:pt x="0" y="0"/>
              </a:moveTo>
              <a:lnTo>
                <a:pt x="1902348" y="0"/>
              </a:lnTo>
            </a:path>
          </a:pathLst>
        </a:cu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2E8CD79-7711-4DBF-94ED-7E930CFE72FB}">
      <dsp:nvSpPr>
        <dsp:cNvPr id="0" name=""/>
        <dsp:cNvSpPr/>
      </dsp:nvSpPr>
      <dsp:spPr>
        <a:xfrm>
          <a:off x="5675938" y="544042"/>
          <a:ext cx="597758" cy="0"/>
        </a:xfrm>
        <a:prstGeom prst="line">
          <a:avLst/>
        </a:pr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54CA8B7-BCAF-4403-A8A2-EF98C393060B}">
      <dsp:nvSpPr>
        <dsp:cNvPr id="0" name=""/>
        <dsp:cNvSpPr/>
      </dsp:nvSpPr>
      <dsp:spPr>
        <a:xfrm>
          <a:off x="6273697" y="167"/>
          <a:ext cx="4238652" cy="1087750"/>
        </a:xfrm>
        <a:prstGeom prst="rect">
          <a:avLst/>
        </a:prstGeom>
        <a:noFill/>
        <a:ln w="1270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Garamond" panose="02020404030301010803" pitchFamily="18" charset="0"/>
            </a:rPr>
            <a:t>Gender: Inconsistent values (Women / W / Men / M)</a:t>
          </a:r>
        </a:p>
      </dsp:txBody>
      <dsp:txXfrm>
        <a:off x="6273697" y="167"/>
        <a:ext cx="4238652" cy="1087750"/>
      </dsp:txXfrm>
    </dsp:sp>
    <dsp:sp modelId="{4213E337-FF97-4B7D-A1DC-D9E3BBCA1DA3}">
      <dsp:nvSpPr>
        <dsp:cNvPr id="0" name=""/>
        <dsp:cNvSpPr/>
      </dsp:nvSpPr>
      <dsp:spPr>
        <a:xfrm rot="20310068">
          <a:off x="4401089" y="1873818"/>
          <a:ext cx="1320796" cy="0"/>
        </a:xfrm>
        <a:custGeom>
          <a:avLst/>
          <a:gdLst/>
          <a:ahLst/>
          <a:cxnLst/>
          <a:rect l="0" t="0" r="0" b="0"/>
          <a:pathLst>
            <a:path>
              <a:moveTo>
                <a:pt x="0" y="0"/>
              </a:moveTo>
              <a:lnTo>
                <a:pt x="1320796" y="0"/>
              </a:lnTo>
            </a:path>
          </a:pathLst>
        </a:cu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0B81079-6FCA-4DC5-B96B-162E0CEAD774}">
      <dsp:nvSpPr>
        <dsp:cNvPr id="0" name=""/>
        <dsp:cNvSpPr/>
      </dsp:nvSpPr>
      <dsp:spPr>
        <a:xfrm>
          <a:off x="5675938" y="1631793"/>
          <a:ext cx="597758" cy="0"/>
        </a:xfrm>
        <a:prstGeom prst="line">
          <a:avLst/>
        </a:pr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1405F17-1ED0-4FBB-9CAE-EE862AEB36F8}">
      <dsp:nvSpPr>
        <dsp:cNvPr id="0" name=""/>
        <dsp:cNvSpPr/>
      </dsp:nvSpPr>
      <dsp:spPr>
        <a:xfrm>
          <a:off x="6273697" y="1087918"/>
          <a:ext cx="4238652" cy="1087750"/>
        </a:xfrm>
        <a:prstGeom prst="rect">
          <a:avLst/>
        </a:prstGeom>
        <a:noFill/>
        <a:ln w="1270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Garamond" panose="02020404030301010803" pitchFamily="18" charset="0"/>
            </a:rPr>
            <a:t>Quantity: Mixed formats (1, One, 2, Two)</a:t>
          </a:r>
        </a:p>
      </dsp:txBody>
      <dsp:txXfrm>
        <a:off x="6273697" y="1087918"/>
        <a:ext cx="4238652" cy="1087750"/>
      </dsp:txXfrm>
    </dsp:sp>
    <dsp:sp modelId="{63925912-70F4-4201-95A4-A00D3CBA2355}">
      <dsp:nvSpPr>
        <dsp:cNvPr id="0" name=""/>
        <dsp:cNvSpPr/>
      </dsp:nvSpPr>
      <dsp:spPr>
        <a:xfrm rot="1289932">
          <a:off x="4401089" y="2477519"/>
          <a:ext cx="1320796" cy="0"/>
        </a:xfrm>
        <a:custGeom>
          <a:avLst/>
          <a:gdLst/>
          <a:ahLst/>
          <a:cxnLst/>
          <a:rect l="0" t="0" r="0" b="0"/>
          <a:pathLst>
            <a:path>
              <a:moveTo>
                <a:pt x="0" y="0"/>
              </a:moveTo>
              <a:lnTo>
                <a:pt x="1320796" y="0"/>
              </a:lnTo>
            </a:path>
          </a:pathLst>
        </a:cu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0190464-7398-432B-8572-E9005C55CBDA}">
      <dsp:nvSpPr>
        <dsp:cNvPr id="0" name=""/>
        <dsp:cNvSpPr/>
      </dsp:nvSpPr>
      <dsp:spPr>
        <a:xfrm>
          <a:off x="5675938" y="2719544"/>
          <a:ext cx="597758" cy="0"/>
        </a:xfrm>
        <a:prstGeom prst="line">
          <a:avLst/>
        </a:pr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992C919-37BE-49F3-98A4-BEEBAEC78D46}">
      <dsp:nvSpPr>
        <dsp:cNvPr id="0" name=""/>
        <dsp:cNvSpPr/>
      </dsp:nvSpPr>
      <dsp:spPr>
        <a:xfrm>
          <a:off x="6273697" y="2175669"/>
          <a:ext cx="4238652" cy="1087750"/>
        </a:xfrm>
        <a:prstGeom prst="rect">
          <a:avLst/>
        </a:prstGeom>
        <a:noFill/>
        <a:ln w="1270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Garamond" panose="02020404030301010803" pitchFamily="18" charset="0"/>
            </a:rPr>
            <a:t>Ship-State: Case variations (DELHI, Delhi, </a:t>
          </a:r>
          <a:r>
            <a:rPr lang="en-IN" sz="2100" kern="1200" dirty="0" err="1">
              <a:latin typeface="Garamond" panose="02020404030301010803" pitchFamily="18" charset="0"/>
            </a:rPr>
            <a:t>delhi</a:t>
          </a:r>
          <a:r>
            <a:rPr lang="en-IN" sz="2100" kern="1200" dirty="0">
              <a:latin typeface="Garamond" panose="02020404030301010803" pitchFamily="18" charset="0"/>
            </a:rPr>
            <a:t>, Goa, goa)</a:t>
          </a:r>
        </a:p>
      </dsp:txBody>
      <dsp:txXfrm>
        <a:off x="6273697" y="2175669"/>
        <a:ext cx="4238652" cy="1087750"/>
      </dsp:txXfrm>
    </dsp:sp>
    <dsp:sp modelId="{E44E2758-A7A3-480B-8523-E0BF64F4A597}">
      <dsp:nvSpPr>
        <dsp:cNvPr id="0" name=""/>
        <dsp:cNvSpPr/>
      </dsp:nvSpPr>
      <dsp:spPr>
        <a:xfrm rot="2985595">
          <a:off x="4110313" y="3081221"/>
          <a:ext cx="1902348" cy="0"/>
        </a:xfrm>
        <a:custGeom>
          <a:avLst/>
          <a:gdLst/>
          <a:ahLst/>
          <a:cxnLst/>
          <a:rect l="0" t="0" r="0" b="0"/>
          <a:pathLst>
            <a:path>
              <a:moveTo>
                <a:pt x="0" y="0"/>
              </a:moveTo>
              <a:lnTo>
                <a:pt x="1902348" y="0"/>
              </a:lnTo>
            </a:path>
          </a:pathLst>
        </a:cu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1818ED3-5191-4D70-8F6D-1540EEEFE6B0}">
      <dsp:nvSpPr>
        <dsp:cNvPr id="0" name=""/>
        <dsp:cNvSpPr/>
      </dsp:nvSpPr>
      <dsp:spPr>
        <a:xfrm>
          <a:off x="5675938" y="3807295"/>
          <a:ext cx="597758" cy="0"/>
        </a:xfrm>
        <a:prstGeom prst="line">
          <a:avLst/>
        </a:prstGeom>
        <a:noFill/>
        <a:ln w="1905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8D95FA1-4E7E-4331-BC22-6012FD695460}">
      <dsp:nvSpPr>
        <dsp:cNvPr id="0" name=""/>
        <dsp:cNvSpPr/>
      </dsp:nvSpPr>
      <dsp:spPr>
        <a:xfrm>
          <a:off x="6273697" y="3263419"/>
          <a:ext cx="4238652" cy="1087750"/>
        </a:xfrm>
        <a:prstGeom prst="rect">
          <a:avLst/>
        </a:prstGeom>
        <a:noFill/>
        <a:ln w="12700" cap="flat" cmpd="sng" algn="ctr">
          <a:noFill/>
          <a:prstDash val="solid"/>
          <a:miter lim="800000"/>
        </a:ln>
        <a:effectLst/>
        <a:sp3d/>
      </dsp:spPr>
      <dsp:style>
        <a:lnRef idx="1">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Garamond" panose="02020404030301010803" pitchFamily="18" charset="0"/>
            </a:rPr>
            <a:t>Channel: Extra spaces and inconsistent naming (e.g., "Channel ")</a:t>
          </a:r>
        </a:p>
      </dsp:txBody>
      <dsp:txXfrm>
        <a:off x="6273697" y="3263419"/>
        <a:ext cx="4238652" cy="10877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64BA5-B76D-4760-B863-048E323834CD}">
      <dsp:nvSpPr>
        <dsp:cNvPr id="0" name=""/>
        <dsp:cNvSpPr/>
      </dsp:nvSpPr>
      <dsp:spPr>
        <a:xfrm>
          <a:off x="0" y="245596"/>
          <a:ext cx="10515600" cy="1096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49936" rIns="816127"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Order status percentages were calculated using the </a:t>
          </a:r>
          <a:r>
            <a:rPr lang="en-US" sz="1200" b="1" kern="1200" dirty="0"/>
            <a:t>COUNTIF formula</a:t>
          </a:r>
          <a:r>
            <a:rPr lang="en-US" sz="1200" kern="1200" dirty="0"/>
            <a:t> instead of a Pivot Table.</a:t>
          </a:r>
          <a:endParaRPr lang="en-IN" sz="1200" kern="1200" dirty="0"/>
        </a:p>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COUNTIF was used to count each order status, and </a:t>
          </a:r>
          <a:r>
            <a:rPr lang="en-US" sz="1200" b="1" kern="1200" dirty="0"/>
            <a:t>COUNTA</a:t>
          </a:r>
          <a:r>
            <a:rPr lang="en-US" sz="1200" kern="1200" dirty="0"/>
            <a:t> was used to calculate the total number of orders.</a:t>
          </a:r>
        </a:p>
        <a:p>
          <a:pPr marL="114300" lvl="1" indent="-114300" algn="l" defTabSz="533400">
            <a:lnSpc>
              <a:spcPct val="90000"/>
            </a:lnSpc>
            <a:spcBef>
              <a:spcPct val="0"/>
            </a:spcBef>
            <a:spcAft>
              <a:spcPct val="15000"/>
            </a:spcAft>
            <a:buFont typeface="+mj-lt"/>
            <a:buAutoNum type="romanLcPeriod"/>
          </a:pPr>
          <a:r>
            <a:rPr lang="en-US" sz="1200" kern="1200" dirty="0"/>
            <a:t> </a:t>
          </a:r>
          <a:r>
            <a:rPr lang="en-US" sz="1200" b="1" kern="1200" dirty="0"/>
            <a:t>92% delivery rate</a:t>
          </a:r>
          <a:r>
            <a:rPr lang="en-US" sz="1200" kern="1200" dirty="0"/>
            <a:t> indicates efficient order fulfillment.</a:t>
          </a:r>
        </a:p>
        <a:p>
          <a:pPr marL="114300" lvl="1" indent="-114300" algn="l" defTabSz="533400">
            <a:lnSpc>
              <a:spcPct val="90000"/>
            </a:lnSpc>
            <a:spcBef>
              <a:spcPct val="0"/>
            </a:spcBef>
            <a:spcAft>
              <a:spcPct val="15000"/>
            </a:spcAft>
            <a:buFont typeface="+mj-lt"/>
            <a:buAutoNum type="romanLcPeriod"/>
          </a:pPr>
          <a:r>
            <a:rPr lang="en-US" sz="1200" b="1" kern="1200" dirty="0"/>
            <a:t>8% non-delivered orders</a:t>
          </a:r>
          <a:r>
            <a:rPr lang="en-US" sz="1200" kern="1200" dirty="0"/>
            <a:t> highlight areas for operational improvement.</a:t>
          </a:r>
        </a:p>
      </dsp:txBody>
      <dsp:txXfrm>
        <a:off x="0" y="245596"/>
        <a:ext cx="10515600" cy="1096200"/>
      </dsp:txXfrm>
    </dsp:sp>
    <dsp:sp modelId="{D484ED5F-EEA2-45A3-8DF1-FA25958BB206}">
      <dsp:nvSpPr>
        <dsp:cNvPr id="0" name=""/>
        <dsp:cNvSpPr/>
      </dsp:nvSpPr>
      <dsp:spPr>
        <a:xfrm>
          <a:off x="525780" y="68476"/>
          <a:ext cx="73609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ctr" defTabSz="889000">
            <a:lnSpc>
              <a:spcPct val="90000"/>
            </a:lnSpc>
            <a:spcBef>
              <a:spcPct val="0"/>
            </a:spcBef>
            <a:spcAft>
              <a:spcPct val="35000"/>
            </a:spcAft>
            <a:buNone/>
          </a:pPr>
          <a:r>
            <a:rPr lang="en-IN" sz="2000" kern="1200" dirty="0"/>
            <a:t>Order Status Distribution (%)</a:t>
          </a:r>
        </a:p>
      </dsp:txBody>
      <dsp:txXfrm>
        <a:off x="543073" y="85769"/>
        <a:ext cx="7326334" cy="319654"/>
      </dsp:txXfrm>
    </dsp:sp>
    <dsp:sp modelId="{FCFDB61E-315F-4642-BF27-BC28F8EB81F8}">
      <dsp:nvSpPr>
        <dsp:cNvPr id="0" name=""/>
        <dsp:cNvSpPr/>
      </dsp:nvSpPr>
      <dsp:spPr>
        <a:xfrm>
          <a:off x="0" y="1583716"/>
          <a:ext cx="10515600" cy="907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49936" rIns="816127"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en-US" sz="1200" b="1" kern="1200" dirty="0"/>
            <a:t>Total Revenue:</a:t>
          </a:r>
          <a:r>
            <a:rPr lang="en-US" sz="1200" kern="1200" dirty="0"/>
            <a:t> Sum of all successfully placed orders , </a:t>
          </a:r>
          <a:r>
            <a:rPr lang="en-IN" sz="1200" kern="1200" dirty="0"/>
            <a:t>Total Revenue = ₹ 1,97,10,544.00</a:t>
          </a:r>
        </a:p>
        <a:p>
          <a:pPr marL="114300" lvl="1" indent="-114300" algn="l" defTabSz="533400">
            <a:lnSpc>
              <a:spcPct val="90000"/>
            </a:lnSpc>
            <a:spcBef>
              <a:spcPct val="0"/>
            </a:spcBef>
            <a:spcAft>
              <a:spcPct val="15000"/>
            </a:spcAft>
            <a:buFont typeface="Wingdings" panose="05000000000000000000" pitchFamily="2" charset="2"/>
            <a:buChar char="Ø"/>
          </a:pPr>
          <a:r>
            <a:rPr lang="en-US" sz="1200" b="1" kern="1200" dirty="0"/>
            <a:t>Lost Revenue:</a:t>
          </a:r>
          <a:r>
            <a:rPr lang="en-US" sz="1200" kern="1200" dirty="0"/>
            <a:t> Revenue from non-delivered orders (Cancelled, Returned, Refunded), </a:t>
          </a:r>
          <a:r>
            <a:rPr lang="en-IN" sz="1200" kern="1200" dirty="0"/>
            <a:t>Lost Revenue = ₹ 14,65,833.00</a:t>
          </a:r>
        </a:p>
        <a:p>
          <a:pPr marL="114300" lvl="1" indent="-114300" algn="l" defTabSz="533400">
            <a:lnSpc>
              <a:spcPct val="90000"/>
            </a:lnSpc>
            <a:spcBef>
              <a:spcPct val="0"/>
            </a:spcBef>
            <a:spcAft>
              <a:spcPct val="15000"/>
            </a:spcAft>
            <a:buNone/>
          </a:pPr>
          <a:r>
            <a:rPr lang="en-US" sz="1200" kern="1200" dirty="0"/>
            <a:t>Helps understand revenue leakage and operational impact</a:t>
          </a:r>
        </a:p>
      </dsp:txBody>
      <dsp:txXfrm>
        <a:off x="0" y="1583716"/>
        <a:ext cx="10515600" cy="907200"/>
      </dsp:txXfrm>
    </dsp:sp>
    <dsp:sp modelId="{386E15B4-7591-458F-9153-6DE21D1EAB44}">
      <dsp:nvSpPr>
        <dsp:cNvPr id="0" name=""/>
        <dsp:cNvSpPr/>
      </dsp:nvSpPr>
      <dsp:spPr>
        <a:xfrm>
          <a:off x="525780" y="1406596"/>
          <a:ext cx="73609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ctr" defTabSz="889000">
            <a:lnSpc>
              <a:spcPct val="90000"/>
            </a:lnSpc>
            <a:spcBef>
              <a:spcPct val="0"/>
            </a:spcBef>
            <a:spcAft>
              <a:spcPct val="35000"/>
            </a:spcAft>
            <a:buNone/>
          </a:pPr>
          <a:r>
            <a:rPr lang="en-IN" sz="2000" kern="1200" dirty="0"/>
            <a:t>Revenue Analysis</a:t>
          </a:r>
        </a:p>
      </dsp:txBody>
      <dsp:txXfrm>
        <a:off x="543073" y="1423889"/>
        <a:ext cx="7326334" cy="319654"/>
      </dsp:txXfrm>
    </dsp:sp>
    <dsp:sp modelId="{68C1975B-77D2-4C1A-8A0C-46C007AA3CFE}">
      <dsp:nvSpPr>
        <dsp:cNvPr id="0" name=""/>
        <dsp:cNvSpPr/>
      </dsp:nvSpPr>
      <dsp:spPr>
        <a:xfrm>
          <a:off x="0" y="2732836"/>
          <a:ext cx="10515600" cy="1436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49936" rIns="816127"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The </a:t>
          </a:r>
          <a:r>
            <a:rPr lang="en-US" sz="1200" b="1" kern="1200" dirty="0"/>
            <a:t>Mean Order Amount (₹682.07)</a:t>
          </a:r>
          <a:r>
            <a:rPr lang="en-US" sz="1200" kern="1200" dirty="0"/>
            <a:t> represents the overall average value of all orders placed by customers.</a:t>
          </a:r>
          <a:endParaRPr lang="en-IN" sz="1200" kern="1200" dirty="0"/>
        </a:p>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The </a:t>
          </a:r>
          <a:r>
            <a:rPr lang="en-US" sz="1200" b="1" kern="1200" dirty="0"/>
            <a:t>Median Order Amount (₹646)</a:t>
          </a:r>
          <a:r>
            <a:rPr lang="en-US" sz="1200" kern="1200" dirty="0"/>
            <a:t> indicates that 50% of the orders are placed below this value and 50% above it, showing the typical spending level of most customers.</a:t>
          </a:r>
          <a:endParaRPr lang="en-IN" sz="1200" kern="1200" dirty="0"/>
        </a:p>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The </a:t>
          </a:r>
          <a:r>
            <a:rPr lang="en-US" sz="1200" b="1" kern="1200" dirty="0"/>
            <a:t>Mode Order Amount (₹399)</a:t>
          </a:r>
          <a:r>
            <a:rPr lang="en-US" sz="1200" kern="1200" dirty="0"/>
            <a:t> is the most frequently occurring order value, highlighting the most common price point at which customers make purchases.</a:t>
          </a:r>
          <a:endParaRPr lang="en-IN" sz="1200" kern="1200" dirty="0"/>
        </a:p>
        <a:p>
          <a:pPr marL="114300" lvl="1" indent="-114300" algn="l" defTabSz="533400">
            <a:lnSpc>
              <a:spcPct val="90000"/>
            </a:lnSpc>
            <a:spcBef>
              <a:spcPct val="0"/>
            </a:spcBef>
            <a:spcAft>
              <a:spcPct val="15000"/>
            </a:spcAft>
            <a:buNone/>
          </a:pPr>
          <a:r>
            <a:rPr lang="en-US" sz="1200" kern="1200" dirty="0"/>
            <a:t>The difference between mean and mode suggests the presence of </a:t>
          </a:r>
          <a:r>
            <a:rPr lang="en-US" sz="1200" b="1" kern="1200" dirty="0"/>
            <a:t>higher-value orders</a:t>
          </a:r>
          <a:r>
            <a:rPr lang="en-US" sz="1200" kern="1200" dirty="0"/>
            <a:t> that increase the overall average.</a:t>
          </a:r>
        </a:p>
      </dsp:txBody>
      <dsp:txXfrm>
        <a:off x="0" y="2732836"/>
        <a:ext cx="10515600" cy="1436400"/>
      </dsp:txXfrm>
    </dsp:sp>
    <dsp:sp modelId="{CD4B8644-496C-482F-A048-4E6873D73203}">
      <dsp:nvSpPr>
        <dsp:cNvPr id="0" name=""/>
        <dsp:cNvSpPr/>
      </dsp:nvSpPr>
      <dsp:spPr>
        <a:xfrm>
          <a:off x="525780" y="2555716"/>
          <a:ext cx="73609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ctr" defTabSz="889000">
            <a:lnSpc>
              <a:spcPct val="90000"/>
            </a:lnSpc>
            <a:spcBef>
              <a:spcPct val="0"/>
            </a:spcBef>
            <a:spcAft>
              <a:spcPct val="35000"/>
            </a:spcAft>
            <a:buNone/>
          </a:pPr>
          <a:r>
            <a:rPr lang="en-IN" sz="2000" kern="1200" dirty="0"/>
            <a:t>Order Amount Statistics</a:t>
          </a:r>
        </a:p>
      </dsp:txBody>
      <dsp:txXfrm>
        <a:off x="543073" y="2573009"/>
        <a:ext cx="7326334" cy="319654"/>
      </dsp:txXfrm>
    </dsp:sp>
    <dsp:sp modelId="{2AF5CA72-BCAD-4D30-BE2F-6EC8C60E706B}">
      <dsp:nvSpPr>
        <dsp:cNvPr id="0" name=""/>
        <dsp:cNvSpPr/>
      </dsp:nvSpPr>
      <dsp:spPr>
        <a:xfrm>
          <a:off x="0" y="4411156"/>
          <a:ext cx="10515600" cy="10773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49936" rIns="816127"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Compared average revenue per order across channels</a:t>
          </a:r>
          <a:endParaRPr lang="en-IN" sz="1200" kern="1200" dirty="0"/>
        </a:p>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Identifies the most profitable sales channel</a:t>
          </a:r>
          <a:endParaRPr lang="en-IN" sz="1200" kern="1200" dirty="0"/>
        </a:p>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t>Comparing AOV across channels helps identify </a:t>
          </a:r>
          <a:r>
            <a:rPr lang="en-US" sz="1200" b="1" kern="1200" dirty="0"/>
            <a:t>which platforms generate higher-value orders</a:t>
          </a:r>
          <a:r>
            <a:rPr lang="en-US" sz="1200" kern="1200" dirty="0"/>
            <a:t> and which focus on volume-based sales.</a:t>
          </a:r>
          <a:endParaRPr lang="en-IN" sz="1200" kern="1200" dirty="0"/>
        </a:p>
      </dsp:txBody>
      <dsp:txXfrm>
        <a:off x="0" y="4411156"/>
        <a:ext cx="10515600" cy="1077300"/>
      </dsp:txXfrm>
    </dsp:sp>
    <dsp:sp modelId="{B2B93797-AD5F-41EF-A99C-DF760D868DE1}">
      <dsp:nvSpPr>
        <dsp:cNvPr id="0" name=""/>
        <dsp:cNvSpPr/>
      </dsp:nvSpPr>
      <dsp:spPr>
        <a:xfrm>
          <a:off x="525780" y="4234036"/>
          <a:ext cx="73609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ctr" defTabSz="889000">
            <a:lnSpc>
              <a:spcPct val="90000"/>
            </a:lnSpc>
            <a:spcBef>
              <a:spcPct val="0"/>
            </a:spcBef>
            <a:spcAft>
              <a:spcPct val="35000"/>
            </a:spcAft>
            <a:buNone/>
          </a:pPr>
          <a:r>
            <a:rPr lang="en-US" sz="2000" kern="1200" dirty="0"/>
            <a:t>Average Order Value (AOV) by Channel</a:t>
          </a:r>
          <a:endParaRPr lang="en-IN" sz="2000" kern="1200" dirty="0"/>
        </a:p>
      </dsp:txBody>
      <dsp:txXfrm>
        <a:off x="543073" y="4251329"/>
        <a:ext cx="7326334" cy="3196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B80FA-294A-45F5-B628-24A654A2EA03}">
      <dsp:nvSpPr>
        <dsp:cNvPr id="0" name=""/>
        <dsp:cNvSpPr/>
      </dsp:nvSpPr>
      <dsp:spPr>
        <a:xfrm>
          <a:off x="0" y="416774"/>
          <a:ext cx="10687664" cy="12568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9481" tIns="291592" rIns="829481" bIns="99568" numCol="1" spcCol="1270" anchor="t" anchorCtr="0">
          <a:noAutofit/>
        </a:bodyPr>
        <a:lstStyle/>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Analyzed revenue contribution by </a:t>
          </a:r>
          <a:r>
            <a:rPr lang="en-US" sz="1400" b="1" kern="1200" dirty="0"/>
            <a:t>Age Group</a:t>
          </a:r>
          <a:r>
            <a:rPr lang="en-US" sz="1400" kern="1200" dirty="0"/>
            <a:t>:</a:t>
          </a:r>
          <a:r>
            <a:rPr lang="en-US" altLang="en-US" sz="1400" kern="1200" dirty="0">
              <a:latin typeface="Arial" panose="020B0604020202020204" pitchFamily="34" charset="0"/>
            </a:rPr>
            <a:t>18–25, 26–30 ,31–35, 36-40, 41-45, 46-50, 55-60, 60+</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Revenue contribution was analyzed for each age group to identify the </a:t>
          </a:r>
          <a:r>
            <a:rPr lang="en-US" sz="1400" b="1" kern="1200" dirty="0"/>
            <a:t>most valuable customer segment</a:t>
          </a:r>
          <a:r>
            <a:rPr lang="en-US" sz="1400" kern="1200" dirty="0"/>
            <a:t>.</a:t>
          </a:r>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This analysis helps the business tailor </a:t>
          </a:r>
          <a:r>
            <a:rPr lang="en-US" sz="1400" b="1" kern="1200" dirty="0"/>
            <a:t>marketing strategies, product offerings, and promotions</a:t>
          </a:r>
          <a:r>
            <a:rPr lang="en-US" sz="1400" kern="1200" dirty="0"/>
            <a:t> to the most profitable age group.</a:t>
          </a:r>
        </a:p>
      </dsp:txBody>
      <dsp:txXfrm>
        <a:off x="0" y="416774"/>
        <a:ext cx="10687664" cy="1256850"/>
      </dsp:txXfrm>
    </dsp:sp>
    <dsp:sp modelId="{ADA58F4A-4F1A-4609-8B1A-D2D003A0B4EF}">
      <dsp:nvSpPr>
        <dsp:cNvPr id="0" name=""/>
        <dsp:cNvSpPr/>
      </dsp:nvSpPr>
      <dsp:spPr>
        <a:xfrm>
          <a:off x="534383" y="210134"/>
          <a:ext cx="7481364"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778" tIns="0" rIns="282778" bIns="0" numCol="1" spcCol="1270" anchor="ctr" anchorCtr="0">
          <a:noAutofit/>
        </a:bodyPr>
        <a:lstStyle/>
        <a:p>
          <a:pPr marL="0" lvl="0" indent="0" algn="ctr" defTabSz="889000">
            <a:lnSpc>
              <a:spcPct val="90000"/>
            </a:lnSpc>
            <a:spcBef>
              <a:spcPct val="0"/>
            </a:spcBef>
            <a:spcAft>
              <a:spcPct val="35000"/>
            </a:spcAft>
            <a:buNone/>
          </a:pPr>
          <a:r>
            <a:rPr lang="en-IN" sz="2000" b="1" kern="1200" dirty="0"/>
            <a:t>Customer Demographics Insight</a:t>
          </a:r>
          <a:endParaRPr lang="en-IN" sz="2000" kern="1200" dirty="0"/>
        </a:p>
      </dsp:txBody>
      <dsp:txXfrm>
        <a:off x="554558" y="230309"/>
        <a:ext cx="7441014" cy="372930"/>
      </dsp:txXfrm>
    </dsp:sp>
    <dsp:sp modelId="{0FB0D235-F95E-463C-9A23-9AB61B0F7808}">
      <dsp:nvSpPr>
        <dsp:cNvPr id="0" name=""/>
        <dsp:cNvSpPr/>
      </dsp:nvSpPr>
      <dsp:spPr>
        <a:xfrm>
          <a:off x="0" y="1955864"/>
          <a:ext cx="10687664" cy="1058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9481" tIns="291592" rIns="829481" bIns="99568" numCol="1" spcCol="1270" anchor="t" anchorCtr="0">
          <a:noAutofit/>
        </a:bodyPr>
        <a:lstStyle/>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This analysis identifies the </a:t>
          </a:r>
          <a:r>
            <a:rPr lang="en-US" sz="1400" b="1" kern="1200" dirty="0"/>
            <a:t>five highest revenue-generating states</a:t>
          </a:r>
          <a:r>
            <a:rPr lang="en-US" sz="1400" kern="1200" dirty="0"/>
            <a:t> based on total order value.</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It helps understand </a:t>
          </a:r>
          <a:r>
            <a:rPr lang="en-US" sz="1400" b="1" kern="1200" dirty="0"/>
            <a:t>regional demand patterns</a:t>
          </a:r>
          <a:r>
            <a:rPr lang="en-US" sz="1400" kern="1200" dirty="0"/>
            <a:t> and highlights key markets contributing most to overall revenue.</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These insights support decisions related to </a:t>
          </a:r>
          <a:r>
            <a:rPr lang="en-US" sz="1400" b="1" kern="1200" dirty="0"/>
            <a:t>regional marketing, inventory allocation, and logistics planning</a:t>
          </a:r>
          <a:r>
            <a:rPr lang="en-US" sz="1400" kern="1200" dirty="0"/>
            <a:t>.</a:t>
          </a:r>
          <a:endParaRPr lang="en-IN" sz="1400" kern="1200" dirty="0"/>
        </a:p>
      </dsp:txBody>
      <dsp:txXfrm>
        <a:off x="0" y="1955864"/>
        <a:ext cx="10687664" cy="1058400"/>
      </dsp:txXfrm>
    </dsp:sp>
    <dsp:sp modelId="{83DEA149-3731-4219-9848-94249817A921}">
      <dsp:nvSpPr>
        <dsp:cNvPr id="0" name=""/>
        <dsp:cNvSpPr/>
      </dsp:nvSpPr>
      <dsp:spPr>
        <a:xfrm>
          <a:off x="534383" y="1749224"/>
          <a:ext cx="7481364"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778" tIns="0" rIns="282778" bIns="0" numCol="1" spcCol="1270" anchor="ctr" anchorCtr="0">
          <a:noAutofit/>
        </a:bodyPr>
        <a:lstStyle/>
        <a:p>
          <a:pPr marL="0" lvl="0" indent="0" algn="ctr" defTabSz="889000">
            <a:lnSpc>
              <a:spcPct val="90000"/>
            </a:lnSpc>
            <a:spcBef>
              <a:spcPct val="0"/>
            </a:spcBef>
            <a:spcAft>
              <a:spcPct val="35000"/>
            </a:spcAft>
            <a:buNone/>
          </a:pPr>
          <a:r>
            <a:rPr lang="en-US" sz="2000" kern="1200" dirty="0"/>
            <a:t>Top 5 States by Revenue</a:t>
          </a:r>
          <a:endParaRPr lang="en-IN" sz="2000" kern="1200" dirty="0"/>
        </a:p>
      </dsp:txBody>
      <dsp:txXfrm>
        <a:off x="554558" y="1769399"/>
        <a:ext cx="7441014" cy="372930"/>
      </dsp:txXfrm>
    </dsp:sp>
    <dsp:sp modelId="{FF87E14D-E0EF-4942-B9EB-31F8B4DB44CD}">
      <dsp:nvSpPr>
        <dsp:cNvPr id="0" name=""/>
        <dsp:cNvSpPr/>
      </dsp:nvSpPr>
      <dsp:spPr>
        <a:xfrm>
          <a:off x="0" y="3296504"/>
          <a:ext cx="10687664" cy="1058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9481" tIns="291592" rIns="829481" bIns="99568" numCol="1" spcCol="1270" anchor="t" anchorCtr="0">
          <a:noAutofit/>
        </a:bodyPr>
        <a:lstStyle/>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Cities were ranked based on the </a:t>
          </a:r>
          <a:r>
            <a:rPr lang="en-US" sz="1400" b="1" kern="1200" dirty="0"/>
            <a:t>total number of orders placed</a:t>
          </a:r>
          <a:r>
            <a:rPr lang="en-US" sz="1400" kern="1200" dirty="0"/>
            <a:t>.</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This helps identify </a:t>
          </a:r>
          <a:r>
            <a:rPr lang="en-US" sz="1400" b="1" kern="1200" dirty="0"/>
            <a:t>high-demand urban centers</a:t>
          </a:r>
          <a:r>
            <a:rPr lang="en-US" sz="1400" kern="1200" dirty="0"/>
            <a:t> where customer activity is strongest.</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Such analysis is useful for improving </a:t>
          </a:r>
          <a:r>
            <a:rPr lang="en-US" sz="1400" b="1" kern="1200" dirty="0"/>
            <a:t>delivery efficiency and local promotions</a:t>
          </a:r>
          <a:r>
            <a:rPr lang="en-US" sz="1400" kern="1200" dirty="0"/>
            <a:t>.</a:t>
          </a:r>
          <a:endParaRPr lang="en-IN" sz="1400" kern="1200" dirty="0"/>
        </a:p>
      </dsp:txBody>
      <dsp:txXfrm>
        <a:off x="0" y="3296504"/>
        <a:ext cx="10687664" cy="1058400"/>
      </dsp:txXfrm>
    </dsp:sp>
    <dsp:sp modelId="{8C16E880-8FCD-4562-9997-587B8D863662}">
      <dsp:nvSpPr>
        <dsp:cNvPr id="0" name=""/>
        <dsp:cNvSpPr/>
      </dsp:nvSpPr>
      <dsp:spPr>
        <a:xfrm>
          <a:off x="534383" y="3089864"/>
          <a:ext cx="7481364"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778" tIns="0" rIns="282778" bIns="0" numCol="1" spcCol="1270" anchor="ctr" anchorCtr="0">
          <a:noAutofit/>
        </a:bodyPr>
        <a:lstStyle/>
        <a:p>
          <a:pPr marL="0" lvl="0" indent="0" algn="ctr" defTabSz="889000">
            <a:lnSpc>
              <a:spcPct val="90000"/>
            </a:lnSpc>
            <a:spcBef>
              <a:spcPct val="0"/>
            </a:spcBef>
            <a:spcAft>
              <a:spcPct val="35000"/>
            </a:spcAft>
            <a:buNone/>
          </a:pPr>
          <a:r>
            <a:rPr lang="en-US" sz="2000" kern="1200" dirty="0"/>
            <a:t>Top 5 Cities by Number of Orders</a:t>
          </a:r>
          <a:endParaRPr lang="en-IN" sz="2000" kern="1200" dirty="0"/>
        </a:p>
      </dsp:txBody>
      <dsp:txXfrm>
        <a:off x="554558" y="3110039"/>
        <a:ext cx="7441014" cy="372930"/>
      </dsp:txXfrm>
    </dsp:sp>
    <dsp:sp modelId="{193D1B9C-6277-4D20-AE86-42FDB46045D8}">
      <dsp:nvSpPr>
        <dsp:cNvPr id="0" name=""/>
        <dsp:cNvSpPr/>
      </dsp:nvSpPr>
      <dsp:spPr>
        <a:xfrm>
          <a:off x="0" y="4637144"/>
          <a:ext cx="10687664" cy="1058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9481" tIns="291592" rIns="829481" bIns="99568" numCol="1" spcCol="1270" anchor="t" anchorCtr="0">
          <a:noAutofit/>
        </a:bodyPr>
        <a:lstStyle/>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Sales performance was analyzed by combining </a:t>
          </a:r>
          <a:r>
            <a:rPr lang="en-US" sz="1400" b="1" kern="1200" dirty="0"/>
            <a:t>product category and size</a:t>
          </a:r>
          <a:r>
            <a:rPr lang="en-US" sz="1400" kern="1200" dirty="0"/>
            <a:t>.</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This helps identify which </a:t>
          </a:r>
          <a:r>
            <a:rPr lang="en-US" sz="1400" b="1" kern="1200" dirty="0"/>
            <a:t>category–size combinations sell the most</a:t>
          </a:r>
          <a:r>
            <a:rPr lang="en-US" sz="1400" kern="1200" dirty="0"/>
            <a:t>, indicating customer preferences.</a:t>
          </a:r>
          <a:endParaRPr lang="en-IN" sz="1400" kern="1200" dirty="0"/>
        </a:p>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t>The results assist in </a:t>
          </a:r>
          <a:r>
            <a:rPr lang="en-US" sz="1400" b="1" kern="1200" dirty="0"/>
            <a:t>inventory planning, demand forecasting, and product assortment optimization</a:t>
          </a:r>
          <a:r>
            <a:rPr lang="en-US" sz="1400" kern="1200" dirty="0"/>
            <a:t>.</a:t>
          </a:r>
          <a:endParaRPr lang="en-IN" sz="1400" kern="1200" dirty="0"/>
        </a:p>
      </dsp:txBody>
      <dsp:txXfrm>
        <a:off x="0" y="4637144"/>
        <a:ext cx="10687664" cy="1058400"/>
      </dsp:txXfrm>
    </dsp:sp>
    <dsp:sp modelId="{C547F914-6BAF-4E31-A947-73FAF6160536}">
      <dsp:nvSpPr>
        <dsp:cNvPr id="0" name=""/>
        <dsp:cNvSpPr/>
      </dsp:nvSpPr>
      <dsp:spPr>
        <a:xfrm>
          <a:off x="534383" y="4430504"/>
          <a:ext cx="7481364" cy="413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778" tIns="0" rIns="282778" bIns="0" numCol="1" spcCol="1270" anchor="ctr" anchorCtr="0">
          <a:noAutofit/>
        </a:bodyPr>
        <a:lstStyle/>
        <a:p>
          <a:pPr marL="0" lvl="0" indent="0" algn="ctr" defTabSz="889000">
            <a:lnSpc>
              <a:spcPct val="90000"/>
            </a:lnSpc>
            <a:spcBef>
              <a:spcPct val="0"/>
            </a:spcBef>
            <a:spcAft>
              <a:spcPct val="35000"/>
            </a:spcAft>
            <a:buNone/>
          </a:pPr>
          <a:r>
            <a:rPr lang="en-IN" sz="2000" kern="1200" dirty="0"/>
            <a:t>Category × Size Combinations</a:t>
          </a:r>
        </a:p>
      </dsp:txBody>
      <dsp:txXfrm>
        <a:off x="554558" y="4450679"/>
        <a:ext cx="7441014" cy="3729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9AF2D-0E85-47F4-A736-D52C2736EC55}">
      <dsp:nvSpPr>
        <dsp:cNvPr id="0" name=""/>
        <dsp:cNvSpPr/>
      </dsp:nvSpPr>
      <dsp:spPr>
        <a:xfrm rot="10800000">
          <a:off x="2308176" y="103288"/>
          <a:ext cx="6992874" cy="198841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835" tIns="68580" rIns="128016" bIns="68580" numCol="1" spcCol="1270" anchor="t" anchorCtr="0">
          <a:noAutofit/>
        </a:bodyPr>
        <a:lstStyle/>
        <a:p>
          <a:pPr marL="0" lvl="0" indent="0" algn="l" defTabSz="800100">
            <a:lnSpc>
              <a:spcPct val="90000"/>
            </a:lnSpc>
            <a:spcBef>
              <a:spcPct val="0"/>
            </a:spcBef>
            <a:spcAft>
              <a:spcPct val="35000"/>
            </a:spcAft>
            <a:buNone/>
          </a:pPr>
          <a:r>
            <a:rPr lang="en-US" sz="1800" kern="1200" dirty="0"/>
            <a:t>1. Which sales channels should Vrinda Store focus on and why?</a:t>
          </a:r>
          <a:endParaRPr lang="en-IN" sz="18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Vrinda Store should focus on </a:t>
          </a:r>
          <a:r>
            <a:rPr lang="en-US" sz="1400" b="1" kern="1200" dirty="0"/>
            <a:t>Ajio, Others, and Nalli</a:t>
          </a:r>
          <a:r>
            <a:rPr lang="en-US" sz="1400" kern="1200" dirty="0"/>
            <a:t>, as these channels show the </a:t>
          </a:r>
          <a:r>
            <a:rPr lang="en-US" sz="1400" b="1" kern="1200" dirty="0"/>
            <a:t>highest Average Order Value (AOV)</a:t>
          </a:r>
          <a:r>
            <a:rPr lang="en-US" sz="1400" kern="1200" dirty="0"/>
            <a:t>.</a:t>
          </a:r>
          <a:endParaRPr lang="en-IN"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Higher AOV indicates </a:t>
          </a:r>
          <a:r>
            <a:rPr lang="en-US" sz="1400" b="1" kern="1200" dirty="0"/>
            <a:t>better revenue per order</a:t>
          </a:r>
          <a:r>
            <a:rPr lang="en-US" sz="1400" kern="1200" dirty="0"/>
            <a:t>, meaning fewer orders are needed to generate the same revenue.</a:t>
          </a:r>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Channels like </a:t>
          </a:r>
          <a:r>
            <a:rPr lang="en-US" sz="1400" b="1" kern="1200" dirty="0" err="1"/>
            <a:t>Meesho</a:t>
          </a:r>
          <a:r>
            <a:rPr lang="en-US" sz="1400" kern="1200" dirty="0"/>
            <a:t>, with lower AOV, appear to be more </a:t>
          </a:r>
          <a:r>
            <a:rPr lang="en-US" sz="1400" b="1" kern="1200" dirty="0"/>
            <a:t>price-sensitive and volume-driven</a:t>
          </a:r>
          <a:r>
            <a:rPr lang="en-US" sz="1400" kern="1200" dirty="0"/>
            <a:t>.</a:t>
          </a:r>
        </a:p>
      </dsp:txBody>
      <dsp:txXfrm rot="10800000">
        <a:off x="2805279" y="103288"/>
        <a:ext cx="6495771" cy="1988413"/>
      </dsp:txXfrm>
    </dsp:sp>
    <dsp:sp modelId="{59323428-290A-4620-97BA-34B30B1CB6F5}">
      <dsp:nvSpPr>
        <dsp:cNvPr id="0" name=""/>
        <dsp:cNvSpPr/>
      </dsp:nvSpPr>
      <dsp:spPr>
        <a:xfrm>
          <a:off x="1214549" y="3868"/>
          <a:ext cx="2187255" cy="2187255"/>
        </a:xfrm>
        <a:prstGeom prst="ellipse">
          <a:avLst/>
        </a:prstGeom>
        <a:blipFill dpi="0" rotWithShape="1">
          <a:blip xmlns:r="http://schemas.openxmlformats.org/officeDocument/2006/relationships" r:embed="rId1">
            <a:alphaModFix amt="85000"/>
          </a:blip>
          <a:srcRect/>
          <a:stretch>
            <a:fillRect l="-1698" t="1679" r="1903" b="-1679"/>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4141C57C-138C-4148-A066-8C320963BDBC}">
      <dsp:nvSpPr>
        <dsp:cNvPr id="0" name=""/>
        <dsp:cNvSpPr/>
      </dsp:nvSpPr>
      <dsp:spPr>
        <a:xfrm rot="10800000">
          <a:off x="2308176" y="2884100"/>
          <a:ext cx="6992874" cy="198841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835" tIns="76200" rIns="142240" bIns="76200" numCol="1" spcCol="1270" anchor="t" anchorCtr="0">
          <a:noAutofit/>
        </a:bodyPr>
        <a:lstStyle/>
        <a:p>
          <a:pPr marL="0" lvl="0" indent="0" algn="l" defTabSz="889000">
            <a:lnSpc>
              <a:spcPct val="90000"/>
            </a:lnSpc>
            <a:spcBef>
              <a:spcPct val="0"/>
            </a:spcBef>
            <a:spcAft>
              <a:spcPct val="35000"/>
            </a:spcAft>
            <a:buNone/>
          </a:pPr>
          <a:r>
            <a:rPr lang="en-US" sz="2000" kern="1200" dirty="0"/>
            <a:t>2. Which states show high demand but high returns?</a:t>
          </a:r>
          <a:endParaRPr lang="en-IN" sz="2000" kern="1200" dirty="0"/>
        </a:p>
        <a:p>
          <a:pPr marL="171450" lvl="1" indent="-171450" algn="l" defTabSz="711200">
            <a:lnSpc>
              <a:spcPct val="90000"/>
            </a:lnSpc>
            <a:spcBef>
              <a:spcPct val="0"/>
            </a:spcBef>
            <a:spcAft>
              <a:spcPct val="15000"/>
            </a:spcAft>
            <a:buNone/>
          </a:pPr>
          <a:r>
            <a:rPr lang="en-US" sz="1600" kern="1200" dirty="0"/>
            <a:t>    West Bengal contributes high order volume, indicating strong customer demand. However, the relatively high share of cancelled, returned, and refunded orders suggests fulfillment or customer expectation issues, leading to revenue leakage</a:t>
          </a:r>
          <a:endParaRPr lang="en-IN" sz="1600" kern="1200" dirty="0"/>
        </a:p>
      </dsp:txBody>
      <dsp:txXfrm rot="10800000">
        <a:off x="2805279" y="2884100"/>
        <a:ext cx="6495771" cy="1988413"/>
      </dsp:txXfrm>
    </dsp:sp>
    <dsp:sp modelId="{EAF04B47-F749-4951-AE85-7880C2B50FE8}">
      <dsp:nvSpPr>
        <dsp:cNvPr id="0" name=""/>
        <dsp:cNvSpPr/>
      </dsp:nvSpPr>
      <dsp:spPr>
        <a:xfrm>
          <a:off x="1214549" y="2784679"/>
          <a:ext cx="2187255" cy="2187255"/>
        </a:xfrm>
        <a:prstGeom prst="ellipse">
          <a:avLst/>
        </a:prstGeom>
        <a:blipFill>
          <a:blip xmlns:r="http://schemas.openxmlformats.org/officeDocument/2006/relationships" r:embed="rId2">
            <a:alphaModFix amt="85000"/>
          </a:blip>
          <a:srcRect/>
          <a:stretch>
            <a:fillRect l="-17000" r="-17000"/>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40103-6B37-47A7-A504-4AE06FC74B99}">
      <dsp:nvSpPr>
        <dsp:cNvPr id="0" name=""/>
        <dsp:cNvSpPr/>
      </dsp:nvSpPr>
      <dsp:spPr>
        <a:xfrm rot="10800000">
          <a:off x="2385110" y="79908"/>
          <a:ext cx="7799793" cy="152909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289" tIns="80010" rIns="149352" bIns="80010" numCol="1" spcCol="1270" anchor="t" anchorCtr="0">
          <a:noAutofit/>
        </a:bodyPr>
        <a:lstStyle/>
        <a:p>
          <a:pPr marL="0" lvl="0" indent="0" algn="l" defTabSz="933450">
            <a:lnSpc>
              <a:spcPct val="90000"/>
            </a:lnSpc>
            <a:spcBef>
              <a:spcPct val="0"/>
            </a:spcBef>
            <a:spcAft>
              <a:spcPct val="35000"/>
            </a:spcAft>
            <a:buNone/>
          </a:pPr>
          <a:r>
            <a:rPr lang="en-US" sz="2100" kern="1200" dirty="0"/>
            <a:t>3. Which customer segment appears most valuable?</a:t>
          </a:r>
          <a:endParaRPr lang="en-IN" sz="2100" kern="1200" dirty="0"/>
        </a:p>
        <a:p>
          <a:pPr marL="171450" lvl="1" indent="-171450" algn="l" defTabSz="711200">
            <a:lnSpc>
              <a:spcPct val="90000"/>
            </a:lnSpc>
            <a:spcBef>
              <a:spcPct val="0"/>
            </a:spcBef>
            <a:spcAft>
              <a:spcPct val="15000"/>
            </a:spcAft>
            <a:buNone/>
          </a:pPr>
          <a:r>
            <a:rPr lang="en-US" sz="1600" kern="1200" dirty="0"/>
            <a:t>    The 18–25 age group is the most valuable customer segment as it contributes the highest revenue, places the maximum number of orders, and maintains a strong delivery success rate, making it both high-volume and low-risk.  </a:t>
          </a:r>
          <a:endParaRPr lang="en-IN" sz="1600" kern="1200" dirty="0"/>
        </a:p>
      </dsp:txBody>
      <dsp:txXfrm rot="10800000">
        <a:off x="2767384" y="79908"/>
        <a:ext cx="7417519" cy="1529095"/>
      </dsp:txXfrm>
    </dsp:sp>
    <dsp:sp modelId="{287EA7A7-5E89-4F99-8E9D-2F2766ACBCB9}">
      <dsp:nvSpPr>
        <dsp:cNvPr id="0" name=""/>
        <dsp:cNvSpPr/>
      </dsp:nvSpPr>
      <dsp:spPr>
        <a:xfrm>
          <a:off x="1544108" y="3453"/>
          <a:ext cx="1682005" cy="1682005"/>
        </a:xfrm>
        <a:prstGeom prst="ellipse">
          <a:avLst/>
        </a:prstGeom>
        <a:blipFill dpi="0" rotWithShape="1">
          <a:blip xmlns:r="http://schemas.openxmlformats.org/officeDocument/2006/relationships" r:embed="rId1">
            <a:alphaModFix amt="85000"/>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68397B-1016-4B7E-ABF6-F21B2E442C7D}">
      <dsp:nvSpPr>
        <dsp:cNvPr id="0" name=""/>
        <dsp:cNvSpPr/>
      </dsp:nvSpPr>
      <dsp:spPr>
        <a:xfrm rot="10800000">
          <a:off x="2385110" y="2218360"/>
          <a:ext cx="7799793" cy="152909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289" tIns="80010" rIns="149352" bIns="80010" numCol="1" spcCol="1270" anchor="t" anchorCtr="0">
          <a:noAutofit/>
        </a:bodyPr>
        <a:lstStyle/>
        <a:p>
          <a:pPr marL="0" lvl="0" indent="0" algn="l" defTabSz="933450">
            <a:lnSpc>
              <a:spcPct val="90000"/>
            </a:lnSpc>
            <a:spcBef>
              <a:spcPct val="0"/>
            </a:spcBef>
            <a:spcAft>
              <a:spcPct val="35000"/>
            </a:spcAft>
            <a:buNone/>
          </a:pPr>
          <a:r>
            <a:rPr lang="en-US" sz="2100" kern="1200" dirty="0"/>
            <a:t>4. What operational issue is hurting revenue the most?</a:t>
          </a:r>
          <a:endParaRPr lang="en-IN" sz="2100" kern="1200" dirty="0"/>
        </a:p>
        <a:p>
          <a:pPr marL="171450" lvl="1" indent="-171450" algn="l" defTabSz="711200">
            <a:lnSpc>
              <a:spcPct val="90000"/>
            </a:lnSpc>
            <a:spcBef>
              <a:spcPct val="0"/>
            </a:spcBef>
            <a:spcAft>
              <a:spcPct val="15000"/>
            </a:spcAft>
            <a:buNone/>
          </a:pPr>
          <a:r>
            <a:rPr lang="en-US" sz="1600" kern="1200" dirty="0"/>
            <a:t>    Although 92% of orders are successfully delivered, the remaining 8% of cancelled, returned, and refunded orders represent significant revenue leakage. Cancellations and returns are the largest contributors and the key operational issue affecting profitability.</a:t>
          </a:r>
          <a:endParaRPr lang="en-IN" sz="1600" kern="1200" dirty="0"/>
        </a:p>
      </dsp:txBody>
      <dsp:txXfrm rot="10800000">
        <a:off x="2767384" y="2218360"/>
        <a:ext cx="7417519" cy="1529095"/>
      </dsp:txXfrm>
    </dsp:sp>
    <dsp:sp modelId="{330A50AE-C403-4DF2-BBB0-0463DEABD797}">
      <dsp:nvSpPr>
        <dsp:cNvPr id="0" name=""/>
        <dsp:cNvSpPr/>
      </dsp:nvSpPr>
      <dsp:spPr>
        <a:xfrm>
          <a:off x="1544108" y="2141905"/>
          <a:ext cx="1682005" cy="1682005"/>
        </a:xfrm>
        <a:prstGeom prst="ellipse">
          <a:avLst/>
        </a:prstGeom>
        <a:blipFill dpi="0" rotWithShape="1">
          <a:blip xmlns:r="http://schemas.openxmlformats.org/officeDocument/2006/relationships" r:embed="rId2">
            <a:alphaModFix amt="85000"/>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3CBBBC-EF10-4ECA-8CF3-BD613D92E4D9}">
      <dsp:nvSpPr>
        <dsp:cNvPr id="0" name=""/>
        <dsp:cNvSpPr/>
      </dsp:nvSpPr>
      <dsp:spPr>
        <a:xfrm rot="10800000">
          <a:off x="2385110" y="4356811"/>
          <a:ext cx="7799793" cy="152909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289" tIns="60960" rIns="113792" bIns="60960" numCol="1" spcCol="1270" anchor="t" anchorCtr="0">
          <a:noAutofit/>
        </a:bodyPr>
        <a:lstStyle/>
        <a:p>
          <a:pPr marL="0" lvl="0" indent="0" algn="l" defTabSz="933450">
            <a:lnSpc>
              <a:spcPct val="90000"/>
            </a:lnSpc>
            <a:spcBef>
              <a:spcPct val="0"/>
            </a:spcBef>
            <a:spcAft>
              <a:spcPct val="35000"/>
            </a:spcAft>
            <a:buNone/>
          </a:pPr>
          <a:r>
            <a:rPr lang="en-US" sz="2100" kern="1200" dirty="0"/>
            <a:t>5. Three key recommendations to management</a:t>
          </a:r>
          <a:endParaRPr lang="en-IN" sz="2100" kern="1200" dirty="0"/>
        </a:p>
        <a:p>
          <a:pPr marL="171450" lvl="1" indent="-171450" algn="l" defTabSz="711200">
            <a:lnSpc>
              <a:spcPct val="90000"/>
            </a:lnSpc>
            <a:spcBef>
              <a:spcPct val="0"/>
            </a:spcBef>
            <a:spcAft>
              <a:spcPct val="15000"/>
            </a:spcAft>
            <a:buNone/>
          </a:pPr>
          <a:r>
            <a:rPr lang="en-US" sz="1600" kern="1200" dirty="0"/>
            <a:t>    • </a:t>
          </a:r>
          <a:r>
            <a:rPr lang="en-US" sz="1800" kern="1200" dirty="0"/>
            <a:t>Minimize cancellations and returns to reduce revenue leakage</a:t>
          </a:r>
          <a:br>
            <a:rPr lang="en-US" sz="1800" kern="1200" dirty="0"/>
          </a:br>
          <a:r>
            <a:rPr lang="en-US" sz="1800" kern="1200" dirty="0"/>
            <a:t>• Improve logistics in high-demand but high-return regions</a:t>
          </a:r>
          <a:br>
            <a:rPr lang="en-US" sz="1800" kern="1200" dirty="0"/>
          </a:br>
          <a:r>
            <a:rPr lang="en-US" sz="1800" kern="1200" dirty="0"/>
            <a:t>• Focus marketing efforts on the high-value 18–25 customer segment</a:t>
          </a:r>
          <a:endParaRPr lang="en-IN" sz="1600" kern="1200" dirty="0"/>
        </a:p>
      </dsp:txBody>
      <dsp:txXfrm rot="10800000">
        <a:off x="2767384" y="4356811"/>
        <a:ext cx="7417519" cy="1529095"/>
      </dsp:txXfrm>
    </dsp:sp>
    <dsp:sp modelId="{7A0DE83C-DF61-4EFA-9066-C2C48D630AF7}">
      <dsp:nvSpPr>
        <dsp:cNvPr id="0" name=""/>
        <dsp:cNvSpPr/>
      </dsp:nvSpPr>
      <dsp:spPr>
        <a:xfrm>
          <a:off x="1544108" y="4280357"/>
          <a:ext cx="1682005" cy="1682005"/>
        </a:xfrm>
        <a:prstGeom prst="ellipse">
          <a:avLst/>
        </a:prstGeom>
        <a:blipFill dpi="0" rotWithShape="1">
          <a:blip xmlns:r="http://schemas.openxmlformats.org/officeDocument/2006/relationships" r:embed="rId3">
            <a:alphaModFix amt="85000"/>
            <a:extLst>
              <a:ext uri="{28A0092B-C50C-407E-A947-70E740481C1C}">
                <a14:useLocalDpi xmlns:a14="http://schemas.microsoft.com/office/drawing/2010/main" val="0"/>
              </a:ext>
            </a:extLst>
          </a:blip>
          <a:srcRect/>
          <a:stretch>
            <a:fillRect l="8106" t="-1169" r="1289" b="1169"/>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3827A-1174-401C-B20B-BC3146C22A2D}"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F0EFB-0A8B-474E-9A3B-B773E0E57207}" type="slidenum">
              <a:rPr lang="en-IN" smtClean="0"/>
              <a:t>‹#›</a:t>
            </a:fld>
            <a:endParaRPr lang="en-IN"/>
          </a:p>
        </p:txBody>
      </p:sp>
    </p:spTree>
    <p:extLst>
      <p:ext uri="{BB962C8B-B14F-4D97-AF65-F5344CB8AC3E}">
        <p14:creationId xmlns:p14="http://schemas.microsoft.com/office/powerpoint/2010/main" val="1710690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CF0EFB-0A8B-474E-9A3B-B773E0E57207}" type="slidenum">
              <a:rPr lang="en-IN" smtClean="0"/>
              <a:t>6</a:t>
            </a:fld>
            <a:endParaRPr lang="en-IN"/>
          </a:p>
        </p:txBody>
      </p:sp>
    </p:spTree>
    <p:extLst>
      <p:ext uri="{BB962C8B-B14F-4D97-AF65-F5344CB8AC3E}">
        <p14:creationId xmlns:p14="http://schemas.microsoft.com/office/powerpoint/2010/main" val="2762055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CF0EFB-0A8B-474E-9A3B-B773E0E57207}" type="slidenum">
              <a:rPr lang="en-IN" smtClean="0"/>
              <a:t>9</a:t>
            </a:fld>
            <a:endParaRPr lang="en-IN"/>
          </a:p>
        </p:txBody>
      </p:sp>
    </p:spTree>
    <p:extLst>
      <p:ext uri="{BB962C8B-B14F-4D97-AF65-F5344CB8AC3E}">
        <p14:creationId xmlns:p14="http://schemas.microsoft.com/office/powerpoint/2010/main" val="3893423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ED4DC-8360-5DE6-2EB2-2BC9B201AB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F61EFE-619A-638E-CEFE-8B460942C7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471BD1-F07B-735C-C26E-6558D77F4A78}"/>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5" name="Footer Placeholder 4">
            <a:extLst>
              <a:ext uri="{FF2B5EF4-FFF2-40B4-BE49-F238E27FC236}">
                <a16:creationId xmlns:a16="http://schemas.microsoft.com/office/drawing/2014/main" id="{213A0EA7-5C4B-BF61-3EA6-349B3EE18C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8FF0CA-E08B-5DF1-7A31-86F01B296360}"/>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4198039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8D9F3-E56E-72F8-8412-AEE64631C0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D5220B-B034-147B-00B0-0FE4B990CD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1D809-BB1B-DBF3-0449-58FFB164B27C}"/>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5" name="Footer Placeholder 4">
            <a:extLst>
              <a:ext uri="{FF2B5EF4-FFF2-40B4-BE49-F238E27FC236}">
                <a16:creationId xmlns:a16="http://schemas.microsoft.com/office/drawing/2014/main" id="{983229B2-30A5-F2AD-F137-34A6D27190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763E70-FA04-C885-423B-C470B6A2DCF6}"/>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1250267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DAB9-996A-6A5B-3D9F-74789A1AB9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C5B27C-E262-FC33-4BE8-83FA5F19F2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EAEEC2-F71D-B486-1A04-B79448AC9EBB}"/>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5" name="Footer Placeholder 4">
            <a:extLst>
              <a:ext uri="{FF2B5EF4-FFF2-40B4-BE49-F238E27FC236}">
                <a16:creationId xmlns:a16="http://schemas.microsoft.com/office/drawing/2014/main" id="{513AFEFC-0529-F34B-7CB7-25D28C4063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8E3B42-32F0-2010-16B3-69A127EB7810}"/>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840825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90FB-38D9-F20A-9B65-71F2A6A13C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AB34C9-78B4-2C4F-B2C5-BE5A9DA12C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8DC4A0-F938-4419-8709-26B17671B6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0339BA-750A-1354-A8EB-F387680F07F3}"/>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6" name="Footer Placeholder 5">
            <a:extLst>
              <a:ext uri="{FF2B5EF4-FFF2-40B4-BE49-F238E27FC236}">
                <a16:creationId xmlns:a16="http://schemas.microsoft.com/office/drawing/2014/main" id="{00A0D566-AB6C-419D-5E1D-173BF64CFE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95C930-4E42-C9C6-6AC1-05BBDCE097D2}"/>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1275899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034C-A3C4-CA68-594D-8994E645E5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ED0D99-566D-576B-2616-360B220308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0F290-4AA7-FEC5-75C4-9093B456F1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FDF331-7274-2C1D-84AF-B6BE50C3CD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5D1C4B-0252-E036-B990-7D2C94F22D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D3C85F-7E68-0805-7FF4-275BDA72186F}"/>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8" name="Footer Placeholder 7">
            <a:extLst>
              <a:ext uri="{FF2B5EF4-FFF2-40B4-BE49-F238E27FC236}">
                <a16:creationId xmlns:a16="http://schemas.microsoft.com/office/drawing/2014/main" id="{52343923-3F0F-807D-C222-6F9C2DC214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2BD963F-3563-FC84-2061-A29114A29BDA}"/>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7677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BE6CD-5A3B-4E3B-C550-3033233797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3046F1-FE2E-AB51-8188-D1F9A70A2B7D}"/>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4" name="Footer Placeholder 3">
            <a:extLst>
              <a:ext uri="{FF2B5EF4-FFF2-40B4-BE49-F238E27FC236}">
                <a16:creationId xmlns:a16="http://schemas.microsoft.com/office/drawing/2014/main" id="{0AE9E264-8C59-C167-931E-B450BEAB7A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2F95E3-B1FE-644C-1413-7745B9C46FE4}"/>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3748810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2A5243-62DF-D33B-4265-25E886DE8996}"/>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3" name="Footer Placeholder 2">
            <a:extLst>
              <a:ext uri="{FF2B5EF4-FFF2-40B4-BE49-F238E27FC236}">
                <a16:creationId xmlns:a16="http://schemas.microsoft.com/office/drawing/2014/main" id="{ABA3F69C-F7DA-44E7-EB0E-68BDD8E875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258E40-A1F3-F038-DA03-9BCC00D57CF9}"/>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155763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DF607-37ED-92D8-D95A-3016893CBB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6A2CD7-C9DC-49BB-561D-9B9E27CA1E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CB6489-A40F-ECAC-007E-11520FD8E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C0296-CF6F-0D01-56CD-DF0A2FB6DC74}"/>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6" name="Footer Placeholder 5">
            <a:extLst>
              <a:ext uri="{FF2B5EF4-FFF2-40B4-BE49-F238E27FC236}">
                <a16:creationId xmlns:a16="http://schemas.microsoft.com/office/drawing/2014/main" id="{D2C31A37-DED2-7FC5-4BD8-40A53099E2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19E71B-ED57-3E30-14B9-53E5ABBE5937}"/>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1855662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94D1-C4CC-4375-89C5-D86011CCE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A8387C-68C4-4F0D-6684-5985AA2290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687FEB-A838-47EC-4057-9C05588BA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B57BE6-96AB-2B47-829D-AE43B6913990}"/>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6" name="Footer Placeholder 5">
            <a:extLst>
              <a:ext uri="{FF2B5EF4-FFF2-40B4-BE49-F238E27FC236}">
                <a16:creationId xmlns:a16="http://schemas.microsoft.com/office/drawing/2014/main" id="{1A8571D2-1FAC-25E6-ECBF-006870928B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BAB156-72E1-EBFF-5B7D-15D5DF572971}"/>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964198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C0E9-F785-20F5-3BC0-91D188BA6FB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915D46-177B-58CD-B6EF-F39DE44B86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72152-2A9E-663E-A390-853089EB6E6C}"/>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5" name="Footer Placeholder 4">
            <a:extLst>
              <a:ext uri="{FF2B5EF4-FFF2-40B4-BE49-F238E27FC236}">
                <a16:creationId xmlns:a16="http://schemas.microsoft.com/office/drawing/2014/main" id="{E91A84F0-A00A-32E0-A2E6-D4E147934A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E9488-4FF3-140B-3F8E-B9B6A1083CBB}"/>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2300399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B0CC08-51F6-DA45-EEDA-17ED9CDAB2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F6D0B1-6A14-058D-B03D-1E0977AFFA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C5E6C0-2DF8-396F-D4A9-507EE813D1E5}"/>
              </a:ext>
            </a:extLst>
          </p:cNvPr>
          <p:cNvSpPr>
            <a:spLocks noGrp="1"/>
          </p:cNvSpPr>
          <p:nvPr>
            <p:ph type="dt" sz="half" idx="10"/>
          </p:nvPr>
        </p:nvSpPr>
        <p:spPr/>
        <p:txBody>
          <a:bodyPr/>
          <a:lstStyle/>
          <a:p>
            <a:fld id="{9C020C03-A719-4D5C-8A0E-92D25719C11D}" type="datetimeFigureOut">
              <a:rPr lang="en-IN" smtClean="0"/>
              <a:t>13-02-2026</a:t>
            </a:fld>
            <a:endParaRPr lang="en-IN"/>
          </a:p>
        </p:txBody>
      </p:sp>
      <p:sp>
        <p:nvSpPr>
          <p:cNvPr id="5" name="Footer Placeholder 4">
            <a:extLst>
              <a:ext uri="{FF2B5EF4-FFF2-40B4-BE49-F238E27FC236}">
                <a16:creationId xmlns:a16="http://schemas.microsoft.com/office/drawing/2014/main" id="{5F0B0B63-0F84-6AF6-940D-31A8C4154C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F45279-BFDD-560B-2676-DA229991740D}"/>
              </a:ext>
            </a:extLst>
          </p:cNvPr>
          <p:cNvSpPr>
            <a:spLocks noGrp="1"/>
          </p:cNvSpPr>
          <p:nvPr>
            <p:ph type="sldNum" sz="quarter" idx="12"/>
          </p:nvPr>
        </p:nvSpPr>
        <p:spPr/>
        <p:txBody>
          <a:bodyPr/>
          <a:lstStyle/>
          <a:p>
            <a:fld id="{18F217E2-303A-4ED2-955F-AB9A7CFC5586}" type="slidenum">
              <a:rPr lang="en-IN" smtClean="0"/>
              <a:t>‹#›</a:t>
            </a:fld>
            <a:endParaRPr lang="en-IN"/>
          </a:p>
        </p:txBody>
      </p:sp>
    </p:spTree>
    <p:extLst>
      <p:ext uri="{BB962C8B-B14F-4D97-AF65-F5344CB8AC3E}">
        <p14:creationId xmlns:p14="http://schemas.microsoft.com/office/powerpoint/2010/main" val="373939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1C516C-F973-EB4C-0712-B5E56D197C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D78340-3556-4687-94EC-D38DD01721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396270-9D76-5EB4-B902-348F2892A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020C03-A719-4D5C-8A0E-92D25719C11D}" type="datetimeFigureOut">
              <a:rPr lang="en-IN" smtClean="0"/>
              <a:t>13-02-2026</a:t>
            </a:fld>
            <a:endParaRPr lang="en-IN"/>
          </a:p>
        </p:txBody>
      </p:sp>
      <p:sp>
        <p:nvSpPr>
          <p:cNvPr id="5" name="Footer Placeholder 4">
            <a:extLst>
              <a:ext uri="{FF2B5EF4-FFF2-40B4-BE49-F238E27FC236}">
                <a16:creationId xmlns:a16="http://schemas.microsoft.com/office/drawing/2014/main" id="{6B9BFDE8-2B2C-86CB-4E75-4C075DC5FB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E4058C4-9AE1-56BE-60C2-65E043C542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F217E2-303A-4ED2-955F-AB9A7CFC5586}" type="slidenum">
              <a:rPr lang="en-IN" smtClean="0"/>
              <a:t>‹#›</a:t>
            </a:fld>
            <a:endParaRPr lang="en-IN"/>
          </a:p>
        </p:txBody>
      </p:sp>
    </p:spTree>
    <p:extLst>
      <p:ext uri="{BB962C8B-B14F-4D97-AF65-F5344CB8AC3E}">
        <p14:creationId xmlns:p14="http://schemas.microsoft.com/office/powerpoint/2010/main" val="404647044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3.wdp"/></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7.png"/><Relationship Id="rId4" Type="http://schemas.microsoft.com/office/2007/relationships/hdphoto" Target="../media/hdphoto4.wdp"/></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6.wdp"/></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35CAA39-4481-315F-8C07-D0B2DAF96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A92FA318-0C22-B595-77C9-C2D71FC92D4A}"/>
              </a:ext>
            </a:extLst>
          </p:cNvPr>
          <p:cNvSpPr>
            <a:spLocks noGrp="1"/>
          </p:cNvSpPr>
          <p:nvPr>
            <p:ph type="ctrTitle"/>
          </p:nvPr>
        </p:nvSpPr>
        <p:spPr>
          <a:xfrm>
            <a:off x="1371600" y="1120877"/>
            <a:ext cx="9448800" cy="2507624"/>
          </a:xfrm>
        </p:spPr>
        <p:txBody>
          <a:bodyPr>
            <a:normAutofit fontScale="90000"/>
          </a:bodyPr>
          <a:lstStyle/>
          <a:p>
            <a:r>
              <a:rPr lang="en-US" dirty="0">
                <a:latin typeface="Algerian" panose="04020705040A02060702" pitchFamily="82" charset="0"/>
              </a:rPr>
              <a:t>Vrinda Store – Sales Performance &amp; Customer Insights</a:t>
            </a:r>
            <a:endParaRPr lang="en-IN" dirty="0">
              <a:latin typeface="Algerian" panose="04020705040A02060702" pitchFamily="82" charset="0"/>
            </a:endParaRPr>
          </a:p>
        </p:txBody>
      </p:sp>
      <p:sp>
        <p:nvSpPr>
          <p:cNvPr id="3" name="Subtitle 2">
            <a:extLst>
              <a:ext uri="{FF2B5EF4-FFF2-40B4-BE49-F238E27FC236}">
                <a16:creationId xmlns:a16="http://schemas.microsoft.com/office/drawing/2014/main" id="{8AD6D3F7-0FC1-36BA-4E70-E6D5452E63F7}"/>
              </a:ext>
            </a:extLst>
          </p:cNvPr>
          <p:cNvSpPr>
            <a:spLocks noGrp="1"/>
          </p:cNvSpPr>
          <p:nvPr>
            <p:ph type="subTitle" idx="1"/>
          </p:nvPr>
        </p:nvSpPr>
        <p:spPr>
          <a:xfrm>
            <a:off x="1371599" y="3632201"/>
            <a:ext cx="10318955" cy="2965244"/>
          </a:xfrm>
        </p:spPr>
        <p:txBody>
          <a:bodyPr>
            <a:normAutofit lnSpcReduction="10000"/>
          </a:bodyPr>
          <a:lstStyle/>
          <a:p>
            <a:r>
              <a:rPr lang="en-US" dirty="0"/>
              <a:t>Excel Analytics Capstone Project (2022 Sales Data)</a:t>
            </a:r>
          </a:p>
          <a:p>
            <a:endParaRPr lang="en-US" dirty="0"/>
          </a:p>
          <a:p>
            <a:endParaRPr lang="en-US" dirty="0"/>
          </a:p>
          <a:p>
            <a:r>
              <a:rPr lang="en-US" dirty="0"/>
              <a:t>                                                                                            </a:t>
            </a:r>
            <a:r>
              <a:rPr lang="en-IN" b="1" dirty="0"/>
              <a:t>Presented by:</a:t>
            </a:r>
            <a:br>
              <a:rPr lang="en-IN" dirty="0"/>
            </a:br>
            <a:r>
              <a:rPr lang="en-IN" dirty="0"/>
              <a:t>                                                                                                           Pooja L</a:t>
            </a:r>
          </a:p>
          <a:p>
            <a:r>
              <a:rPr lang="en-IN" sz="1600" dirty="0"/>
              <a:t>                                       </a:t>
            </a:r>
          </a:p>
          <a:p>
            <a:r>
              <a:rPr lang="en-IN" sz="1600" dirty="0"/>
              <a:t>                                        </a:t>
            </a:r>
          </a:p>
          <a:p>
            <a:r>
              <a:rPr lang="en-IN" sz="1600" dirty="0"/>
              <a:t>                              </a:t>
            </a:r>
            <a:endParaRPr lang="en-US" sz="1600" dirty="0"/>
          </a:p>
        </p:txBody>
      </p:sp>
      <p:pic>
        <p:nvPicPr>
          <p:cNvPr id="10" name="Picture 9">
            <a:extLst>
              <a:ext uri="{FF2B5EF4-FFF2-40B4-BE49-F238E27FC236}">
                <a16:creationId xmlns:a16="http://schemas.microsoft.com/office/drawing/2014/main" id="{291B8AA1-A1EA-6529-4A38-22174909989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149" b="90000" l="3688" r="95250">
                        <a14:foregroundMark x1="18813" y1="50213" x2="18813" y2="50213"/>
                        <a14:foregroundMark x1="18938" y1="69787" x2="18938" y2="69787"/>
                        <a14:foregroundMark x1="21938" y1="68936" x2="21938" y2="68936"/>
                        <a14:foregroundMark x1="32375" y1="29894" x2="32375" y2="29894"/>
                        <a14:foregroundMark x1="53625" y1="9149" x2="53625" y2="9149"/>
                        <a14:foregroundMark x1="76938" y1="52128" x2="76938" y2="52128"/>
                        <a14:foregroundMark x1="42500" y1="21915" x2="42500" y2="21915"/>
                        <a14:foregroundMark x1="83813" y1="48085" x2="83813" y2="48085"/>
                        <a14:foregroundMark x1="77750" y1="42979" x2="77750" y2="42979"/>
                        <a14:foregroundMark x1="77750" y1="42979" x2="77750" y2="42979"/>
                        <a14:foregroundMark x1="77750" y1="42979" x2="77750" y2="42979"/>
                        <a14:foregroundMark x1="77750" y1="42979" x2="77750" y2="42979"/>
                        <a14:foregroundMark x1="77750" y1="42979" x2="73125" y2="39255"/>
                        <a14:foregroundMark x1="38125" y1="22872" x2="38125" y2="22872"/>
                        <a14:foregroundMark x1="18625" y1="47128" x2="18625" y2="47128"/>
                        <a14:foregroundMark x1="18625" y1="47128" x2="18625" y2="47128"/>
                        <a14:foregroundMark x1="36375" y1="21915" x2="36375" y2="21915"/>
                        <a14:foregroundMark x1="16625" y1="69574" x2="16625" y2="69574"/>
                        <a14:foregroundMark x1="45125" y1="25745" x2="45125" y2="25745"/>
                        <a14:foregroundMark x1="79563" y1="54362" x2="82438" y2="50000"/>
                        <a14:foregroundMark x1="77750" y1="49468" x2="79250" y2="70000"/>
                        <a14:foregroundMark x1="76250" y1="47660" x2="84750" y2="59043"/>
                        <a14:foregroundMark x1="39750" y1="17979" x2="39750" y2="17979"/>
                        <a14:foregroundMark x1="36750" y1="15851" x2="36750" y2="15851"/>
                        <a14:foregroundMark x1="36750" y1="15851" x2="32750" y2="29894"/>
                        <a14:foregroundMark x1="27688" y1="38936" x2="32063" y2="35532"/>
                        <a14:foregroundMark x1="18938" y1="45745" x2="27688" y2="38936"/>
                        <a14:foregroundMark x1="81696" y1="38019" x2="81875" y2="37553"/>
                        <a14:foregroundMark x1="76938" y1="50426" x2="81566" y2="38359"/>
                        <a14:foregroundMark x1="75688" y1="35000" x2="76500" y2="55106"/>
                        <a14:foregroundMark x1="76813" y1="58830" x2="72000" y2="42021"/>
                        <a14:foregroundMark x1="72438" y1="71170" x2="83125" y2="69362"/>
                        <a14:foregroundMark x1="73500" y1="65426" x2="88625" y2="67447"/>
                        <a14:foregroundMark x1="78063" y1="69362" x2="71063" y2="67447"/>
                        <a14:foregroundMark x1="71188" y1="72660" x2="71063" y2="67447"/>
                        <a14:foregroundMark x1="74625" y1="71170" x2="84375" y2="70000"/>
                        <a14:foregroundMark x1="90125" y1="72340" x2="89379" y2="62816"/>
                        <a14:foregroundMark x1="86813" y1="68936" x2="78188" y2="69149"/>
                        <a14:foregroundMark x1="16313" y1="64468" x2="27000" y2="40851"/>
                        <a14:foregroundMark x1="36625" y1="48830" x2="36625" y2="48830"/>
                        <a14:foregroundMark x1="38938" y1="44149" x2="34688" y2="53511"/>
                        <a14:foregroundMark x1="49500" y1="57447" x2="49500" y2="57447"/>
                        <a14:foregroundMark x1="49188" y1="59681" x2="50250" y2="40106"/>
                        <a14:foregroundMark x1="48063" y1="68085" x2="50500" y2="69787"/>
                        <a14:foregroundMark x1="48125" y1="70426" x2="49438" y2="70532"/>
                        <a14:foregroundMark x1="44688" y1="55851" x2="56313" y2="55532"/>
                        <a14:foregroundMark x1="41063" y1="56383" x2="51938" y2="49574"/>
                        <a14:foregroundMark x1="46875" y1="50957" x2="49000" y2="58404"/>
                        <a14:foregroundMark x1="40188" y1="60000" x2="48250" y2="59574"/>
                        <a14:foregroundMark x1="44625" y1="52872" x2="57688" y2="55426"/>
                        <a14:foregroundMark x1="55875" y1="59894" x2="56437" y2="57447"/>
                        <a14:foregroundMark x1="55313" y1="66383" x2="37500" y2="58936"/>
                        <a14:foregroundMark x1="37500" y1="58936" x2="35875" y2="53085"/>
                        <a14:foregroundMark x1="35875" y1="57979" x2="39813" y2="66596"/>
                        <a14:foregroundMark x1="39313" y1="66170" x2="41125" y2="74362"/>
                        <a14:foregroundMark x1="40313" y1="69255" x2="53125" y2="46702"/>
                        <a14:foregroundMark x1="53125" y1="46702" x2="44500" y2="54787"/>
                        <a14:foregroundMark x1="42125" y1="52553" x2="42125" y2="52553"/>
                        <a14:foregroundMark x1="42125" y1="52553" x2="42125" y2="52553"/>
                        <a14:foregroundMark x1="42125" y1="52553" x2="42125" y2="52553"/>
                        <a14:foregroundMark x1="42375" y1="49362" x2="39813" y2="53830"/>
                        <a14:foregroundMark x1="42125" y1="49043" x2="49438" y2="49894"/>
                        <a14:foregroundMark x1="45063" y1="63723" x2="49813" y2="65319"/>
                        <a14:foregroundMark x1="44000" y1="65000" x2="33625" y2="63191"/>
                        <a14:foregroundMark x1="31438" y1="67447" x2="31438" y2="67447"/>
                        <a14:foregroundMark x1="31438" y1="67447" x2="28750" y2="71596"/>
                        <a14:foregroundMark x1="39500" y1="43085" x2="39500" y2="43085"/>
                        <a14:foregroundMark x1="38938" y1="43723" x2="39813" y2="42979"/>
                        <a14:foregroundMark x1="41813" y1="40319" x2="42500" y2="38617"/>
                        <a14:foregroundMark x1="41313" y1="41915" x2="42625" y2="41383"/>
                        <a14:foregroundMark x1="43688" y1="41064" x2="44250" y2="40957"/>
                        <a14:foregroundMark x1="45875" y1="39894" x2="46625" y2="39681"/>
                        <a14:foregroundMark x1="48813" y1="38617" x2="49375" y2="38191"/>
                        <a14:foregroundMark x1="41813" y1="48936" x2="55437" y2="60745"/>
                        <a14:foregroundMark x1="55500" y1="65957" x2="51228" y2="76034"/>
                        <a14:foregroundMark x1="50688" y1="75851" x2="66375" y2="73511"/>
                        <a14:foregroundMark x1="62687" y1="75106" x2="72188" y2="74681"/>
                        <a14:foregroundMark x1="70563" y1="74574" x2="92438" y2="73298"/>
                        <a14:foregroundMark x1="91188" y1="73830" x2="95250" y2="74255"/>
                        <a14:foregroundMark x1="29125" y1="73404" x2="20000" y2="72553"/>
                        <a14:foregroundMark x1="24625" y1="74468" x2="14375" y2="71915"/>
                        <a14:foregroundMark x1="21688" y1="75106" x2="14375" y2="73085"/>
                        <a14:foregroundMark x1="17188" y1="74362" x2="12438" y2="73085"/>
                        <a14:foregroundMark x1="14125" y1="74574" x2="3688" y2="74149"/>
                        <a14:foregroundMark x1="15937" y1="68298" x2="15937" y2="68298"/>
                        <a14:foregroundMark x1="15687" y1="67553" x2="15625" y2="67979"/>
                        <a14:foregroundMark x1="15625" y1="67979" x2="15625" y2="67979"/>
                        <a14:foregroundMark x1="13500" y1="68085" x2="13500" y2="68085"/>
                        <a14:foregroundMark x1="13188" y1="70532" x2="13188" y2="70532"/>
                        <a14:foregroundMark x1="20063" y1="82766" x2="20063" y2="82766"/>
                        <a14:foregroundMark x1="23375" y1="85000" x2="23375" y2="85000"/>
                        <a14:foregroundMark x1="26500" y1="84362" x2="26500" y2="84362"/>
                        <a14:foregroundMark x1="30188" y1="84362" x2="30188" y2="84362"/>
                        <a14:foregroundMark x1="32875" y1="84894" x2="32875" y2="84894"/>
                        <a14:foregroundMark x1="38500" y1="83617" x2="38500" y2="83617"/>
                        <a14:foregroundMark x1="43688" y1="84362" x2="43688" y2="84362"/>
                        <a14:foregroundMark x1="48500" y1="85000" x2="48500" y2="85000"/>
                        <a14:foregroundMark x1="50187" y1="84681" x2="50187" y2="84681"/>
                        <a14:foregroundMark x1="53063" y1="85426" x2="53063" y2="85426"/>
                        <a14:foregroundMark x1="56875" y1="85106" x2="56875" y2="85106"/>
                        <a14:foregroundMark x1="60375" y1="85851" x2="60375" y2="85851"/>
                        <a14:foregroundMark x1="67563" y1="84149" x2="67563" y2="84149"/>
                        <a14:foregroundMark x1="71000" y1="85957" x2="71000" y2="85957"/>
                        <a14:foregroundMark x1="76188" y1="84362" x2="76188" y2="84362"/>
                        <a14:foregroundMark x1="80188" y1="84787" x2="80188" y2="84787"/>
                        <a14:backgroundMark x1="28313" y1="38936" x2="28313" y2="38936"/>
                        <a14:backgroundMark x1="75438" y1="28298" x2="75438" y2="28298"/>
                        <a14:backgroundMark x1="74750" y1="29149" x2="74750" y2="29149"/>
                        <a14:backgroundMark x1="48875" y1="18511" x2="48875" y2="18511"/>
                        <a14:backgroundMark x1="48938" y1="19787" x2="48938" y2="18085"/>
                        <a14:backgroundMark x1="81813" y1="38511" x2="81375" y2="37553"/>
                        <a14:backgroundMark x1="82188" y1="37553" x2="81688" y2="36915"/>
                        <a14:backgroundMark x1="89125" y1="61809" x2="89375" y2="61809"/>
                        <a14:backgroundMark x1="88875" y1="62660" x2="89438" y2="62660"/>
                        <a14:backgroundMark x1="50938" y1="79255" x2="51250" y2="78404"/>
                        <a14:backgroundMark x1="43438" y1="43723" x2="47375" y2="42021"/>
                        <a14:backgroundMark x1="40438" y1="46383" x2="40438" y2="46383"/>
                        <a14:backgroundMark x1="40438" y1="46809" x2="40688" y2="46170"/>
                        <a14:backgroundMark x1="23500" y1="85745" x2="23500" y2="85745"/>
                        <a14:backgroundMark x1="23438" y1="88723" x2="23438" y2="88723"/>
                        <a14:backgroundMark x1="29938" y1="85957" x2="29938" y2="85957"/>
                        <a14:backgroundMark x1="40000" y1="84787" x2="40000" y2="84787"/>
                        <a14:backgroundMark x1="44688" y1="86277" x2="44688" y2="86277"/>
                        <a14:backgroundMark x1="50500" y1="77872" x2="50500" y2="77872"/>
                        <a14:backgroundMark x1="50750" y1="77340" x2="50750" y2="77340"/>
                        <a14:backgroundMark x1="50563" y1="77553" x2="50563" y2="77553"/>
                        <a14:backgroundMark x1="50250" y1="77872" x2="50938" y2="77979"/>
                        <a14:backgroundMark x1="53875" y1="86596" x2="53875" y2="86596"/>
                        <a14:backgroundMark x1="67313" y1="88617" x2="67313" y2="88617"/>
                        <a14:backgroundMark x1="80625" y1="85957" x2="80625" y2="85957"/>
                      </a14:backgroundRemoval>
                    </a14:imgEffect>
                  </a14:imgLayer>
                </a14:imgProps>
              </a:ext>
              <a:ext uri="{28A0092B-C50C-407E-A947-70E740481C1C}">
                <a14:useLocalDpi xmlns:a14="http://schemas.microsoft.com/office/drawing/2010/main" val="0"/>
              </a:ext>
            </a:extLst>
          </a:blip>
          <a:stretch>
            <a:fillRect/>
          </a:stretch>
        </p:blipFill>
        <p:spPr>
          <a:xfrm>
            <a:off x="156643" y="4749377"/>
            <a:ext cx="3197618" cy="1973854"/>
          </a:xfrm>
          <a:prstGeom prst="rect">
            <a:avLst/>
          </a:prstGeom>
        </p:spPr>
      </p:pic>
      <p:pic>
        <p:nvPicPr>
          <p:cNvPr id="9" name="Picture 8">
            <a:extLst>
              <a:ext uri="{FF2B5EF4-FFF2-40B4-BE49-F238E27FC236}">
                <a16:creationId xmlns:a16="http://schemas.microsoft.com/office/drawing/2014/main" id="{746E95CA-65D5-C554-4AF5-DC56467623B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395" b="90127" l="2250" r="96417">
                        <a14:foregroundMark x1="6083" y1="45541" x2="6083" y2="45541"/>
                        <a14:foregroundMark x1="2333" y1="39013" x2="2333" y2="39013"/>
                        <a14:foregroundMark x1="69333" y1="41720" x2="69333" y2="41720"/>
                        <a14:foregroundMark x1="86833" y1="40287" x2="86833" y2="40287"/>
                        <a14:foregroundMark x1="96417" y1="47611" x2="96417" y2="47611"/>
                        <a14:foregroundMark x1="40000" y1="45860" x2="40000" y2="45860"/>
                        <a14:foregroundMark x1="32417" y1="38376" x2="32417" y2="38376"/>
                        <a14:foregroundMark x1="60333" y1="48885" x2="60333" y2="48885"/>
                        <a14:foregroundMark x1="52083" y1="13535" x2="52083" y2="13535"/>
                        <a14:foregroundMark x1="52167" y1="9554" x2="52167" y2="9554"/>
                        <a14:foregroundMark x1="31333" y1="11465" x2="31333" y2="11465"/>
                        <a14:foregroundMark x1="20750" y1="86306" x2="20750" y2="86306"/>
                        <a14:foregroundMark x1="23583" y1="88217" x2="23583" y2="88217"/>
                        <a14:foregroundMark x1="28000" y1="85828" x2="28000" y2="85828"/>
                        <a14:foregroundMark x1="33167" y1="85987" x2="33167" y2="85987"/>
                        <a14:foregroundMark x1="37167" y1="88694" x2="37167" y2="88694"/>
                        <a14:foregroundMark x1="41917" y1="88217" x2="41917" y2="88217"/>
                        <a14:foregroundMark x1="44583" y1="88854" x2="44583" y2="88854"/>
                        <a14:foregroundMark x1="49417" y1="90127" x2="49417" y2="90127"/>
                        <a14:foregroundMark x1="56833" y1="87261" x2="56833" y2="87261"/>
                        <a14:foregroundMark x1="62083" y1="85987" x2="62083" y2="85987"/>
                        <a14:foregroundMark x1="65583" y1="86306" x2="65583" y2="86306"/>
                        <a14:foregroundMark x1="70583" y1="86306" x2="70583" y2="86306"/>
                        <a14:foregroundMark x1="75417" y1="86943" x2="75417" y2="86943"/>
                        <a14:foregroundMark x1="77917" y1="87261" x2="77917" y2="87261"/>
                      </a14:backgroundRemoval>
                    </a14:imgEffect>
                  </a14:imgLayer>
                </a14:imgProps>
              </a:ext>
              <a:ext uri="{28A0092B-C50C-407E-A947-70E740481C1C}">
                <a14:useLocalDpi xmlns:a14="http://schemas.microsoft.com/office/drawing/2010/main" val="0"/>
              </a:ext>
            </a:extLst>
          </a:blip>
          <a:stretch>
            <a:fillRect/>
          </a:stretch>
        </p:blipFill>
        <p:spPr>
          <a:xfrm>
            <a:off x="9476019" y="0"/>
            <a:ext cx="2140121" cy="111999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8495931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inVertical)">
                                      <p:cBhvr>
                                        <p:cTn id="11" dur="500"/>
                                        <p:tgtEl>
                                          <p:spTgt spid="10"/>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randombar(horizontal)">
                                      <p:cBhvr>
                                        <p:cTn id="15" dur="500"/>
                                        <p:tgtEl>
                                          <p:spTgt spid="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down)">
                                      <p:cBhvr>
                                        <p:cTn id="19" dur="500"/>
                                        <p:tgtEl>
                                          <p:spTgt spid="3">
                                            <p:txEl>
                                              <p:pRg st="0" end="0"/>
                                            </p:txEl>
                                          </p:spTgt>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down)">
                                      <p:cBhvr>
                                        <p:cTn id="31" dur="500"/>
                                        <p:tgtEl>
                                          <p:spTgt spid="3">
                                            <p:txEl>
                                              <p:pRg st="5" end="5"/>
                                            </p:txEl>
                                          </p:spTgt>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down)">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BFF2922-8B07-90F5-D4C6-F5C6186003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D8D272DA-B3E5-C84B-E5BD-65F2610198CC}"/>
              </a:ext>
            </a:extLst>
          </p:cNvPr>
          <p:cNvSpPr>
            <a:spLocks noGrp="1"/>
          </p:cNvSpPr>
          <p:nvPr>
            <p:ph type="title"/>
          </p:nvPr>
        </p:nvSpPr>
        <p:spPr>
          <a:xfrm>
            <a:off x="685800" y="532597"/>
            <a:ext cx="10820400" cy="1293028"/>
          </a:xfrm>
        </p:spPr>
        <p:txBody>
          <a:bodyPr/>
          <a:lstStyle/>
          <a:p>
            <a:pPr algn="ctr"/>
            <a:r>
              <a:rPr lang="en-IN" u="sng" dirty="0">
                <a:latin typeface="Castellar" panose="020A0402060406010301" pitchFamily="18" charset="0"/>
              </a:rPr>
              <a:t>Introduction:</a:t>
            </a:r>
          </a:p>
        </p:txBody>
      </p:sp>
      <p:sp>
        <p:nvSpPr>
          <p:cNvPr id="3" name="Content Placeholder 2">
            <a:extLst>
              <a:ext uri="{FF2B5EF4-FFF2-40B4-BE49-F238E27FC236}">
                <a16:creationId xmlns:a16="http://schemas.microsoft.com/office/drawing/2014/main" id="{AA12DF2D-8670-9019-87E0-FB73B0B2EB20}"/>
              </a:ext>
            </a:extLst>
          </p:cNvPr>
          <p:cNvSpPr>
            <a:spLocks noGrp="1"/>
          </p:cNvSpPr>
          <p:nvPr>
            <p:ph idx="1"/>
          </p:nvPr>
        </p:nvSpPr>
        <p:spPr/>
        <p:txBody>
          <a:bodyPr>
            <a:normAutofit lnSpcReduction="10000"/>
          </a:bodyPr>
          <a:lstStyle/>
          <a:p>
            <a:pPr>
              <a:buFont typeface="Wingdings" panose="05000000000000000000" pitchFamily="2" charset="2"/>
              <a:buChar char="q"/>
            </a:pPr>
            <a:r>
              <a:rPr lang="en-US" dirty="0">
                <a:latin typeface="Garamond" panose="02020404030301010803" pitchFamily="18" charset="0"/>
              </a:rPr>
              <a:t>Vrinda Store is an Indian fashion retail brand selling products through multiple online platforms such as Amazon, Flipkart, Myntra, Ajio, and others.</a:t>
            </a:r>
          </a:p>
          <a:p>
            <a:endParaRPr lang="en-US" dirty="0">
              <a:latin typeface="Garamond" panose="02020404030301010803" pitchFamily="18" charset="0"/>
            </a:endParaRPr>
          </a:p>
          <a:p>
            <a:pPr>
              <a:buFont typeface="Wingdings" panose="05000000000000000000" pitchFamily="2" charset="2"/>
              <a:buChar char="q"/>
            </a:pPr>
            <a:r>
              <a:rPr lang="en-US" dirty="0">
                <a:latin typeface="Garamond" panose="02020404030301010803" pitchFamily="18" charset="0"/>
              </a:rPr>
              <a:t>The management wants to understand how the business is performing in terms of sales, customers, and operations using historical data from 2022.</a:t>
            </a:r>
          </a:p>
          <a:p>
            <a:endParaRPr lang="en-US" dirty="0">
              <a:latin typeface="Garamond" panose="02020404030301010803" pitchFamily="18" charset="0"/>
            </a:endParaRPr>
          </a:p>
          <a:p>
            <a:pPr>
              <a:buFont typeface="Wingdings" panose="05000000000000000000" pitchFamily="2" charset="2"/>
              <a:buChar char="q"/>
            </a:pPr>
            <a:r>
              <a:rPr lang="en-US" dirty="0">
                <a:latin typeface="Garamond" panose="02020404030301010803" pitchFamily="18" charset="0"/>
              </a:rPr>
              <a:t>This project uses </a:t>
            </a:r>
            <a:r>
              <a:rPr lang="en-US" b="1" dirty="0">
                <a:latin typeface="Garamond" panose="02020404030301010803" pitchFamily="18" charset="0"/>
              </a:rPr>
              <a:t>Microsoft Excel</a:t>
            </a:r>
            <a:r>
              <a:rPr lang="en-US" dirty="0">
                <a:latin typeface="Garamond" panose="02020404030301010803" pitchFamily="18" charset="0"/>
              </a:rPr>
              <a:t> to analyze real-world sales data and convert it into </a:t>
            </a:r>
            <a:r>
              <a:rPr lang="en-US" b="1" dirty="0">
                <a:latin typeface="Garamond" panose="02020404030301010803" pitchFamily="18" charset="0"/>
              </a:rPr>
              <a:t>meaningful business insights</a:t>
            </a:r>
            <a:r>
              <a:rPr lang="en-US" dirty="0">
                <a:latin typeface="Garamond" panose="02020404030301010803" pitchFamily="18" charset="0"/>
              </a:rPr>
              <a:t>.</a:t>
            </a:r>
          </a:p>
          <a:p>
            <a:endParaRPr lang="en-IN" dirty="0"/>
          </a:p>
        </p:txBody>
      </p:sp>
      <p:pic>
        <p:nvPicPr>
          <p:cNvPr id="5" name="Picture 4">
            <a:extLst>
              <a:ext uri="{FF2B5EF4-FFF2-40B4-BE49-F238E27FC236}">
                <a16:creationId xmlns:a16="http://schemas.microsoft.com/office/drawing/2014/main" id="{44D376B9-4A27-33BF-3C2A-3CC0FDBF10E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402" y1="49738" x2="36402" y2="49738"/>
                        <a14:foregroundMark x1="57322" y1="18848" x2="57322" y2="18848"/>
                        <a14:foregroundMark x1="54812" y1="16754" x2="54812" y2="16754"/>
                        <a14:foregroundMark x1="51883" y1="16230" x2="51883" y2="16230"/>
                        <a14:foregroundMark x1="48954" y1="17277" x2="48954" y2="17277"/>
                        <a14:foregroundMark x1="47699" y1="18325" x2="47699" y2="18325"/>
                        <a14:foregroundMark x1="53138" y1="14660" x2="53138" y2="14660"/>
                        <a14:foregroundMark x1="55649" y1="15183" x2="55649" y2="15183"/>
                        <a14:foregroundMark x1="57741" y1="16230" x2="57741" y2="16230"/>
                        <a14:foregroundMark x1="50209" y1="15183" x2="50209" y2="15183"/>
                        <a14:foregroundMark x1="47699" y1="15183" x2="47699" y2="15183"/>
                        <a14:foregroundMark x1="46025" y1="19895" x2="46025" y2="19895"/>
                        <a14:foregroundMark x1="46025" y1="22513" x2="46025" y2="22513"/>
                        <a14:foregroundMark x1="46025" y1="25131" x2="46025" y2="25131"/>
                        <a14:foregroundMark x1="48117" y1="65969" x2="48117" y2="65969"/>
                        <a14:foregroundMark x1="46862" y1="69634" x2="46862" y2="69634"/>
                        <a14:foregroundMark x1="56485" y1="65969" x2="56485" y2="65969"/>
                        <a14:foregroundMark x1="56904" y1="70157" x2="56904" y2="70157"/>
                        <a14:foregroundMark x1="55649" y1="69110" x2="55649" y2="69110"/>
                        <a14:foregroundMark x1="58159" y1="69110" x2="58159" y2="69110"/>
                        <a14:foregroundMark x1="56904" y1="69110" x2="56904" y2="69110"/>
                        <a14:foregroundMark x1="56485" y1="70157" x2="56485" y2="70157"/>
                        <a14:foregroundMark x1="57322" y1="69110" x2="57322" y2="69110"/>
                        <a14:foregroundMark x1="57322" y1="69110" x2="57322" y2="69110"/>
                        <a14:foregroundMark x1="57322" y1="69110" x2="57322" y2="69110"/>
                        <a14:foregroundMark x1="57322" y1="69110" x2="57322" y2="69110"/>
                        <a14:foregroundMark x1="57322" y1="69110" x2="57322" y2="69110"/>
                        <a14:foregroundMark x1="56485" y1="69110" x2="56485" y2="69110"/>
                        <a14:foregroundMark x1="57741" y1="69634" x2="57741" y2="69634"/>
                        <a14:foregroundMark x1="57741" y1="69634" x2="57741" y2="69634"/>
                        <a14:foregroundMark x1="57741" y1="69634" x2="57741" y2="69634"/>
                        <a14:foregroundMark x1="57322" y1="69110" x2="57322" y2="69110"/>
                        <a14:foregroundMark x1="57322" y1="69110" x2="57322" y2="69110"/>
                        <a14:foregroundMark x1="57322" y1="69110" x2="57322" y2="69110"/>
                        <a14:foregroundMark x1="57322" y1="69110" x2="57322" y2="69110"/>
                        <a14:foregroundMark x1="64854" y1="54974" x2="64854" y2="54974"/>
                        <a14:foregroundMark x1="64435" y1="53927" x2="64435" y2="53927"/>
                        <a14:foregroundMark x1="57322" y1="68586" x2="57322" y2="68586"/>
                        <a14:foregroundMark x1="57322" y1="68586" x2="57322" y2="68586"/>
                        <a14:foregroundMark x1="57322" y1="68586" x2="57322" y2="68586"/>
                        <a14:foregroundMark x1="56904" y1="69110" x2="56904" y2="69110"/>
                        <a14:foregroundMark x1="56904" y1="69110" x2="56904" y2="69110"/>
                        <a14:foregroundMark x1="56904" y1="69110" x2="56904" y2="69110"/>
                        <a14:foregroundMark x1="56904" y1="69110" x2="56904" y2="69110"/>
                        <a14:foregroundMark x1="56904" y1="69110" x2="56904" y2="69110"/>
                        <a14:foregroundMark x1="56904" y1="69110" x2="56904" y2="69110"/>
                        <a14:foregroundMark x1="57322" y1="69634" x2="57322" y2="69634"/>
                        <a14:foregroundMark x1="57322" y1="69634" x2="57322" y2="69634"/>
                        <a14:foregroundMark x1="57322" y1="69634" x2="57322" y2="69634"/>
                        <a14:foregroundMark x1="57322" y1="69634" x2="57322" y2="69634"/>
                        <a14:foregroundMark x1="57322" y1="69634" x2="57322" y2="69634"/>
                        <a14:foregroundMark x1="56067" y1="69110" x2="56904" y2="68586"/>
                        <a14:foregroundMark x1="56904" y1="68063" x2="57341" y2="70251"/>
                        <a14:backgroundMark x1="51046" y1="12565" x2="51046" y2="12565"/>
                        <a14:backgroundMark x1="48536" y1="15707" x2="48536" y2="15707"/>
                        <a14:backgroundMark x1="46025" y1="19372" x2="46025" y2="19372"/>
                        <a14:backgroundMark x1="45607" y1="23037" x2="45607" y2="23037"/>
                        <a14:backgroundMark x1="45607" y1="25131" x2="45607" y2="25131"/>
                        <a14:backgroundMark x1="45188" y1="21990" x2="45188" y2="21990"/>
                        <a14:backgroundMark x1="47699" y1="14660" x2="47699" y2="14660"/>
                        <a14:backgroundMark x1="51464" y1="15183" x2="51464" y2="15183"/>
                        <a14:backgroundMark x1="55230" y1="15183" x2="55230" y2="15183"/>
                        <a14:backgroundMark x1="56904" y1="15707" x2="56904" y2="15707"/>
                        <a14:backgroundMark x1="58159" y1="15707" x2="58159" y2="15707"/>
                        <a14:backgroundMark x1="52720" y1="15183" x2="52720" y2="15183"/>
                        <a14:backgroundMark x1="55649" y1="15183" x2="55649" y2="15183"/>
                        <a14:backgroundMark x1="50209" y1="15183" x2="50209" y2="15183"/>
                        <a14:backgroundMark x1="46025" y1="21990" x2="46025" y2="21990"/>
                        <a14:backgroundMark x1="51883" y1="15183" x2="51883" y2="15183"/>
                        <a14:backgroundMark x1="52301" y1="61257" x2="52301" y2="61257"/>
                        <a14:backgroundMark x1="52720" y1="57592" x2="53138" y2="63351"/>
                        <a14:backgroundMark x1="52720" y1="73298" x2="52720" y2="73298"/>
                        <a14:backgroundMark x1="59833" y1="85340" x2="59833" y2="85340"/>
                        <a14:backgroundMark x1="66946" y1="82199" x2="51046" y2="89005"/>
                        <a14:backgroundMark x1="51046" y1="89005" x2="24268" y2="87435"/>
                        <a14:backgroundMark x1="24268" y1="87435" x2="43933" y2="81675"/>
                        <a14:backgroundMark x1="43933" y1="81675" x2="24268" y2="87958"/>
                        <a14:backgroundMark x1="24268" y1="87958" x2="69456" y2="75393"/>
                        <a14:backgroundMark x1="69456" y1="75393" x2="52720" y2="89005"/>
                        <a14:backgroundMark x1="52720" y1="89005" x2="23849" y2="91099"/>
                        <a14:backgroundMark x1="23849" y1="91099" x2="67782" y2="82723"/>
                      </a14:backgroundRemoval>
                    </a14:imgEffect>
                  </a14:imgLayer>
                </a14:imgProps>
              </a:ext>
              <a:ext uri="{28A0092B-C50C-407E-A947-70E740481C1C}">
                <a14:useLocalDpi xmlns:a14="http://schemas.microsoft.com/office/drawing/2010/main" val="0"/>
              </a:ext>
            </a:extLst>
          </a:blip>
          <a:stretch>
            <a:fillRect/>
          </a:stretch>
        </p:blipFill>
        <p:spPr>
          <a:xfrm>
            <a:off x="8868276" y="-350976"/>
            <a:ext cx="3742824" cy="2991128"/>
          </a:xfrm>
          <a:prstGeom prst="rect">
            <a:avLst/>
          </a:prstGeom>
        </p:spPr>
      </p:pic>
    </p:spTree>
    <p:extLst>
      <p:ext uri="{BB962C8B-B14F-4D97-AF65-F5344CB8AC3E}">
        <p14:creationId xmlns:p14="http://schemas.microsoft.com/office/powerpoint/2010/main" val="8753331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50" fill="hold"/>
                                        <p:tgtEl>
                                          <p:spTgt spid="5"/>
                                        </p:tgtEl>
                                        <p:attrNameLst>
                                          <p:attrName>ppt_x</p:attrName>
                                        </p:attrNameLst>
                                      </p:cBhvr>
                                      <p:tavLst>
                                        <p:tav tm="0">
                                          <p:val>
                                            <p:strVal val="#ppt_x"/>
                                          </p:val>
                                        </p:tav>
                                        <p:tav tm="100000">
                                          <p:val>
                                            <p:strVal val="#ppt_x"/>
                                          </p:val>
                                        </p:tav>
                                      </p:tavLst>
                                    </p:anim>
                                    <p:anim calcmode="lin" valueType="num">
                                      <p:cBhvr additive="base">
                                        <p:cTn id="14" dur="750" fill="hold"/>
                                        <p:tgtEl>
                                          <p:spTgt spid="5"/>
                                        </p:tgtEl>
                                        <p:attrNameLst>
                                          <p:attrName>ppt_y</p:attrName>
                                        </p:attrNameLst>
                                      </p:cBhvr>
                                      <p:tavLst>
                                        <p:tav tm="0">
                                          <p:val>
                                            <p:strVal val="1+#ppt_h/2"/>
                                          </p:val>
                                        </p:tav>
                                        <p:tav tm="100000">
                                          <p:val>
                                            <p:strVal val="#ppt_y"/>
                                          </p:val>
                                        </p:tav>
                                      </p:tavLst>
                                    </p:anim>
                                  </p:childTnLst>
                                </p:cTn>
                              </p:par>
                            </p:childTnLst>
                          </p:cTn>
                        </p:par>
                        <p:par>
                          <p:cTn id="15" fill="hold">
                            <p:stCondLst>
                              <p:cond delay="1250"/>
                            </p:stCondLst>
                            <p:childTnLst>
                              <p:par>
                                <p:cTn id="16" presetID="42" presetClass="entr" presetSubtype="0" fill="hold" nodeType="after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0"/>
                                        <p:tgtEl>
                                          <p:spTgt spid="3">
                                            <p:txEl>
                                              <p:pRg st="0" end="0"/>
                                            </p:txEl>
                                          </p:spTgt>
                                        </p:tgtEl>
                                      </p:cBhvr>
                                    </p:animEffect>
                                    <p:anim calcmode="lin" valueType="num">
                                      <p:cBhvr>
                                        <p:cTn id="1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21" fill="hold">
                            <p:stCondLst>
                              <p:cond delay="2250"/>
                            </p:stCondLst>
                            <p:childTnLst>
                              <p:par>
                                <p:cTn id="22" presetID="42" presetClass="entr" presetSubtype="0" fill="hold" nodeType="after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7" fill="hold">
                            <p:stCondLst>
                              <p:cond delay="3250"/>
                            </p:stCondLst>
                            <p:childTnLst>
                              <p:par>
                                <p:cTn id="28" presetID="42" presetClass="entr" presetSubtype="0" fill="hold"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1000"/>
                                        <p:tgtEl>
                                          <p:spTgt spid="3">
                                            <p:txEl>
                                              <p:pRg st="4" end="4"/>
                                            </p:txEl>
                                          </p:spTgt>
                                        </p:tgtEl>
                                      </p:cBhvr>
                                    </p:animEffect>
                                    <p:anim calcmode="lin" valueType="num">
                                      <p:cBhvr>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F129D9-CB55-D808-45B0-ED48E55931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31EBE2F2-7011-4498-A197-8B3B7090BF35}"/>
              </a:ext>
            </a:extLst>
          </p:cNvPr>
          <p:cNvSpPr>
            <a:spLocks noGrp="1"/>
          </p:cNvSpPr>
          <p:nvPr>
            <p:ph type="title"/>
          </p:nvPr>
        </p:nvSpPr>
        <p:spPr>
          <a:xfrm>
            <a:off x="607142" y="532597"/>
            <a:ext cx="10820400" cy="1293028"/>
          </a:xfrm>
        </p:spPr>
        <p:txBody>
          <a:bodyPr/>
          <a:lstStyle/>
          <a:p>
            <a:pPr algn="ctr"/>
            <a:r>
              <a:rPr lang="en-IN" u="sng" dirty="0">
                <a:latin typeface="Castellar" panose="020A0402060406010301" pitchFamily="18" charset="0"/>
              </a:rPr>
              <a:t>Project Objectives</a:t>
            </a:r>
          </a:p>
        </p:txBody>
      </p:sp>
      <p:sp>
        <p:nvSpPr>
          <p:cNvPr id="3" name="Content Placeholder 2">
            <a:extLst>
              <a:ext uri="{FF2B5EF4-FFF2-40B4-BE49-F238E27FC236}">
                <a16:creationId xmlns:a16="http://schemas.microsoft.com/office/drawing/2014/main" id="{F7ECA81A-9749-61D6-89D7-C11E9DD43772}"/>
              </a:ext>
            </a:extLst>
          </p:cNvPr>
          <p:cNvSpPr>
            <a:spLocks noGrp="1"/>
          </p:cNvSpPr>
          <p:nvPr>
            <p:ph idx="1"/>
          </p:nvPr>
        </p:nvSpPr>
        <p:spPr/>
        <p:txBody>
          <a:bodyPr/>
          <a:lstStyle/>
          <a:p>
            <a:pPr marL="0" indent="0">
              <a:buNone/>
            </a:pPr>
            <a:r>
              <a:rPr lang="en-US" dirty="0">
                <a:latin typeface="Garamond" panose="02020404030301010803" pitchFamily="18" charset="0"/>
              </a:rPr>
              <a:t>The main objectives of this data analytics project are:</a:t>
            </a:r>
          </a:p>
          <a:p>
            <a:r>
              <a:rPr lang="en-US" dirty="0">
                <a:latin typeface="Garamond" panose="02020404030301010803" pitchFamily="18" charset="0"/>
              </a:rPr>
              <a:t>To clean and prepare messy real-world data using Excel</a:t>
            </a:r>
          </a:p>
          <a:p>
            <a:r>
              <a:rPr lang="en-US" dirty="0">
                <a:latin typeface="Garamond" panose="02020404030301010803" pitchFamily="18" charset="0"/>
              </a:rPr>
              <a:t>To analyze sales performance across channels, regions, and customers</a:t>
            </a:r>
          </a:p>
          <a:p>
            <a:r>
              <a:rPr lang="en-US" dirty="0">
                <a:latin typeface="Garamond" panose="02020404030301010803" pitchFamily="18" charset="0"/>
              </a:rPr>
              <a:t>To identify revenue loss due to cancellations and returns</a:t>
            </a:r>
          </a:p>
          <a:p>
            <a:r>
              <a:rPr lang="en-US" dirty="0">
                <a:latin typeface="Garamond" panose="02020404030301010803" pitchFamily="18" charset="0"/>
              </a:rPr>
              <a:t>To understand customer behavior patterns</a:t>
            </a:r>
          </a:p>
          <a:p>
            <a:r>
              <a:rPr lang="en-US" dirty="0">
                <a:latin typeface="Garamond" panose="02020404030301010803" pitchFamily="18" charset="0"/>
              </a:rPr>
              <a:t>To provide data-backed recommendations to improve revenue and efficiency</a:t>
            </a:r>
          </a:p>
          <a:p>
            <a:endParaRPr lang="en-IN" dirty="0"/>
          </a:p>
        </p:txBody>
      </p:sp>
      <p:pic>
        <p:nvPicPr>
          <p:cNvPr id="8" name="Picture 7">
            <a:extLst>
              <a:ext uri="{FF2B5EF4-FFF2-40B4-BE49-F238E27FC236}">
                <a16:creationId xmlns:a16="http://schemas.microsoft.com/office/drawing/2014/main" id="{E935FD61-9F5C-E5F7-324E-903301615E6D}"/>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7637" b="95943" l="6897" r="92414">
                        <a14:foregroundMark x1="40920" y1="59427" x2="40920" y2="59427"/>
                        <a14:foregroundMark x1="42299" y1="59189" x2="42299" y2="59189"/>
                        <a14:foregroundMark x1="57011" y1="29356" x2="57011" y2="29356"/>
                        <a14:foregroundMark x1="91034" y1="60382" x2="91034" y2="60382"/>
                        <a14:foregroundMark x1="92184" y1="55609" x2="92184" y2="55609"/>
                        <a14:foregroundMark x1="92414" y1="52267" x2="92414" y2="52267"/>
                        <a14:foregroundMark x1="91724" y1="58473" x2="91724" y2="58473"/>
                        <a14:foregroundMark x1="9655" y1="36038" x2="9655" y2="36038"/>
                        <a14:foregroundMark x1="9315" y1="39141" x2="9289" y2="39716"/>
                        <a14:foregroundMark x1="9425" y1="36754" x2="9359" y2="38186"/>
                        <a14:foregroundMark x1="9425" y1="42005" x2="9409" y2="42227"/>
                        <a14:foregroundMark x1="27718" y1="31685" x2="27816" y2="31504"/>
                        <a14:foregroundMark x1="22608" y1="41097" x2="27251" y2="32545"/>
                        <a14:foregroundMark x1="22065" y1="42097" x2="22582" y2="41145"/>
                        <a14:foregroundMark x1="8736" y1="39379" x2="8736" y2="39379"/>
                        <a14:foregroundMark x1="8736" y1="39379" x2="8736" y2="39379"/>
                        <a14:foregroundMark x1="8736" y1="38425" x2="8736" y2="40573"/>
                        <a14:foregroundMark x1="8506" y1="40095" x2="8276" y2="41766"/>
                        <a14:foregroundMark x1="8276" y1="41766" x2="7586" y2="44153"/>
                        <a14:foregroundMark x1="7126" y1="48926" x2="7356" y2="45823"/>
                        <a14:foregroundMark x1="7356" y1="49165" x2="7586" y2="51551"/>
                        <a14:foregroundMark x1="7586" y1="51551" x2="8046" y2="53461"/>
                        <a14:foregroundMark x1="7126" y1="53938" x2="7586" y2="55847"/>
                        <a14:foregroundMark x1="7816" y1="56325" x2="8506" y2="57995"/>
                        <a14:foregroundMark x1="8506" y1="57995" x2="9195" y2="60143"/>
                        <a14:foregroundMark x1="9195" y1="60143" x2="9195" y2="60143"/>
                        <a14:foregroundMark x1="8506" y1="60143" x2="9655" y2="63007"/>
                        <a14:foregroundMark x1="9655" y1="63007" x2="10575" y2="64678"/>
                        <a14:foregroundMark x1="10575" y1="64678" x2="11034" y2="66587"/>
                        <a14:foregroundMark x1="11034" y1="66587" x2="11724" y2="68735"/>
                        <a14:foregroundMark x1="11724" y1="68735" x2="13103" y2="71122"/>
                        <a14:foregroundMark x1="13103" y1="71122" x2="14253" y2="73508"/>
                        <a14:foregroundMark x1="14253" y1="73508" x2="17471" y2="76611"/>
                        <a14:foregroundMark x1="15172" y1="74224" x2="20000" y2="78998"/>
                        <a14:foregroundMark x1="22299" y1="82100" x2="28506" y2="85442"/>
                        <a14:foregroundMark x1="26897" y1="86635" x2="26897" y2="86635"/>
                        <a14:foregroundMark x1="26897" y1="86635" x2="30805" y2="87589"/>
                        <a14:foregroundMark x1="30805" y1="87589" x2="30805" y2="87589"/>
                        <a14:foregroundMark x1="30805" y1="87589" x2="34713" y2="89021"/>
                        <a14:foregroundMark x1="34943" y1="89260" x2="37701" y2="90215"/>
                        <a14:foregroundMark x1="37701" y1="90692" x2="40000" y2="91408"/>
                        <a14:foregroundMark x1="40000" y1="91408" x2="40000" y2="91408"/>
                        <a14:foregroundMark x1="40000" y1="91408" x2="43678" y2="96181"/>
                        <a14:foregroundMark x1="42299" y1="92124" x2="43908" y2="91885"/>
                        <a14:foregroundMark x1="57471" y1="47494" x2="57471" y2="47494"/>
                        <a14:foregroundMark x1="43678" y1="92124" x2="45287" y2="92363"/>
                        <a14:foregroundMark x1="45287" y1="92363" x2="72184" y2="88067"/>
                        <a14:foregroundMark x1="72184" y1="88067" x2="72644" y2="86874"/>
                        <a14:foregroundMark x1="73563" y1="86158" x2="73563" y2="86158"/>
                        <a14:foregroundMark x1="69195" y1="88544" x2="70345" y2="88544"/>
                        <a14:foregroundMark x1="90345" y1="64678" x2="91264" y2="61098"/>
                        <a14:foregroundMark x1="92414" y1="52267" x2="91724" y2="41766"/>
                        <a14:foregroundMark x1="91724" y1="41766" x2="87586" y2="30549"/>
                        <a14:foregroundMark x1="87586" y1="30549" x2="80690" y2="21241"/>
                        <a14:foregroundMark x1="79310" y1="20525" x2="71724" y2="12649"/>
                        <a14:foregroundMark x1="71034" y1="13842" x2="59080" y2="8592"/>
                        <a14:foregroundMark x1="59080" y1="8592" x2="46897" y2="7637"/>
                        <a14:foregroundMark x1="57931" y1="37947" x2="57931" y2="37947"/>
                        <a14:foregroundMark x1="58161" y1="35800" x2="58161" y2="35800"/>
                        <a14:foregroundMark x1="58161" y1="35800" x2="58161" y2="35800"/>
                        <a14:foregroundMark x1="57241" y1="51551" x2="57241" y2="51551"/>
                        <a14:foregroundMark x1="57241" y1="51551" x2="57241" y2="51551"/>
                        <a14:foregroundMark x1="57471" y1="53938" x2="57471" y2="53938"/>
                        <a14:foregroundMark x1="57471" y1="53938" x2="57471" y2="53938"/>
                        <a14:foregroundMark x1="57471" y1="57279" x2="57471" y2="57279"/>
                        <a14:foregroundMark x1="57471" y1="57279" x2="57471" y2="57279"/>
                        <a14:foregroundMark x1="57471" y1="60859" x2="57471" y2="60859"/>
                        <a14:foregroundMark x1="57471" y1="60859" x2="57471" y2="60859"/>
                        <a14:foregroundMark x1="60460" y1="61814" x2="60460" y2="61814"/>
                        <a14:foregroundMark x1="61609" y1="63007" x2="61609" y2="63007"/>
                        <a14:foregroundMark x1="60460" y1="55370" x2="60460" y2="55370"/>
                        <a14:foregroundMark x1="59540" y1="43198" x2="59540" y2="43198"/>
                        <a14:foregroundMark x1="71494" y1="42243" x2="71494" y2="42243"/>
                        <a14:foregroundMark x1="71494" y1="37947" x2="71494" y2="37947"/>
                        <a14:foregroundMark x1="71494" y1="37947" x2="71494" y2="37947"/>
                        <a14:foregroundMark x1="64667" y1="34238" x2="66437" y2="34606"/>
                        <a14:foregroundMark x1="62157" y1="33717" x2="63037" y2="33900"/>
                        <a14:foregroundMark x1="59540" y1="33174" x2="60272" y2="33326"/>
                        <a14:foregroundMark x1="69735" y1="44391" x2="69655" y2="45107"/>
                        <a14:foregroundMark x1="70133" y1="40810" x2="69867" y2="43202"/>
                        <a14:foregroundMark x1="70345" y1="38902" x2="70300" y2="39310"/>
                        <a14:foregroundMark x1="71909" y1="40506" x2="71494" y2="46539"/>
                        <a14:foregroundMark x1="68046" y1="47733" x2="68046" y2="47733"/>
                        <a14:foregroundMark x1="65287" y1="48449" x2="65287" y2="48449"/>
                        <a14:foregroundMark x1="62989" y1="49165" x2="66667" y2="52506"/>
                        <a14:foregroundMark x1="67586" y1="54177" x2="71954" y2="58473"/>
                        <a14:foregroundMark x1="72874" y1="59666" x2="76552" y2="63962"/>
                        <a14:foregroundMark x1="77471" y1="65155" x2="80690" y2="68019"/>
                        <a14:foregroundMark x1="85287" y1="71360" x2="85287" y2="71360"/>
                        <a14:foregroundMark x1="87586" y1="72554" x2="87586" y2="72554"/>
                        <a14:foregroundMark x1="88506" y1="71838" x2="88506" y2="71838"/>
                        <a14:foregroundMark x1="90805" y1="72315" x2="90805" y2="72315"/>
                        <a14:foregroundMark x1="60000" y1="63962" x2="60000" y2="63962"/>
                        <a14:foregroundMark x1="57471" y1="64439" x2="57471" y2="64439"/>
                        <a14:foregroundMark x1="62069" y1="64916" x2="62069" y2="64916"/>
                        <a14:foregroundMark x1="56782" y1="64678" x2="56782" y2="64678"/>
                        <a14:foregroundMark x1="45977" y1="52267" x2="45977" y2="52267"/>
                        <a14:foregroundMark x1="45057" y1="49165" x2="45057" y2="49165"/>
                        <a14:foregroundMark x1="59770" y1="41289" x2="59770" y2="41289"/>
                        <a14:foregroundMark x1="59540" y1="38186" x2="59540" y2="38186"/>
                        <a14:foregroundMark x1="72414" y1="45107" x2="72414" y2="45107"/>
                        <a14:foregroundMark x1="58161" y1="26969" x2="58161" y2="26969"/>
                        <a14:foregroundMark x1="46207" y1="7876" x2="46207" y2="7876"/>
                        <a14:foregroundMark x1="44138" y1="8115" x2="44138" y2="8115"/>
                        <a14:foregroundMark x1="34253" y1="10501" x2="34253" y2="10501"/>
                        <a14:foregroundMark x1="31264" y1="11695" x2="31264" y2="11695"/>
                        <a14:foregroundMark x1="25517" y1="14558" x2="44138" y2="8353"/>
                        <a14:foregroundMark x1="62529" y1="35561" x2="62529" y2="35561"/>
                        <a14:foregroundMark x1="52184" y1="34845" x2="52184" y2="34845"/>
                        <a14:foregroundMark x1="70595" y1="40731" x2="73793" y2="42959"/>
                        <a14:foregroundMark x1="68431" y1="39224" x2="68900" y2="39550"/>
                        <a14:foregroundMark x1="59556" y1="33043" x2="64001" y2="36139"/>
                        <a14:foregroundMark x1="22529" y1="81862" x2="16322" y2="77327"/>
                        <a14:foregroundMark x1="46897" y1="93317" x2="66667" y2="89499"/>
                        <a14:backgroundMark x1="81609" y1="35800" x2="81609" y2="35800"/>
                        <a14:backgroundMark x1="80405" y1="32936" x2="82069" y2="35322"/>
                        <a14:backgroundMark x1="77241" y1="28401" x2="80405" y2="32936"/>
                        <a14:backgroundMark x1="52637" y1="12225" x2="65517" y2="15513"/>
                        <a14:backgroundMark x1="68046" y1="16468" x2="73793" y2="19809"/>
                        <a14:backgroundMark x1="71264" y1="16706" x2="79080" y2="23150"/>
                        <a14:backgroundMark x1="79080" y1="23150" x2="79080" y2="23150"/>
                        <a14:backgroundMark x1="79080" y1="23150" x2="83448" y2="29356"/>
                        <a14:backgroundMark x1="84989" y1="32936" x2="90575" y2="47733"/>
                        <a14:backgroundMark x1="83908" y1="30072" x2="84989" y2="32936"/>
                        <a14:backgroundMark x1="90575" y1="47733" x2="90575" y2="47733"/>
                        <a14:backgroundMark x1="90575" y1="47733" x2="90575" y2="52029"/>
                        <a14:backgroundMark x1="87816" y1="67542" x2="87816" y2="67542"/>
                        <a14:backgroundMark x1="87816" y1="67542" x2="85977" y2="65394"/>
                        <a14:backgroundMark x1="90229" y1="65023" x2="91494" y2="64439"/>
                        <a14:backgroundMark x1="85287" y1="67303" x2="89902" y2="65174"/>
                        <a14:backgroundMark x1="92184" y1="63484" x2="92414" y2="63723"/>
                        <a14:backgroundMark x1="73333" y1="71599" x2="79540" y2="74702"/>
                        <a14:backgroundMark x1="71494" y1="70883" x2="44598" y2="81862"/>
                        <a14:backgroundMark x1="14023" y1="44153" x2="22989" y2="59666"/>
                        <a14:backgroundMark x1="22989" y1="44630" x2="22989" y2="44630"/>
                        <a14:backgroundMark x1="22989" y1="44630" x2="22989" y2="44630"/>
                        <a14:backgroundMark x1="22759" y1="42721" x2="22759" y2="42721"/>
                        <a14:backgroundMark x1="22759" y1="42721" x2="22759" y2="42721"/>
                        <a14:backgroundMark x1="22299" y1="42005" x2="23218" y2="44391"/>
                        <a14:backgroundMark x1="11427" y1="45315" x2="20000" y2="63723"/>
                        <a14:backgroundMark x1="9885" y1="42005" x2="10019" y2="42294"/>
                        <a14:backgroundMark x1="19540" y1="65394" x2="44598" y2="82578"/>
                        <a14:backgroundMark x1="44598" y1="82578" x2="50575" y2="83294"/>
                        <a14:backgroundMark x1="22768" y1="76670" x2="55172" y2="84726"/>
                        <a14:backgroundMark x1="55172" y1="84726" x2="61609" y2="84010"/>
                        <a14:backgroundMark x1="66667" y1="81384" x2="42460" y2="88142"/>
                        <a14:backgroundMark x1="33042" y1="84729" x2="32920" y2="84646"/>
                        <a14:backgroundMark x1="36572" y1="87146" x2="36316" y2="86971"/>
                        <a14:backgroundMark x1="39079" y1="88863" x2="38860" y2="88713"/>
                        <a14:backgroundMark x1="71264" y1="76134" x2="71494" y2="77327"/>
                        <a14:backgroundMark x1="71494" y1="77327" x2="71494" y2="77327"/>
                        <a14:backgroundMark x1="71494" y1="77327" x2="72874" y2="81862"/>
                        <a14:backgroundMark x1="74443" y1="69067" x2="72184" y2="71838"/>
                        <a14:backgroundMark x1="66437" y1="81384" x2="69885" y2="81384"/>
                        <a14:backgroundMark x1="80920" y1="70644" x2="81379" y2="71122"/>
                        <a14:backgroundMark x1="21379" y1="63246" x2="21149" y2="66110"/>
                        <a14:backgroundMark x1="18161" y1="65155" x2="20230" y2="67542"/>
                        <a14:backgroundMark x1="10345" y1="38425" x2="10805" y2="37709"/>
                        <a14:backgroundMark x1="8966" y1="38186" x2="8966" y2="38425"/>
                        <a14:backgroundMark x1="9502" y1="38425" x2="10115" y2="36993"/>
                        <a14:backgroundMark x1="8966" y1="41975" x2="8966" y2="41868"/>
                        <a14:backgroundMark x1="9920" y1="38425" x2="11034" y2="36277"/>
                        <a14:backgroundMark x1="48580" y1="10515" x2="42469" y2="11613"/>
                        <a14:backgroundMark x1="22299" y1="42959" x2="21379" y2="42243"/>
                        <a14:backgroundMark x1="21839" y1="42482" x2="20920" y2="41766"/>
                        <a14:backgroundMark x1="22759" y1="44153" x2="21379" y2="40573"/>
                        <a14:backgroundMark x1="22759" y1="41527" x2="22299" y2="40334"/>
                        <a14:backgroundMark x1="22529" y1="44630" x2="18851" y2="35561"/>
                        <a14:backgroundMark x1="27586" y1="31504" x2="27586" y2="31504"/>
                        <a14:backgroundMark x1="27586" y1="31504" x2="26667" y2="31742"/>
                        <a14:backgroundMark x1="30575" y1="19570" x2="24138" y2="21002"/>
                        <a14:backgroundMark x1="29425" y1="20525" x2="34713" y2="17184"/>
                        <a14:backgroundMark x1="56782" y1="31742" x2="56782" y2="31742"/>
                        <a14:backgroundMark x1="57931" y1="31026" x2="57931" y2="31026"/>
                        <a14:backgroundMark x1="57931" y1="31026" x2="57471" y2="32220"/>
                        <a14:backgroundMark x1="65977" y1="37709" x2="68276" y2="39379"/>
                        <a14:backgroundMark x1="68736" y1="40573" x2="64368" y2="36993"/>
                        <a14:backgroundMark x1="68966" y1="40811" x2="68276" y2="39618"/>
                        <a14:backgroundMark x1="85057" y1="32936" x2="82989" y2="32936"/>
                        <a14:backgroundMark x1="68506" y1="39618" x2="68736" y2="41050"/>
                      </a14:backgroundRemoval>
                    </a14:imgEffect>
                  </a14:imgLayer>
                </a14:imgProps>
              </a:ext>
              <a:ext uri="{28A0092B-C50C-407E-A947-70E740481C1C}">
                <a14:useLocalDpi xmlns:a14="http://schemas.microsoft.com/office/drawing/2010/main" val="0"/>
              </a:ext>
            </a:extLst>
          </a:blip>
          <a:srcRect t="5686" r="4564" b="5233"/>
          <a:stretch>
            <a:fillRect/>
          </a:stretch>
        </p:blipFill>
        <p:spPr>
          <a:xfrm>
            <a:off x="9997708" y="5032376"/>
            <a:ext cx="1669905" cy="1560061"/>
          </a:xfrm>
          <a:prstGeom prst="rect">
            <a:avLst/>
          </a:prstGeom>
        </p:spPr>
      </p:pic>
      <p:pic>
        <p:nvPicPr>
          <p:cNvPr id="6" name="Picture 5">
            <a:extLst>
              <a:ext uri="{FF2B5EF4-FFF2-40B4-BE49-F238E27FC236}">
                <a16:creationId xmlns:a16="http://schemas.microsoft.com/office/drawing/2014/main" id="{1CDD9939-7D70-BEC7-2DEA-68B08BDF7A6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67089" y1="16034" x2="67089" y2="16034"/>
                        <a14:foregroundMark x1="63924" y1="21941" x2="63924" y2="21941"/>
                        <a14:foregroundMark x1="62236" y1="25316" x2="62236" y2="25316"/>
                        <a14:foregroundMark x1="60759" y1="27426" x2="60759" y2="27426"/>
                        <a14:foregroundMark x1="33122" y1="35865" x2="33122" y2="35865"/>
                        <a14:foregroundMark x1="33544" y1="34177" x2="33544" y2="34177"/>
                        <a14:foregroundMark x1="34388" y1="31224" x2="34388" y2="31224"/>
                        <a14:foregroundMark x1="35021" y1="29958" x2="35021" y2="29958"/>
                        <a14:foregroundMark x1="35443" y1="28692" x2="35443" y2="28692"/>
                        <a14:foregroundMark x1="36287" y1="27004" x2="36287" y2="27004"/>
                        <a14:foregroundMark x1="37131" y1="26160" x2="37131" y2="26160"/>
                        <a14:foregroundMark x1="38819" y1="24473" x2="38819" y2="24473"/>
                        <a14:foregroundMark x1="38397" y1="24895" x2="38397" y2="24895"/>
                        <a14:foregroundMark x1="37975" y1="24895" x2="37975" y2="24895"/>
                        <a14:foregroundMark x1="39873" y1="23629" x2="39873" y2="23629"/>
                        <a14:foregroundMark x1="41139" y1="22363" x2="41139" y2="22363"/>
                        <a14:foregroundMark x1="59705" y1="29958" x2="59705" y2="29958"/>
                        <a14:foregroundMark x1="58439" y1="32068" x2="58439" y2="32068"/>
                        <a14:foregroundMark x1="71097" y1="23207" x2="71097" y2="23207"/>
                        <a14:foregroundMark x1="76371" y1="17722" x2="76371" y2="17722"/>
                        <a14:foregroundMark x1="75105" y1="19409" x2="75105" y2="19409"/>
                        <a14:foregroundMark x1="74262" y1="20675" x2="74262" y2="20675"/>
                        <a14:foregroundMark x1="73840" y1="22785" x2="73840" y2="22785"/>
                        <a14:foregroundMark x1="69198" y1="28270" x2="69198" y2="28270"/>
                        <a14:foregroundMark x1="68143" y1="27426" x2="68143" y2="27426"/>
                        <a14:foregroundMark x1="68143" y1="28270" x2="68143" y2="28270"/>
                        <a14:foregroundMark x1="67932" y1="29536" x2="67932" y2="29536"/>
                        <a14:foregroundMark x1="66667" y1="31224" x2="66667" y2="31224"/>
                        <a14:foregroundMark x1="67300" y1="29114" x2="67300" y2="29114"/>
                        <a14:foregroundMark x1="67089" y1="29958" x2="67089" y2="29958"/>
                        <a14:foregroundMark x1="65823" y1="31224" x2="65823" y2="31224"/>
                        <a14:foregroundMark x1="64979" y1="32489" x2="64979" y2="32489"/>
                        <a14:foregroundMark x1="64346" y1="33755" x2="64346" y2="33755"/>
                        <a14:foregroundMark x1="62869" y1="35021" x2="62869" y2="35021"/>
                        <a14:foregroundMark x1="63502" y1="33755" x2="63502" y2="33755"/>
                        <a14:foregroundMark x1="61603" y1="36709" x2="61603" y2="36709"/>
                        <a14:foregroundMark x1="62025" y1="36287" x2="62025" y2="36287"/>
                        <a14:foregroundMark x1="60549" y1="38397" x2="60549" y2="38397"/>
                        <a14:foregroundMark x1="59494" y1="40084" x2="59494" y2="40084"/>
                        <a14:foregroundMark x1="58861" y1="40928" x2="58861" y2="40928"/>
                        <a14:foregroundMark x1="56962" y1="35865" x2="56962" y2="35865"/>
                        <a14:foregroundMark x1="57806" y1="33755" x2="57806" y2="33755"/>
                        <a14:foregroundMark x1="57595" y1="34177" x2="57595" y2="34177"/>
                        <a14:foregroundMark x1="57173" y1="35865" x2="57173" y2="35865"/>
                        <a14:foregroundMark x1="63502" y1="21097" x2="63502" y2="21097"/>
                        <a14:foregroundMark x1="63502" y1="23207" x2="63502" y2="23207"/>
                        <a14:foregroundMark x1="63080" y1="22363" x2="63080" y2="22363"/>
                        <a14:foregroundMark x1="61392" y1="26582" x2="61392" y2="26582"/>
                        <a14:foregroundMark x1="60759" y1="28270" x2="60759" y2="28270"/>
                        <a14:foregroundMark x1="59283" y1="31224" x2="59283" y2="31224"/>
                        <a14:foregroundMark x1="71941" y1="26160" x2="71941" y2="26160"/>
                        <a14:foregroundMark x1="72574" y1="37553" x2="72574" y2="37553"/>
                        <a14:foregroundMark x1="72363" y1="35443" x2="72363" y2="35443"/>
                        <a14:foregroundMark x1="70886" y1="36709" x2="70886" y2="36709"/>
                        <a14:foregroundMark x1="68354" y1="39241" x2="68354" y2="39241"/>
                        <a14:foregroundMark x1="67089" y1="40506" x2="67089" y2="40506"/>
                        <a14:foregroundMark x1="64979" y1="42616" x2="64979" y2="42616"/>
                        <a14:foregroundMark x1="63080" y1="43882" x2="63080" y2="43882"/>
                        <a14:foregroundMark x1="60759" y1="45992" x2="60759" y2="45992"/>
                        <a14:foregroundMark x1="61603" y1="45148" x2="61603" y2="45148"/>
                        <a14:foregroundMark x1="62236" y1="44726" x2="62236" y2="44726"/>
                        <a14:foregroundMark x1="63924" y1="43882" x2="63924" y2="43882"/>
                        <a14:foregroundMark x1="65823" y1="43038" x2="65823" y2="43038"/>
                        <a14:foregroundMark x1="64346" y1="43460" x2="64346" y2="43460"/>
                        <a14:foregroundMark x1="68987" y1="39662" x2="68987" y2="39662"/>
                        <a14:backgroundMark x1="58439" y1="35443" x2="58439" y2="35443"/>
                        <a14:backgroundMark x1="58228" y1="36287" x2="58228" y2="36287"/>
                        <a14:backgroundMark x1="38397" y1="24473" x2="38397" y2="24473"/>
                        <a14:backgroundMark x1="41139" y1="22363" x2="41139" y2="22363"/>
                        <a14:backgroundMark x1="37764" y1="26160" x2="37764" y2="26160"/>
                        <a14:backgroundMark x1="37131" y1="26582" x2="37131" y2="26582"/>
                        <a14:backgroundMark x1="34599" y1="30380" x2="34599" y2="30380"/>
                        <a14:backgroundMark x1="57806" y1="36709" x2="57806" y2="36709"/>
                        <a14:backgroundMark x1="60127" y1="43460" x2="60127" y2="43460"/>
                      </a14:backgroundRemoval>
                    </a14:imgEffect>
                  </a14:imgLayer>
                </a14:imgProps>
              </a:ext>
              <a:ext uri="{28A0092B-C50C-407E-A947-70E740481C1C}">
                <a14:useLocalDpi xmlns:a14="http://schemas.microsoft.com/office/drawing/2010/main" val="0"/>
              </a:ext>
            </a:extLst>
          </a:blip>
          <a:stretch>
            <a:fillRect/>
          </a:stretch>
        </p:blipFill>
        <p:spPr>
          <a:xfrm>
            <a:off x="0" y="135839"/>
            <a:ext cx="3379572" cy="1689786"/>
          </a:xfrm>
          <a:prstGeom prst="rect">
            <a:avLst/>
          </a:prstGeom>
        </p:spPr>
      </p:pic>
    </p:spTree>
    <p:extLst>
      <p:ext uri="{BB962C8B-B14F-4D97-AF65-F5344CB8AC3E}">
        <p14:creationId xmlns:p14="http://schemas.microsoft.com/office/powerpoint/2010/main" val="6825397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childTnLst>
                          </p:cTn>
                        </p:par>
                        <p:par>
                          <p:cTn id="10" fill="hold">
                            <p:stCondLst>
                              <p:cond delay="750"/>
                            </p:stCondLst>
                            <p:childTnLst>
                              <p:par>
                                <p:cTn id="11" presetID="22" presetClass="entr" presetSubtype="4"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750"/>
                                        <p:tgtEl>
                                          <p:spTgt spid="8"/>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wipe(down)">
                                      <p:cBhvr>
                                        <p:cTn id="21" dur="750"/>
                                        <p:tgtEl>
                                          <p:spTgt spid="3">
                                            <p:txEl>
                                              <p:pRg st="0" end="0"/>
                                            </p:txEl>
                                          </p:spTgt>
                                        </p:tgtEl>
                                      </p:cBhvr>
                                    </p:animEffect>
                                  </p:childTnLst>
                                </p:cTn>
                              </p:par>
                            </p:childTnLst>
                          </p:cTn>
                        </p:par>
                        <p:par>
                          <p:cTn id="22" fill="hold">
                            <p:stCondLst>
                              <p:cond delay="2750"/>
                            </p:stCondLst>
                            <p:childTnLst>
                              <p:par>
                                <p:cTn id="23" presetID="22" presetClass="entr" presetSubtype="4" fill="hold" nodeType="after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750"/>
                                        <p:tgtEl>
                                          <p:spTgt spid="3">
                                            <p:txEl>
                                              <p:pRg st="1" end="1"/>
                                            </p:txEl>
                                          </p:spTgt>
                                        </p:tgtEl>
                                      </p:cBhvr>
                                    </p:animEffect>
                                  </p:childTnLst>
                                </p:cTn>
                              </p:par>
                            </p:childTnLst>
                          </p:cTn>
                        </p:par>
                        <p:par>
                          <p:cTn id="26" fill="hold">
                            <p:stCondLst>
                              <p:cond delay="3500"/>
                            </p:stCondLst>
                            <p:childTnLst>
                              <p:par>
                                <p:cTn id="27" presetID="22" presetClass="entr" presetSubtype="4" fill="hold" nodeType="after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750"/>
                                        <p:tgtEl>
                                          <p:spTgt spid="3">
                                            <p:txEl>
                                              <p:pRg st="2" end="2"/>
                                            </p:txEl>
                                          </p:spTgt>
                                        </p:tgtEl>
                                      </p:cBhvr>
                                    </p:animEffect>
                                  </p:childTnLst>
                                </p:cTn>
                              </p:par>
                            </p:childTnLst>
                          </p:cTn>
                        </p:par>
                        <p:par>
                          <p:cTn id="30" fill="hold">
                            <p:stCondLst>
                              <p:cond delay="4250"/>
                            </p:stCondLst>
                            <p:childTnLst>
                              <p:par>
                                <p:cTn id="31" presetID="22" presetClass="entr" presetSubtype="4" fill="hold" nodeType="after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wipe(down)">
                                      <p:cBhvr>
                                        <p:cTn id="33" dur="750"/>
                                        <p:tgtEl>
                                          <p:spTgt spid="3">
                                            <p:txEl>
                                              <p:pRg st="3" end="3"/>
                                            </p:txEl>
                                          </p:spTgt>
                                        </p:tgtEl>
                                      </p:cBhvr>
                                    </p:animEffect>
                                  </p:childTnLst>
                                </p:cTn>
                              </p:par>
                            </p:childTnLst>
                          </p:cTn>
                        </p:par>
                        <p:par>
                          <p:cTn id="34" fill="hold">
                            <p:stCondLst>
                              <p:cond delay="5000"/>
                            </p:stCondLst>
                            <p:childTnLst>
                              <p:par>
                                <p:cTn id="35" presetID="22" presetClass="entr" presetSubtype="4" fill="hold" nodeType="after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wipe(down)">
                                      <p:cBhvr>
                                        <p:cTn id="37" dur="750"/>
                                        <p:tgtEl>
                                          <p:spTgt spid="3">
                                            <p:txEl>
                                              <p:pRg st="4" end="4"/>
                                            </p:txEl>
                                          </p:spTgt>
                                        </p:tgtEl>
                                      </p:cBhvr>
                                    </p:animEffect>
                                  </p:childTnLst>
                                </p:cTn>
                              </p:par>
                            </p:childTnLst>
                          </p:cTn>
                        </p:par>
                        <p:par>
                          <p:cTn id="38" fill="hold">
                            <p:stCondLst>
                              <p:cond delay="5750"/>
                            </p:stCondLst>
                            <p:childTnLst>
                              <p:par>
                                <p:cTn id="39" presetID="22" presetClass="entr" presetSubtype="4" fill="hold" nodeType="after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wipe(down)">
                                      <p:cBhvr>
                                        <p:cTn id="41" dur="7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B2490-23CE-CDBC-3183-678C3FC28E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A94BE2-9486-2081-7A51-27575A3D22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itle 5">
            <a:extLst>
              <a:ext uri="{FF2B5EF4-FFF2-40B4-BE49-F238E27FC236}">
                <a16:creationId xmlns:a16="http://schemas.microsoft.com/office/drawing/2014/main" id="{0825F0D1-D4AB-2ACF-07A2-EB9E92D14001}"/>
              </a:ext>
            </a:extLst>
          </p:cNvPr>
          <p:cNvSpPr>
            <a:spLocks noGrp="1"/>
          </p:cNvSpPr>
          <p:nvPr>
            <p:ph type="title"/>
          </p:nvPr>
        </p:nvSpPr>
        <p:spPr>
          <a:xfrm>
            <a:off x="838200" y="365125"/>
            <a:ext cx="10515600" cy="1325563"/>
          </a:xfrm>
        </p:spPr>
        <p:txBody>
          <a:bodyPr>
            <a:normAutofit/>
          </a:bodyPr>
          <a:lstStyle/>
          <a:p>
            <a:pPr algn="ctr"/>
            <a:r>
              <a:rPr lang="en-IN" sz="3600" u="sng" dirty="0">
                <a:latin typeface="Castellar" panose="020A0402060406010301" pitchFamily="18" charset="0"/>
              </a:rPr>
              <a:t>Data Understanding &amp; Cleaning (Mandatory)</a:t>
            </a:r>
          </a:p>
        </p:txBody>
      </p:sp>
      <p:graphicFrame>
        <p:nvGraphicFramePr>
          <p:cNvPr id="13" name="Content Placeholder 12">
            <a:extLst>
              <a:ext uri="{FF2B5EF4-FFF2-40B4-BE49-F238E27FC236}">
                <a16:creationId xmlns:a16="http://schemas.microsoft.com/office/drawing/2014/main" id="{672DCFDD-5EA5-86C9-6F98-D74DE0DB1890}"/>
              </a:ext>
            </a:extLst>
          </p:cNvPr>
          <p:cNvGraphicFramePr>
            <a:graphicFrameLocks noGrp="1"/>
          </p:cNvGraphicFramePr>
          <p:nvPr>
            <p:ph idx="1"/>
            <p:extLst>
              <p:ext uri="{D42A27DB-BD31-4B8C-83A1-F6EECF244321}">
                <p14:modId xmlns:p14="http://schemas.microsoft.com/office/powerpoint/2010/main" val="362287175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ED6C2573-E005-A4F9-9B34-A9C0A3C7088B}"/>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backgroundRemoval t="10000" b="90000" l="10000" r="90000">
                        <a14:foregroundMark x1="50698" y1="28329" x2="50698" y2="28329"/>
                        <a14:foregroundMark x1="49302" y1="25908" x2="49302" y2="25908"/>
                        <a14:foregroundMark x1="46977" y1="27845" x2="46977" y2="27845"/>
                        <a14:foregroundMark x1="52558" y1="27845" x2="47209" y2="26392"/>
                        <a14:foregroundMark x1="46977" y1="25424" x2="52093" y2="25424"/>
                        <a14:foregroundMark x1="52558" y1="25908" x2="47907" y2="24697"/>
                      </a14:backgroundRemoval>
                    </a14:imgEffect>
                  </a14:imgLayer>
                </a14:imgProps>
              </a:ext>
              <a:ext uri="{28A0092B-C50C-407E-A947-70E740481C1C}">
                <a14:useLocalDpi xmlns:a14="http://schemas.microsoft.com/office/drawing/2010/main" val="0"/>
              </a:ext>
            </a:extLst>
          </a:blip>
          <a:stretch>
            <a:fillRect/>
          </a:stretch>
        </p:blipFill>
        <p:spPr>
          <a:xfrm>
            <a:off x="235953" y="1482448"/>
            <a:ext cx="5596821" cy="5375552"/>
          </a:xfrm>
          <a:prstGeom prst="rect">
            <a:avLst/>
          </a:prstGeom>
          <a:ln>
            <a:noFill/>
          </a:ln>
        </p:spPr>
      </p:pic>
      <p:sp>
        <p:nvSpPr>
          <p:cNvPr id="4" name="TextBox 3">
            <a:extLst>
              <a:ext uri="{FF2B5EF4-FFF2-40B4-BE49-F238E27FC236}">
                <a16:creationId xmlns:a16="http://schemas.microsoft.com/office/drawing/2014/main" id="{A9B46765-15EB-44A7-923B-C67E0E92ECCC}"/>
              </a:ext>
            </a:extLst>
          </p:cNvPr>
          <p:cNvSpPr txBox="1"/>
          <p:nvPr/>
        </p:nvSpPr>
        <p:spPr>
          <a:xfrm>
            <a:off x="1537369" y="2540000"/>
            <a:ext cx="2933031" cy="2835552"/>
          </a:xfrm>
          <a:prstGeom prst="rect">
            <a:avLst/>
          </a:prstGeom>
        </p:spPr>
        <p:txBody>
          <a:bodyPr wrap="square" rtlCol="0">
            <a:prstTxWarp prst="textCircle">
              <a:avLst>
                <a:gd name="adj" fmla="val 11035193"/>
              </a:avLst>
            </a:prstTxWarp>
            <a:spAutoFit/>
            <a:scene3d>
              <a:camera prst="orthographicFront"/>
              <a:lightRig rig="harsh" dir="t"/>
            </a:scene3d>
            <a:sp3d extrusionH="57150" prstMaterial="matte">
              <a:bevelT w="63500" h="12700" prst="angle"/>
              <a:contourClr>
                <a:schemeClr val="bg1">
                  <a:lumMod val="65000"/>
                </a:schemeClr>
              </a:contourClr>
            </a:sp3d>
          </a:bodyPr>
          <a:lstStyle/>
          <a:p>
            <a:pPr algn="ctr" defTabSz="2400300">
              <a:lnSpc>
                <a:spcPct val="90000"/>
              </a:lnSpc>
              <a:spcBef>
                <a:spcPct val="0"/>
              </a:spcBef>
              <a:spcAft>
                <a:spcPct val="35000"/>
              </a:spcAft>
            </a:pPr>
            <a:r>
              <a:rPr lang="en-IN" sz="5400" b="1" dirty="0">
                <a:ln/>
                <a:solidFill>
                  <a:schemeClr val="accent3"/>
                </a:solidFill>
                <a:latin typeface="Aptos" panose="02110004020202020204"/>
              </a:rPr>
              <a:t>Data Quality Issues Identified</a:t>
            </a:r>
          </a:p>
        </p:txBody>
      </p:sp>
    </p:spTree>
    <p:extLst>
      <p:ext uri="{BB962C8B-B14F-4D97-AF65-F5344CB8AC3E}">
        <p14:creationId xmlns:p14="http://schemas.microsoft.com/office/powerpoint/2010/main" val="613714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Effect transition="in" filter="fade">
                                      <p:cBhvr>
                                        <p:cTn id="9" dur="1000"/>
                                        <p:tgtEl>
                                          <p:spTgt spid="6"/>
                                        </p:tgtEl>
                                      </p:cBhvr>
                                    </p:animEffect>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250"/>
                                        <p:tgtEl>
                                          <p:spTgt spid="13"/>
                                        </p:tgtEl>
                                      </p:cBhvr>
                                    </p:animEffect>
                                    <p:anim calcmode="lin" valueType="num">
                                      <p:cBhvr>
                                        <p:cTn id="14" dur="1250" fill="hold"/>
                                        <p:tgtEl>
                                          <p:spTgt spid="13"/>
                                        </p:tgtEl>
                                        <p:attrNameLst>
                                          <p:attrName>ppt_x</p:attrName>
                                        </p:attrNameLst>
                                      </p:cBhvr>
                                      <p:tavLst>
                                        <p:tav tm="0">
                                          <p:val>
                                            <p:strVal val="#ppt_x"/>
                                          </p:val>
                                        </p:tav>
                                        <p:tav tm="100000">
                                          <p:val>
                                            <p:strVal val="#ppt_x"/>
                                          </p:val>
                                        </p:tav>
                                      </p:tavLst>
                                    </p:anim>
                                    <p:anim calcmode="lin" valueType="num">
                                      <p:cBhvr>
                                        <p:cTn id="15" dur="1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13"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9D3F-052B-4750-67D3-7245FB95D7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31DB15-4DDC-6E4D-5D71-CD3644D26A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itle 5">
            <a:extLst>
              <a:ext uri="{FF2B5EF4-FFF2-40B4-BE49-F238E27FC236}">
                <a16:creationId xmlns:a16="http://schemas.microsoft.com/office/drawing/2014/main" id="{B47361F5-A982-8E3F-2CAA-3F26F4EF91C8}"/>
              </a:ext>
            </a:extLst>
          </p:cNvPr>
          <p:cNvSpPr>
            <a:spLocks noGrp="1"/>
          </p:cNvSpPr>
          <p:nvPr>
            <p:ph type="title"/>
          </p:nvPr>
        </p:nvSpPr>
        <p:spPr>
          <a:xfrm>
            <a:off x="265471" y="203994"/>
            <a:ext cx="11709787" cy="1016803"/>
          </a:xfrm>
        </p:spPr>
        <p:txBody>
          <a:bodyPr>
            <a:noAutofit/>
          </a:bodyPr>
          <a:lstStyle/>
          <a:p>
            <a:pPr algn="ctr"/>
            <a:r>
              <a:rPr lang="en-IN" sz="2800" u="sng" dirty="0">
                <a:latin typeface="Castellar" panose="020A0402060406010301" pitchFamily="18" charset="0"/>
              </a:rPr>
              <a:t>Data Cleaning &amp; Standardization Approach</a:t>
            </a:r>
          </a:p>
        </p:txBody>
      </p:sp>
      <p:sp>
        <p:nvSpPr>
          <p:cNvPr id="3" name="Rectangle 2">
            <a:extLst>
              <a:ext uri="{FF2B5EF4-FFF2-40B4-BE49-F238E27FC236}">
                <a16:creationId xmlns:a16="http://schemas.microsoft.com/office/drawing/2014/main" id="{B1D10996-2463-FC8D-2B6E-BF136951F742}"/>
              </a:ext>
            </a:extLst>
          </p:cNvPr>
          <p:cNvSpPr/>
          <p:nvPr/>
        </p:nvSpPr>
        <p:spPr>
          <a:xfrm>
            <a:off x="803527" y="1474503"/>
            <a:ext cx="4195189" cy="385664"/>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18E9735-1213-1CFE-E4F9-E22CE9CE83D6}"/>
              </a:ext>
            </a:extLst>
          </p:cNvPr>
          <p:cNvSpPr/>
          <p:nvPr/>
        </p:nvSpPr>
        <p:spPr>
          <a:xfrm>
            <a:off x="6696328" y="1473047"/>
            <a:ext cx="4195189" cy="385664"/>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Placeholder 6">
            <a:extLst>
              <a:ext uri="{FF2B5EF4-FFF2-40B4-BE49-F238E27FC236}">
                <a16:creationId xmlns:a16="http://schemas.microsoft.com/office/drawing/2014/main" id="{6C7DEEE2-E33B-9F57-3E24-319E82D50490}"/>
              </a:ext>
            </a:extLst>
          </p:cNvPr>
          <p:cNvSpPr>
            <a:spLocks noGrp="1"/>
          </p:cNvSpPr>
          <p:nvPr>
            <p:ph type="body" idx="1"/>
          </p:nvPr>
        </p:nvSpPr>
        <p:spPr>
          <a:xfrm>
            <a:off x="864915" y="1474502"/>
            <a:ext cx="4133801" cy="486724"/>
          </a:xfrm>
        </p:spPr>
        <p:txBody>
          <a:bodyPr>
            <a:normAutofit lnSpcReduction="10000"/>
          </a:bodyPr>
          <a:lstStyle/>
          <a:p>
            <a:pPr algn="ctr"/>
            <a:r>
              <a:rPr lang="en-IN" sz="3200" dirty="0">
                <a:solidFill>
                  <a:schemeClr val="bg1">
                    <a:lumMod val="95000"/>
                  </a:schemeClr>
                </a:solidFill>
                <a:latin typeface="Copperplate Gothic Light" panose="020E0507020206020404" pitchFamily="34" charset="0"/>
              </a:rPr>
              <a:t>IF / Nested IF</a:t>
            </a:r>
            <a:r>
              <a:rPr lang="en-IN" dirty="0">
                <a:solidFill>
                  <a:schemeClr val="bg1">
                    <a:lumMod val="95000"/>
                  </a:schemeClr>
                </a:solidFill>
                <a:latin typeface="Copperplate Gothic Light" panose="020E0507020206020404" pitchFamily="34" charset="0"/>
              </a:rPr>
              <a:t>:</a:t>
            </a:r>
          </a:p>
        </p:txBody>
      </p:sp>
      <p:sp>
        <p:nvSpPr>
          <p:cNvPr id="10" name="Text Placeholder 9">
            <a:extLst>
              <a:ext uri="{FF2B5EF4-FFF2-40B4-BE49-F238E27FC236}">
                <a16:creationId xmlns:a16="http://schemas.microsoft.com/office/drawing/2014/main" id="{5096C5BD-DCFB-A472-2D7D-B787BAC43188}"/>
              </a:ext>
            </a:extLst>
          </p:cNvPr>
          <p:cNvSpPr>
            <a:spLocks noGrp="1"/>
          </p:cNvSpPr>
          <p:nvPr>
            <p:ph type="body" sz="quarter" idx="3"/>
          </p:nvPr>
        </p:nvSpPr>
        <p:spPr>
          <a:xfrm>
            <a:off x="6329680" y="1273008"/>
            <a:ext cx="4997406" cy="651470"/>
          </a:xfrm>
        </p:spPr>
        <p:txBody>
          <a:bodyPr>
            <a:normAutofit lnSpcReduction="10000"/>
          </a:bodyPr>
          <a:lstStyle/>
          <a:p>
            <a:pPr algn="ctr"/>
            <a:r>
              <a:rPr lang="en-IN" sz="3200" dirty="0">
                <a:solidFill>
                  <a:schemeClr val="bg1">
                    <a:lumMod val="95000"/>
                  </a:schemeClr>
                </a:solidFill>
                <a:latin typeface="Copperplate Gothic Light" panose="020E0507020206020404" pitchFamily="34" charset="0"/>
              </a:rPr>
              <a:t>Find &amp; Replace:</a:t>
            </a:r>
          </a:p>
        </p:txBody>
      </p:sp>
      <p:sp>
        <p:nvSpPr>
          <p:cNvPr id="11" name="Content Placeholder 10">
            <a:extLst>
              <a:ext uri="{FF2B5EF4-FFF2-40B4-BE49-F238E27FC236}">
                <a16:creationId xmlns:a16="http://schemas.microsoft.com/office/drawing/2014/main" id="{B2F30DD8-C56B-EA0A-AE7A-0C683E58211B}"/>
              </a:ext>
            </a:extLst>
          </p:cNvPr>
          <p:cNvSpPr>
            <a:spLocks noGrp="1"/>
          </p:cNvSpPr>
          <p:nvPr>
            <p:ph sz="quarter" idx="4"/>
          </p:nvPr>
        </p:nvSpPr>
        <p:spPr>
          <a:xfrm>
            <a:off x="6444829" y="2176884"/>
            <a:ext cx="5530429" cy="4428710"/>
          </a:xfrm>
        </p:spPr>
        <p:txBody>
          <a:bodyPr>
            <a:normAutofit/>
          </a:bodyPr>
          <a:lstStyle/>
          <a:p>
            <a:pPr marL="0" lvl="0" indent="0" eaLnBrk="0" fontAlgn="base" hangingPunct="0">
              <a:lnSpc>
                <a:spcPct val="100000"/>
              </a:lnSpc>
              <a:spcBef>
                <a:spcPct val="0"/>
              </a:spcBef>
              <a:spcAft>
                <a:spcPct val="0"/>
              </a:spcAft>
              <a:buNone/>
            </a:pPr>
            <a:r>
              <a:rPr lang="en-US" b="1" u="sng" dirty="0">
                <a:latin typeface="Garamond" panose="02020404030301010803" pitchFamily="18" charset="0"/>
              </a:rPr>
              <a:t>Find &amp; Replace:</a:t>
            </a:r>
            <a:r>
              <a:rPr lang="en-US" u="sng" dirty="0">
                <a:latin typeface="Garamond" panose="02020404030301010803" pitchFamily="18" charset="0"/>
              </a:rPr>
              <a:t> </a:t>
            </a:r>
            <a:r>
              <a:rPr lang="en-US" dirty="0">
                <a:latin typeface="Garamond" panose="02020404030301010803" pitchFamily="18" charset="0"/>
              </a:rPr>
              <a:t>Extra spaces in the </a:t>
            </a:r>
            <a:r>
              <a:rPr lang="en-US" i="1" dirty="0">
                <a:latin typeface="Garamond" panose="02020404030301010803" pitchFamily="18" charset="0"/>
              </a:rPr>
              <a:t>Channel</a:t>
            </a:r>
            <a:r>
              <a:rPr lang="en-US" dirty="0">
                <a:latin typeface="Garamond" panose="02020404030301010803" pitchFamily="18" charset="0"/>
              </a:rPr>
              <a:t> column were removed to standardize values and avoid duplicate categories.</a:t>
            </a:r>
            <a:br>
              <a:rPr lang="en-US" dirty="0">
                <a:latin typeface="Garamond" panose="02020404030301010803" pitchFamily="18" charset="0"/>
              </a:rPr>
            </a:br>
            <a:r>
              <a:rPr lang="en-US" b="1" u="sng" dirty="0">
                <a:latin typeface="Garamond" panose="02020404030301010803" pitchFamily="18" charset="0"/>
              </a:rPr>
              <a:t>Ship-State:</a:t>
            </a:r>
            <a:r>
              <a:rPr lang="en-US" u="sng" dirty="0">
                <a:latin typeface="Garamond" panose="02020404030301010803" pitchFamily="18" charset="0"/>
              </a:rPr>
              <a:t> </a:t>
            </a:r>
            <a:r>
              <a:rPr lang="en-US" dirty="0">
                <a:latin typeface="Garamond" panose="02020404030301010803" pitchFamily="18" charset="0"/>
              </a:rPr>
              <a:t>State names were converted to a consistent casing (e.g., Delhi, Goa) to ensure accurate grouping and analysis.</a:t>
            </a:r>
            <a:br>
              <a:rPr lang="en-US" altLang="en-US" dirty="0">
                <a:latin typeface="Garamond" panose="02020404030301010803" pitchFamily="18" charset="0"/>
              </a:rPr>
            </a:br>
            <a:endParaRPr lang="en-US" altLang="en-US" dirty="0">
              <a:latin typeface="Garamond" panose="02020404030301010803" pitchFamily="18" charset="0"/>
            </a:endParaRPr>
          </a:p>
          <a:p>
            <a:endParaRPr lang="en-IN" dirty="0"/>
          </a:p>
        </p:txBody>
      </p:sp>
      <p:sp>
        <p:nvSpPr>
          <p:cNvPr id="2" name="Frame 1">
            <a:extLst>
              <a:ext uri="{FF2B5EF4-FFF2-40B4-BE49-F238E27FC236}">
                <a16:creationId xmlns:a16="http://schemas.microsoft.com/office/drawing/2014/main" id="{78AB6631-8107-C120-3BAC-41540E9DBAB8}"/>
              </a:ext>
            </a:extLst>
          </p:cNvPr>
          <p:cNvSpPr/>
          <p:nvPr/>
        </p:nvSpPr>
        <p:spPr>
          <a:xfrm>
            <a:off x="634649" y="1340988"/>
            <a:ext cx="4532948" cy="651470"/>
          </a:xfrm>
          <a:prstGeom prst="frame">
            <a:avLst/>
          </a:prstGeom>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Content Placeholder 10">
            <a:extLst>
              <a:ext uri="{FF2B5EF4-FFF2-40B4-BE49-F238E27FC236}">
                <a16:creationId xmlns:a16="http://schemas.microsoft.com/office/drawing/2014/main" id="{75C1CE91-5E53-CE82-1D1F-DF124957422F}"/>
              </a:ext>
            </a:extLst>
          </p:cNvPr>
          <p:cNvSpPr txBox="1">
            <a:spLocks/>
          </p:cNvSpPr>
          <p:nvPr/>
        </p:nvSpPr>
        <p:spPr>
          <a:xfrm>
            <a:off x="444603" y="2204430"/>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en-US" b="1" u="sng" dirty="0">
                <a:latin typeface="Garamond" panose="02020404030301010803" pitchFamily="18" charset="0"/>
              </a:rPr>
              <a:t>Standardized Gender values:</a:t>
            </a:r>
            <a:br>
              <a:rPr lang="en-US" altLang="en-US" dirty="0">
                <a:latin typeface="Garamond" panose="02020404030301010803" pitchFamily="18" charset="0"/>
              </a:rPr>
            </a:br>
            <a:r>
              <a:rPr lang="en-US" dirty="0">
                <a:latin typeface="Garamond" panose="02020404030301010803" pitchFamily="18" charset="0"/>
              </a:rPr>
              <a:t>Gender values like </a:t>
            </a:r>
            <a:r>
              <a:rPr lang="en-US" i="1" dirty="0">
                <a:latin typeface="Garamond" panose="02020404030301010803" pitchFamily="18" charset="0"/>
              </a:rPr>
              <a:t>W, Women, M, Men</a:t>
            </a:r>
            <a:r>
              <a:rPr lang="en-US" dirty="0">
                <a:latin typeface="Garamond" panose="02020404030301010803" pitchFamily="18" charset="0"/>
              </a:rPr>
              <a:t> were standardized into Male/Female using IF logic.</a:t>
            </a:r>
          </a:p>
          <a:p>
            <a:pPr marL="0" indent="0" eaLnBrk="0" fontAlgn="base" hangingPunct="0">
              <a:lnSpc>
                <a:spcPct val="100000"/>
              </a:lnSpc>
              <a:spcBef>
                <a:spcPct val="0"/>
              </a:spcBef>
              <a:spcAft>
                <a:spcPct val="0"/>
              </a:spcAft>
              <a:buFontTx/>
              <a:buChar char="•"/>
            </a:pPr>
            <a:r>
              <a:rPr lang="en-US" b="1" u="sng" dirty="0">
                <a:latin typeface="Garamond" panose="02020404030301010803" pitchFamily="18" charset="0"/>
              </a:rPr>
              <a:t>Converted text quantities into numeric values:</a:t>
            </a:r>
          </a:p>
          <a:p>
            <a:pPr marL="0" indent="0" eaLnBrk="0" fontAlgn="base" hangingPunct="0">
              <a:lnSpc>
                <a:spcPct val="100000"/>
              </a:lnSpc>
              <a:spcBef>
                <a:spcPct val="0"/>
              </a:spcBef>
              <a:spcAft>
                <a:spcPct val="0"/>
              </a:spcAft>
              <a:buFont typeface="Arial" panose="020B0604020202020204" pitchFamily="34" charset="0"/>
              <a:buNone/>
            </a:pPr>
            <a:r>
              <a:rPr lang="en-US" dirty="0">
                <a:latin typeface="Garamond" panose="02020404030301010803" pitchFamily="18" charset="0"/>
              </a:rPr>
              <a:t>Text quantities such as </a:t>
            </a:r>
            <a:r>
              <a:rPr lang="en-US" i="1" dirty="0">
                <a:latin typeface="Garamond" panose="02020404030301010803" pitchFamily="18" charset="0"/>
              </a:rPr>
              <a:t>One, Two</a:t>
            </a:r>
            <a:r>
              <a:rPr lang="en-US" dirty="0">
                <a:latin typeface="Garamond" panose="02020404030301010803" pitchFamily="18" charset="0"/>
              </a:rPr>
              <a:t> were converted into numeric</a:t>
            </a:r>
            <a:r>
              <a:rPr lang="en-US" b="1" dirty="0">
                <a:latin typeface="Garamond" panose="02020404030301010803" pitchFamily="18" charset="0"/>
              </a:rPr>
              <a:t> </a:t>
            </a:r>
            <a:r>
              <a:rPr lang="en-US" dirty="0">
                <a:latin typeface="Garamond" panose="02020404030301010803" pitchFamily="18" charset="0"/>
              </a:rPr>
              <a:t>values to enable calculations and analysis.</a:t>
            </a:r>
          </a:p>
          <a:p>
            <a:pPr marL="0" indent="0" eaLnBrk="0" fontAlgn="base" hangingPunct="0">
              <a:lnSpc>
                <a:spcPct val="100000"/>
              </a:lnSpc>
              <a:spcBef>
                <a:spcPct val="0"/>
              </a:spcBef>
              <a:spcAft>
                <a:spcPct val="0"/>
              </a:spcAft>
              <a:buFontTx/>
              <a:buChar char="•"/>
            </a:pPr>
            <a:endParaRPr lang="en-US" altLang="en-US" dirty="0">
              <a:latin typeface="Garamond" panose="02020404030301010803" pitchFamily="18" charset="0"/>
            </a:endParaRPr>
          </a:p>
          <a:p>
            <a:endParaRPr lang="en-IN" dirty="0"/>
          </a:p>
        </p:txBody>
      </p:sp>
      <p:sp>
        <p:nvSpPr>
          <p:cNvPr id="8" name="Frame 7">
            <a:extLst>
              <a:ext uri="{FF2B5EF4-FFF2-40B4-BE49-F238E27FC236}">
                <a16:creationId xmlns:a16="http://schemas.microsoft.com/office/drawing/2014/main" id="{3F278433-7137-46D5-5E50-33ED3E060E7E}"/>
              </a:ext>
            </a:extLst>
          </p:cNvPr>
          <p:cNvSpPr/>
          <p:nvPr/>
        </p:nvSpPr>
        <p:spPr>
          <a:xfrm>
            <a:off x="6527449" y="1342834"/>
            <a:ext cx="4532948" cy="651470"/>
          </a:xfrm>
          <a:prstGeom prst="frame">
            <a:avLst/>
          </a:prstGeom>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 name="Straight Connector 11">
            <a:extLst>
              <a:ext uri="{FF2B5EF4-FFF2-40B4-BE49-F238E27FC236}">
                <a16:creationId xmlns:a16="http://schemas.microsoft.com/office/drawing/2014/main" id="{1B420285-4047-2629-13E1-15A6D931D977}"/>
              </a:ext>
            </a:extLst>
          </p:cNvPr>
          <p:cNvCxnSpPr/>
          <p:nvPr/>
        </p:nvCxnSpPr>
        <p:spPr>
          <a:xfrm>
            <a:off x="6085840" y="1473047"/>
            <a:ext cx="81280" cy="484647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1598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anim calcmode="lin" valueType="num">
                                      <p:cBhvr>
                                        <p:cTn id="14" dur="500" fill="hold"/>
                                        <p:tgtEl>
                                          <p:spTgt spid="2"/>
                                        </p:tgtEl>
                                        <p:attrNameLst>
                                          <p:attrName>ppt_x</p:attrName>
                                        </p:attrNameLst>
                                      </p:cBhvr>
                                      <p:tavLst>
                                        <p:tav tm="0">
                                          <p:val>
                                            <p:strVal val="#ppt_x"/>
                                          </p:val>
                                        </p:tav>
                                        <p:tav tm="100000">
                                          <p:val>
                                            <p:strVal val="#ppt_x"/>
                                          </p:val>
                                        </p:tav>
                                      </p:tavLst>
                                    </p:anim>
                                    <p:anim calcmode="lin" valueType="num">
                                      <p:cBhvr>
                                        <p:cTn id="15" dur="5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anim calcmode="lin" valueType="num">
                                      <p:cBhvr>
                                        <p:cTn id="20" dur="500" fill="hold"/>
                                        <p:tgtEl>
                                          <p:spTgt spid="3"/>
                                        </p:tgtEl>
                                        <p:attrNameLst>
                                          <p:attrName>ppt_x</p:attrName>
                                        </p:attrNameLst>
                                      </p:cBhvr>
                                      <p:tavLst>
                                        <p:tav tm="0">
                                          <p:val>
                                            <p:strVal val="#ppt_x"/>
                                          </p:val>
                                        </p:tav>
                                        <p:tav tm="100000">
                                          <p:val>
                                            <p:strVal val="#ppt_x"/>
                                          </p:val>
                                        </p:tav>
                                      </p:tavLst>
                                    </p:anim>
                                    <p:anim calcmode="lin" valueType="num">
                                      <p:cBhvr>
                                        <p:cTn id="21" dur="5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500"/>
                                        <p:tgtEl>
                                          <p:spTgt spid="7">
                                            <p:txEl>
                                              <p:pRg st="0" end="0"/>
                                            </p:txEl>
                                          </p:spTgt>
                                        </p:tgtEl>
                                      </p:cBhvr>
                                    </p:animEffect>
                                    <p:anim calcmode="lin" valueType="num">
                                      <p:cBhvr>
                                        <p:cTn id="26"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5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anim calcmode="lin" valueType="num">
                                      <p:cBhvr>
                                        <p:cTn id="38" dur="500" fill="hold"/>
                                        <p:tgtEl>
                                          <p:spTgt spid="4"/>
                                        </p:tgtEl>
                                        <p:attrNameLst>
                                          <p:attrName>ppt_x</p:attrName>
                                        </p:attrNameLst>
                                      </p:cBhvr>
                                      <p:tavLst>
                                        <p:tav tm="0">
                                          <p:val>
                                            <p:strVal val="#ppt_x"/>
                                          </p:val>
                                        </p:tav>
                                        <p:tav tm="100000">
                                          <p:val>
                                            <p:strVal val="#ppt_x"/>
                                          </p:val>
                                        </p:tav>
                                      </p:tavLst>
                                    </p:anim>
                                    <p:anim calcmode="lin" valueType="num">
                                      <p:cBhvr>
                                        <p:cTn id="39" dur="500" fill="hold"/>
                                        <p:tgtEl>
                                          <p:spTgt spid="4"/>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1" fill="hold">
                                          <p:stCondLst>
                                            <p:cond delay="0"/>
                                          </p:stCondLst>
                                        </p:cTn>
                                        <p:tgtEl>
                                          <p:spTgt spid="10">
                                            <p:txEl>
                                              <p:pRg st="0" end="0"/>
                                            </p:txEl>
                                          </p:spTgt>
                                        </p:tgtEl>
                                        <p:attrNameLst>
                                          <p:attrName>style.visibility</p:attrName>
                                        </p:attrNameLst>
                                      </p:cBhvr>
                                      <p:to>
                                        <p:strVal val="visible"/>
                                      </p:to>
                                    </p:set>
                                    <p:animEffect transition="in" filter="fade">
                                      <p:cBhvr>
                                        <p:cTn id="43" dur="500"/>
                                        <p:tgtEl>
                                          <p:spTgt spid="10">
                                            <p:txEl>
                                              <p:pRg st="0" end="0"/>
                                            </p:txEl>
                                          </p:spTgt>
                                        </p:tgtEl>
                                      </p:cBhvr>
                                    </p:animEffect>
                                    <p:anim calcmode="lin" valueType="num">
                                      <p:cBhvr>
                                        <p:cTn id="4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5" dur="5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53" presetClass="entr" presetSubtype="16"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childTnLst>
                          </p:cTn>
                        </p:par>
                        <p:par>
                          <p:cTn id="52" fill="hold">
                            <p:stCondLst>
                              <p:cond delay="4000"/>
                            </p:stCondLst>
                            <p:childTnLst>
                              <p:par>
                                <p:cTn id="53" presetID="12" presetClass="entr" presetSubtype="4" fill="hold" nodeType="afterEffect">
                                  <p:stCondLst>
                                    <p:cond delay="0"/>
                                  </p:stCondLst>
                                  <p:childTnLst>
                                    <p:set>
                                      <p:cBhvr>
                                        <p:cTn id="54" dur="1" fill="hold">
                                          <p:stCondLst>
                                            <p:cond delay="0"/>
                                          </p:stCondLst>
                                        </p:cTn>
                                        <p:tgtEl>
                                          <p:spTgt spid="16">
                                            <p:txEl>
                                              <p:pRg st="0" end="0"/>
                                            </p:txEl>
                                          </p:spTgt>
                                        </p:tgtEl>
                                        <p:attrNameLst>
                                          <p:attrName>style.visibility</p:attrName>
                                        </p:attrNameLst>
                                      </p:cBhvr>
                                      <p:to>
                                        <p:strVal val="visible"/>
                                      </p:to>
                                    </p:set>
                                    <p:anim calcmode="lin" valueType="num">
                                      <p:cBhvr additive="base">
                                        <p:cTn id="55" dur="500"/>
                                        <p:tgtEl>
                                          <p:spTgt spid="16">
                                            <p:txEl>
                                              <p:pRg st="0" end="0"/>
                                            </p:txEl>
                                          </p:spTgt>
                                        </p:tgtEl>
                                        <p:attrNameLst>
                                          <p:attrName>ppt_y</p:attrName>
                                        </p:attrNameLst>
                                      </p:cBhvr>
                                      <p:tavLst>
                                        <p:tav tm="0">
                                          <p:val>
                                            <p:strVal val="#ppt_y+#ppt_h*1.125000"/>
                                          </p:val>
                                        </p:tav>
                                        <p:tav tm="100000">
                                          <p:val>
                                            <p:strVal val="#ppt_y"/>
                                          </p:val>
                                        </p:tav>
                                      </p:tavLst>
                                    </p:anim>
                                    <p:animEffect transition="in" filter="wipe(up)">
                                      <p:cBhvr>
                                        <p:cTn id="56" dur="500"/>
                                        <p:tgtEl>
                                          <p:spTgt spid="16">
                                            <p:txEl>
                                              <p:pRg st="0" end="0"/>
                                            </p:txEl>
                                          </p:spTgt>
                                        </p:tgtEl>
                                      </p:cBhvr>
                                    </p:animEffect>
                                  </p:childTnLst>
                                </p:cTn>
                              </p:par>
                            </p:childTnLst>
                          </p:cTn>
                        </p:par>
                        <p:par>
                          <p:cTn id="57" fill="hold">
                            <p:stCondLst>
                              <p:cond delay="4500"/>
                            </p:stCondLst>
                            <p:childTnLst>
                              <p:par>
                                <p:cTn id="58" presetID="12" presetClass="entr" presetSubtype="4" fill="hold" nodeType="afterEffect">
                                  <p:stCondLst>
                                    <p:cond delay="0"/>
                                  </p:stCondLst>
                                  <p:childTnLst>
                                    <p:set>
                                      <p:cBhvr>
                                        <p:cTn id="59" dur="1" fill="hold">
                                          <p:stCondLst>
                                            <p:cond delay="0"/>
                                          </p:stCondLst>
                                        </p:cTn>
                                        <p:tgtEl>
                                          <p:spTgt spid="16">
                                            <p:txEl>
                                              <p:pRg st="1" end="1"/>
                                            </p:txEl>
                                          </p:spTgt>
                                        </p:tgtEl>
                                        <p:attrNameLst>
                                          <p:attrName>style.visibility</p:attrName>
                                        </p:attrNameLst>
                                      </p:cBhvr>
                                      <p:to>
                                        <p:strVal val="visible"/>
                                      </p:to>
                                    </p:set>
                                    <p:anim calcmode="lin" valueType="num">
                                      <p:cBhvr additive="base">
                                        <p:cTn id="60" dur="500"/>
                                        <p:tgtEl>
                                          <p:spTgt spid="16">
                                            <p:txEl>
                                              <p:pRg st="1" end="1"/>
                                            </p:txEl>
                                          </p:spTgt>
                                        </p:tgtEl>
                                        <p:attrNameLst>
                                          <p:attrName>ppt_y</p:attrName>
                                        </p:attrNameLst>
                                      </p:cBhvr>
                                      <p:tavLst>
                                        <p:tav tm="0">
                                          <p:val>
                                            <p:strVal val="#ppt_y+#ppt_h*1.125000"/>
                                          </p:val>
                                        </p:tav>
                                        <p:tav tm="100000">
                                          <p:val>
                                            <p:strVal val="#ppt_y"/>
                                          </p:val>
                                        </p:tav>
                                      </p:tavLst>
                                    </p:anim>
                                    <p:animEffect transition="in" filter="wipe(up)">
                                      <p:cBhvr>
                                        <p:cTn id="61" dur="500"/>
                                        <p:tgtEl>
                                          <p:spTgt spid="16">
                                            <p:txEl>
                                              <p:pRg st="1" end="1"/>
                                            </p:txEl>
                                          </p:spTgt>
                                        </p:tgtEl>
                                      </p:cBhvr>
                                    </p:animEffect>
                                  </p:childTnLst>
                                </p:cTn>
                              </p:par>
                            </p:childTnLst>
                          </p:cTn>
                        </p:par>
                        <p:par>
                          <p:cTn id="62" fill="hold">
                            <p:stCondLst>
                              <p:cond delay="5000"/>
                            </p:stCondLst>
                            <p:childTnLst>
                              <p:par>
                                <p:cTn id="63" presetID="12" presetClass="entr" presetSubtype="4" fill="hold" nodeType="afterEffect">
                                  <p:stCondLst>
                                    <p:cond delay="0"/>
                                  </p:stCondLst>
                                  <p:childTnLst>
                                    <p:set>
                                      <p:cBhvr>
                                        <p:cTn id="64" dur="1" fill="hold">
                                          <p:stCondLst>
                                            <p:cond delay="0"/>
                                          </p:stCondLst>
                                        </p:cTn>
                                        <p:tgtEl>
                                          <p:spTgt spid="16">
                                            <p:txEl>
                                              <p:pRg st="2" end="2"/>
                                            </p:txEl>
                                          </p:spTgt>
                                        </p:tgtEl>
                                        <p:attrNameLst>
                                          <p:attrName>style.visibility</p:attrName>
                                        </p:attrNameLst>
                                      </p:cBhvr>
                                      <p:to>
                                        <p:strVal val="visible"/>
                                      </p:to>
                                    </p:set>
                                    <p:anim calcmode="lin" valueType="num">
                                      <p:cBhvr additive="base">
                                        <p:cTn id="65" dur="500"/>
                                        <p:tgtEl>
                                          <p:spTgt spid="16">
                                            <p:txEl>
                                              <p:pRg st="2" end="2"/>
                                            </p:txEl>
                                          </p:spTgt>
                                        </p:tgtEl>
                                        <p:attrNameLst>
                                          <p:attrName>ppt_y</p:attrName>
                                        </p:attrNameLst>
                                      </p:cBhvr>
                                      <p:tavLst>
                                        <p:tav tm="0">
                                          <p:val>
                                            <p:strVal val="#ppt_y+#ppt_h*1.125000"/>
                                          </p:val>
                                        </p:tav>
                                        <p:tav tm="100000">
                                          <p:val>
                                            <p:strVal val="#ppt_y"/>
                                          </p:val>
                                        </p:tav>
                                      </p:tavLst>
                                    </p:anim>
                                    <p:animEffect transition="in" filter="wipe(up)">
                                      <p:cBhvr>
                                        <p:cTn id="66" dur="500"/>
                                        <p:tgtEl>
                                          <p:spTgt spid="16">
                                            <p:txEl>
                                              <p:pRg st="2" end="2"/>
                                            </p:txEl>
                                          </p:spTgt>
                                        </p:tgtEl>
                                      </p:cBhvr>
                                    </p:animEffect>
                                  </p:childTnLst>
                                </p:cTn>
                              </p:par>
                            </p:childTnLst>
                          </p:cTn>
                        </p:par>
                        <p:par>
                          <p:cTn id="67" fill="hold">
                            <p:stCondLst>
                              <p:cond delay="5500"/>
                            </p:stCondLst>
                            <p:childTnLst>
                              <p:par>
                                <p:cTn id="68" presetID="12" presetClass="entr" presetSubtype="4" fill="hold" nodeType="afterEffect">
                                  <p:stCondLst>
                                    <p:cond delay="0"/>
                                  </p:stCondLst>
                                  <p:childTnLst>
                                    <p:set>
                                      <p:cBhvr>
                                        <p:cTn id="69" dur="1" fill="hold">
                                          <p:stCondLst>
                                            <p:cond delay="0"/>
                                          </p:stCondLst>
                                        </p:cTn>
                                        <p:tgtEl>
                                          <p:spTgt spid="11">
                                            <p:txEl>
                                              <p:pRg st="0" end="0"/>
                                            </p:txEl>
                                          </p:spTgt>
                                        </p:tgtEl>
                                        <p:attrNameLst>
                                          <p:attrName>style.visibility</p:attrName>
                                        </p:attrNameLst>
                                      </p:cBhvr>
                                      <p:to>
                                        <p:strVal val="visible"/>
                                      </p:to>
                                    </p:set>
                                    <p:anim calcmode="lin" valueType="num">
                                      <p:cBhvr additive="base">
                                        <p:cTn id="70"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up)">
                                      <p:cBhvr>
                                        <p:cTn id="71"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4" grpId="0" animBg="1"/>
      <p:bldP spid="7" grpId="0" build="p"/>
      <p:bldP spid="10" grpId="0" build="p"/>
      <p:bldP spid="2"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ED994-C2A4-7CF6-88F7-330CDA81B6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DD2149-A064-E83A-B920-2F2ED90C30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8C589A42-CC35-3262-4DCC-82BBED60D7BE}"/>
              </a:ext>
            </a:extLst>
          </p:cNvPr>
          <p:cNvSpPr>
            <a:spLocks noGrp="1"/>
          </p:cNvSpPr>
          <p:nvPr>
            <p:ph type="title"/>
          </p:nvPr>
        </p:nvSpPr>
        <p:spPr>
          <a:xfrm>
            <a:off x="838200" y="179146"/>
            <a:ext cx="10515600" cy="1047051"/>
          </a:xfrm>
        </p:spPr>
        <p:txBody>
          <a:bodyPr/>
          <a:lstStyle/>
          <a:p>
            <a:pPr algn="ctr"/>
            <a:r>
              <a:rPr lang="en-IN" u="sng" dirty="0">
                <a:latin typeface="Castellar" panose="020A0402060406010301" pitchFamily="18" charset="0"/>
              </a:rPr>
              <a:t>Helper Columns Created</a:t>
            </a:r>
          </a:p>
        </p:txBody>
      </p:sp>
      <p:sp>
        <p:nvSpPr>
          <p:cNvPr id="4" name="Arrow: Pentagon 3">
            <a:extLst>
              <a:ext uri="{FF2B5EF4-FFF2-40B4-BE49-F238E27FC236}">
                <a16:creationId xmlns:a16="http://schemas.microsoft.com/office/drawing/2014/main" id="{C92FDE66-B8F1-8884-2FE6-0202C4790CA1}"/>
              </a:ext>
            </a:extLst>
          </p:cNvPr>
          <p:cNvSpPr/>
          <p:nvPr/>
        </p:nvSpPr>
        <p:spPr>
          <a:xfrm>
            <a:off x="508000" y="4193315"/>
            <a:ext cx="5613058" cy="238617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559A868F-8F59-3DE5-4DB3-C73A9E248615}"/>
              </a:ext>
            </a:extLst>
          </p:cNvPr>
          <p:cNvSpPr>
            <a:spLocks noGrp="1"/>
          </p:cNvSpPr>
          <p:nvPr>
            <p:ph sz="half" idx="2"/>
          </p:nvPr>
        </p:nvSpPr>
        <p:spPr>
          <a:xfrm>
            <a:off x="508000" y="1042218"/>
            <a:ext cx="10845800" cy="5636636"/>
          </a:xfrm>
        </p:spPr>
        <p:txBody>
          <a:bodyPr>
            <a:normAutofit/>
          </a:bodyPr>
          <a:lstStyle/>
          <a:p>
            <a:pPr marL="0" lvl="0" indent="0" eaLnBrk="0" fontAlgn="base" hangingPunct="0">
              <a:lnSpc>
                <a:spcPct val="100000"/>
              </a:lnSpc>
              <a:spcBef>
                <a:spcPct val="0"/>
              </a:spcBef>
              <a:spcAft>
                <a:spcPct val="0"/>
              </a:spcAft>
              <a:buFontTx/>
              <a:buChar char="•"/>
            </a:pPr>
            <a:r>
              <a:rPr lang="en-US" altLang="en-US" sz="2400" b="1" dirty="0">
                <a:latin typeface="Garamond" panose="02020404030301010803" pitchFamily="18" charset="0"/>
              </a:rPr>
              <a:t>Cleaned Gender:</a:t>
            </a:r>
            <a:r>
              <a:rPr lang="en-US" altLang="en-US" sz="2400" dirty="0">
                <a:latin typeface="Garamond" panose="02020404030301010803" pitchFamily="18" charset="0"/>
              </a:rPr>
              <a:t> Standardized gender values (Male / Female)</a:t>
            </a:r>
          </a:p>
          <a:p>
            <a:pPr marL="0" lvl="0" indent="0" eaLnBrk="0" fontAlgn="base" hangingPunct="0">
              <a:lnSpc>
                <a:spcPct val="100000"/>
              </a:lnSpc>
              <a:spcBef>
                <a:spcPct val="0"/>
              </a:spcBef>
              <a:spcAft>
                <a:spcPct val="0"/>
              </a:spcAft>
              <a:buFontTx/>
              <a:buChar char="•"/>
            </a:pPr>
            <a:r>
              <a:rPr lang="en-US" altLang="en-US" sz="2400" b="1" dirty="0">
                <a:latin typeface="Garamond" panose="02020404030301010803" pitchFamily="18" charset="0"/>
              </a:rPr>
              <a:t>Cleaned Quantity (Numeric):</a:t>
            </a:r>
            <a:r>
              <a:rPr lang="en-US" altLang="en-US" sz="2400" dirty="0">
                <a:latin typeface="Garamond" panose="02020404030301010803" pitchFamily="18" charset="0"/>
              </a:rPr>
              <a:t> All quantities converted to numbers</a:t>
            </a:r>
          </a:p>
          <a:p>
            <a:pPr marL="0" lvl="0" indent="0" eaLnBrk="0" fontAlgn="base" hangingPunct="0">
              <a:lnSpc>
                <a:spcPct val="100000"/>
              </a:lnSpc>
              <a:spcBef>
                <a:spcPct val="0"/>
              </a:spcBef>
              <a:spcAft>
                <a:spcPct val="0"/>
              </a:spcAft>
              <a:buFontTx/>
              <a:buChar char="•"/>
            </a:pPr>
            <a:r>
              <a:rPr lang="en-US" altLang="en-US" sz="2400" b="1" dirty="0">
                <a:latin typeface="Garamond" panose="02020404030301010803" pitchFamily="18" charset="0"/>
              </a:rPr>
              <a:t>Order Month:</a:t>
            </a:r>
            <a:r>
              <a:rPr lang="en-US" altLang="en-US" sz="2400" dirty="0">
                <a:latin typeface="Garamond" panose="02020404030301010803" pitchFamily="18" charset="0"/>
              </a:rPr>
              <a:t> Extracted month from Order Date for trend analysis</a:t>
            </a:r>
          </a:p>
          <a:p>
            <a:pPr marL="0" lvl="0" indent="0" eaLnBrk="0" fontAlgn="base" hangingPunct="0">
              <a:lnSpc>
                <a:spcPct val="100000"/>
              </a:lnSpc>
              <a:spcBef>
                <a:spcPct val="0"/>
              </a:spcBef>
              <a:spcAft>
                <a:spcPct val="0"/>
              </a:spcAft>
              <a:buFontTx/>
              <a:buChar char="•"/>
            </a:pPr>
            <a:r>
              <a:rPr lang="en-US" altLang="en-US" sz="2400" b="1" dirty="0">
                <a:latin typeface="Garamond" panose="02020404030301010803" pitchFamily="18" charset="0"/>
              </a:rPr>
              <a:t>Age Group:</a:t>
            </a:r>
            <a:r>
              <a:rPr lang="en-US" altLang="en-US" sz="2400" dirty="0">
                <a:latin typeface="Garamond" panose="02020404030301010803" pitchFamily="18" charset="0"/>
              </a:rPr>
              <a:t> Categorized customers into: 18–25, 26–30 ,31–35, 36-40, 41-45, 46-50, 55-60, 60+</a:t>
            </a:r>
          </a:p>
          <a:p>
            <a:pPr marL="0" indent="0" algn="ctr">
              <a:lnSpc>
                <a:spcPct val="120000"/>
              </a:lnSpc>
              <a:buNone/>
            </a:pPr>
            <a:r>
              <a:rPr lang="en-US" sz="3600" u="sng" dirty="0">
                <a:latin typeface="Castellar" panose="020A0402060406010301" pitchFamily="18" charset="0"/>
              </a:rPr>
              <a:t>Why This Matters</a:t>
            </a:r>
            <a:endParaRPr lang="en-US" altLang="en-US" sz="1100" dirty="0">
              <a:latin typeface="Arial" panose="020B0604020202020204" pitchFamily="34" charset="0"/>
            </a:endParaRPr>
          </a:p>
          <a:p>
            <a:pPr marL="0" lvl="0" indent="0" algn="ctr" eaLnBrk="0" fontAlgn="base" hangingPunct="0">
              <a:lnSpc>
                <a:spcPct val="120000"/>
              </a:lnSpc>
              <a:spcBef>
                <a:spcPct val="0"/>
              </a:spcBef>
              <a:spcAft>
                <a:spcPct val="0"/>
              </a:spcAft>
              <a:buNone/>
            </a:pPr>
            <a:r>
              <a:rPr lang="en-US" altLang="en-US" sz="1100" dirty="0">
                <a:latin typeface="Arial" panose="020B0604020202020204" pitchFamily="34" charset="0"/>
              </a:rPr>
              <a:t>                             </a:t>
            </a:r>
            <a:endParaRPr lang="en-IN" sz="1100" dirty="0"/>
          </a:p>
        </p:txBody>
      </p:sp>
      <p:sp>
        <p:nvSpPr>
          <p:cNvPr id="16" name="Content Placeholder 10">
            <a:extLst>
              <a:ext uri="{FF2B5EF4-FFF2-40B4-BE49-F238E27FC236}">
                <a16:creationId xmlns:a16="http://schemas.microsoft.com/office/drawing/2014/main" id="{CC5A7B5D-6BA2-6134-B83A-557556D6E0D4}"/>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TextBox 5">
            <a:extLst>
              <a:ext uri="{FF2B5EF4-FFF2-40B4-BE49-F238E27FC236}">
                <a16:creationId xmlns:a16="http://schemas.microsoft.com/office/drawing/2014/main" id="{3776314C-B2FB-42F3-9C17-076D69897ED8}"/>
              </a:ext>
            </a:extLst>
          </p:cNvPr>
          <p:cNvSpPr txBox="1"/>
          <p:nvPr/>
        </p:nvSpPr>
        <p:spPr>
          <a:xfrm>
            <a:off x="6222523" y="4365133"/>
            <a:ext cx="5461477" cy="2101281"/>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sz="2200" dirty="0">
                <a:latin typeface="Garamond" panose="02020404030301010803" pitchFamily="18" charset="0"/>
              </a:rPr>
              <a:t>Ensures accurate analysis and reporting</a:t>
            </a:r>
          </a:p>
          <a:p>
            <a:pPr marL="285750" indent="-285750">
              <a:lnSpc>
                <a:spcPct val="120000"/>
              </a:lnSpc>
              <a:buFont typeface="Wingdings" panose="05000000000000000000" pitchFamily="2" charset="2"/>
              <a:buChar char="ü"/>
            </a:pPr>
            <a:r>
              <a:rPr lang="en-US" sz="2200" dirty="0">
                <a:latin typeface="Garamond" panose="02020404030301010803" pitchFamily="18" charset="0"/>
              </a:rPr>
              <a:t>Improves reliability of pivot tables &amp; dashboards</a:t>
            </a:r>
          </a:p>
          <a:p>
            <a:pPr marL="285750" indent="-285750">
              <a:lnSpc>
                <a:spcPct val="120000"/>
              </a:lnSpc>
              <a:buFont typeface="Wingdings" panose="05000000000000000000" pitchFamily="2" charset="2"/>
              <a:buChar char="ü"/>
            </a:pPr>
            <a:r>
              <a:rPr lang="en-US" sz="2200" dirty="0">
                <a:latin typeface="Garamond" panose="02020404030301010803" pitchFamily="18" charset="0"/>
              </a:rPr>
              <a:t>Makes data ready for meaningful business insights</a:t>
            </a:r>
          </a:p>
        </p:txBody>
      </p:sp>
    </p:spTree>
    <p:extLst>
      <p:ext uri="{BB962C8B-B14F-4D97-AF65-F5344CB8AC3E}">
        <p14:creationId xmlns:p14="http://schemas.microsoft.com/office/powerpoint/2010/main" val="3150363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8" presetClass="entr" presetSubtype="12" fill="hold"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strips(downLeft)">
                                      <p:cBhvr>
                                        <p:cTn id="13" dur="500"/>
                                        <p:tgtEl>
                                          <p:spTgt spid="3">
                                            <p:txEl>
                                              <p:pRg st="0" end="0"/>
                                            </p:txEl>
                                          </p:spTgt>
                                        </p:tgtEl>
                                      </p:cBhvr>
                                    </p:animEffect>
                                  </p:childTnLst>
                                </p:cTn>
                              </p:par>
                            </p:childTnLst>
                          </p:cTn>
                        </p:par>
                        <p:par>
                          <p:cTn id="14" fill="hold">
                            <p:stCondLst>
                              <p:cond delay="1000"/>
                            </p:stCondLst>
                            <p:childTnLst>
                              <p:par>
                                <p:cTn id="15" presetID="18" presetClass="entr" presetSubtype="12" fill="hold"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trips(downLeft)">
                                      <p:cBhvr>
                                        <p:cTn id="17" dur="500"/>
                                        <p:tgtEl>
                                          <p:spTgt spid="3">
                                            <p:txEl>
                                              <p:pRg st="1" end="1"/>
                                            </p:txEl>
                                          </p:spTgt>
                                        </p:tgtEl>
                                      </p:cBhvr>
                                    </p:animEffect>
                                  </p:childTnLst>
                                </p:cTn>
                              </p:par>
                            </p:childTnLst>
                          </p:cTn>
                        </p:par>
                        <p:par>
                          <p:cTn id="18" fill="hold">
                            <p:stCondLst>
                              <p:cond delay="1500"/>
                            </p:stCondLst>
                            <p:childTnLst>
                              <p:par>
                                <p:cTn id="19" presetID="18" presetClass="entr" presetSubtype="12" fill="hold"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strips(downLeft)">
                                      <p:cBhvr>
                                        <p:cTn id="21" dur="500"/>
                                        <p:tgtEl>
                                          <p:spTgt spid="3">
                                            <p:txEl>
                                              <p:pRg st="2" end="2"/>
                                            </p:txEl>
                                          </p:spTgt>
                                        </p:tgtEl>
                                      </p:cBhvr>
                                    </p:animEffect>
                                  </p:childTnLst>
                                </p:cTn>
                              </p:par>
                            </p:childTnLst>
                          </p:cTn>
                        </p:par>
                        <p:par>
                          <p:cTn id="22" fill="hold">
                            <p:stCondLst>
                              <p:cond delay="2000"/>
                            </p:stCondLst>
                            <p:childTnLst>
                              <p:par>
                                <p:cTn id="23" presetID="18" presetClass="entr" presetSubtype="12" fill="hold"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strips(downLeft)">
                                      <p:cBhvr>
                                        <p:cTn id="25" dur="500"/>
                                        <p:tgtEl>
                                          <p:spTgt spid="3">
                                            <p:txEl>
                                              <p:pRg st="3" end="3"/>
                                            </p:txEl>
                                          </p:spTgt>
                                        </p:tgtEl>
                                      </p:cBhvr>
                                    </p:animEffect>
                                  </p:childTnLst>
                                </p:cTn>
                              </p:par>
                            </p:childTnLst>
                          </p:cTn>
                        </p:par>
                        <p:par>
                          <p:cTn id="26" fill="hold">
                            <p:stCondLst>
                              <p:cond delay="2500"/>
                            </p:stCondLst>
                            <p:childTnLst>
                              <p:par>
                                <p:cTn id="27" presetID="53" presetClass="entr" presetSubtype="16" fill="hold"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p:cTn id="2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3">
                                            <p:txEl>
                                              <p:pRg st="4" end="4"/>
                                            </p:txEl>
                                          </p:spTgt>
                                        </p:tgtEl>
                                      </p:cBhvr>
                                    </p:animEffect>
                                  </p:childTnLst>
                                </p:cTn>
                              </p:par>
                            </p:childTnLst>
                          </p:cTn>
                        </p:par>
                        <p:par>
                          <p:cTn id="32" fill="hold">
                            <p:stCondLst>
                              <p:cond delay="3000"/>
                            </p:stCondLst>
                            <p:childTnLst>
                              <p:par>
                                <p:cTn id="33" presetID="63" presetClass="path" presetSubtype="0" accel="50000" decel="50000" fill="hold" grpId="0" nodeType="afterEffect">
                                  <p:stCondLst>
                                    <p:cond delay="0"/>
                                  </p:stCondLst>
                                  <p:childTnLst>
                                    <p:animMotion origin="layout" path="M 5E-6 3.33333E-6 L 0.46042 -0.00718 " pathEditMode="relative" rAng="0" ptsTypes="AA">
                                      <p:cBhvr>
                                        <p:cTn id="34" dur="2000" fill="hold"/>
                                        <p:tgtEl>
                                          <p:spTgt spid="4"/>
                                        </p:tgtEl>
                                        <p:attrNameLst>
                                          <p:attrName>ppt_x</p:attrName>
                                          <p:attrName>ppt_y</p:attrName>
                                        </p:attrNameLst>
                                      </p:cBhvr>
                                      <p:rCtr x="23021"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4242B-7FE3-0FD8-BFDD-55282CB584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B5A2EAE-5594-51AA-7589-41C7CEA3C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61D81CD9-7DAE-3E5A-8AFA-9517C5756CE4}"/>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8" name="Title 7">
            <a:extLst>
              <a:ext uri="{FF2B5EF4-FFF2-40B4-BE49-F238E27FC236}">
                <a16:creationId xmlns:a16="http://schemas.microsoft.com/office/drawing/2014/main" id="{BCF3BC00-3ADF-1BCC-84C5-09C30851B743}"/>
              </a:ext>
            </a:extLst>
          </p:cNvPr>
          <p:cNvSpPr>
            <a:spLocks noGrp="1"/>
          </p:cNvSpPr>
          <p:nvPr>
            <p:ph type="title"/>
          </p:nvPr>
        </p:nvSpPr>
        <p:spPr>
          <a:xfrm>
            <a:off x="936522" y="18256"/>
            <a:ext cx="10515600" cy="1004300"/>
          </a:xfrm>
        </p:spPr>
        <p:txBody>
          <a:bodyPr>
            <a:normAutofit/>
          </a:bodyPr>
          <a:lstStyle/>
          <a:p>
            <a:pPr algn="ctr"/>
            <a:r>
              <a:rPr lang="en-IN" sz="3600" u="sng" dirty="0">
                <a:latin typeface="Castellar" panose="020A0402060406010301" pitchFamily="18" charset="0"/>
              </a:rPr>
              <a:t>Exploratory Data Analysis (EDA)</a:t>
            </a:r>
          </a:p>
        </p:txBody>
      </p:sp>
      <p:graphicFrame>
        <p:nvGraphicFramePr>
          <p:cNvPr id="20" name="Content Placeholder 19">
            <a:extLst>
              <a:ext uri="{FF2B5EF4-FFF2-40B4-BE49-F238E27FC236}">
                <a16:creationId xmlns:a16="http://schemas.microsoft.com/office/drawing/2014/main" id="{392ACF35-6161-5A87-2145-CBD7A2DE9159}"/>
              </a:ext>
            </a:extLst>
          </p:cNvPr>
          <p:cNvGraphicFramePr>
            <a:graphicFrameLocks noGrp="1"/>
          </p:cNvGraphicFramePr>
          <p:nvPr>
            <p:ph sz="half" idx="2"/>
            <p:extLst>
              <p:ext uri="{D42A27DB-BD31-4B8C-83A1-F6EECF244321}">
                <p14:modId xmlns:p14="http://schemas.microsoft.com/office/powerpoint/2010/main" val="1318232163"/>
              </p:ext>
            </p:extLst>
          </p:nvPr>
        </p:nvGraphicFramePr>
        <p:xfrm>
          <a:off x="838200" y="1022556"/>
          <a:ext cx="10515600" cy="5556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63692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FEDC-1383-AAF1-760C-E75D1E05A6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FE1217-668E-87FB-2775-327989AD4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F958C67E-105C-AC9B-0790-6ADD27AD5412}"/>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8" name="Title 7">
            <a:extLst>
              <a:ext uri="{FF2B5EF4-FFF2-40B4-BE49-F238E27FC236}">
                <a16:creationId xmlns:a16="http://schemas.microsoft.com/office/drawing/2014/main" id="{0910E128-A84B-DD8C-4F09-174A9368C96E}"/>
              </a:ext>
            </a:extLst>
          </p:cNvPr>
          <p:cNvSpPr>
            <a:spLocks noGrp="1"/>
          </p:cNvSpPr>
          <p:nvPr>
            <p:ph type="title"/>
          </p:nvPr>
        </p:nvSpPr>
        <p:spPr>
          <a:xfrm>
            <a:off x="936522" y="18256"/>
            <a:ext cx="10515600" cy="1004300"/>
          </a:xfrm>
        </p:spPr>
        <p:txBody>
          <a:bodyPr>
            <a:normAutofit/>
          </a:bodyPr>
          <a:lstStyle/>
          <a:p>
            <a:pPr algn="ctr"/>
            <a:r>
              <a:rPr lang="en-IN" sz="4000" u="sng" dirty="0">
                <a:latin typeface="Castellar" panose="020A0402060406010301" pitchFamily="18" charset="0"/>
              </a:rPr>
              <a:t>Geographic Performance</a:t>
            </a:r>
          </a:p>
        </p:txBody>
      </p:sp>
      <p:graphicFrame>
        <p:nvGraphicFramePr>
          <p:cNvPr id="20" name="Content Placeholder 19">
            <a:extLst>
              <a:ext uri="{FF2B5EF4-FFF2-40B4-BE49-F238E27FC236}">
                <a16:creationId xmlns:a16="http://schemas.microsoft.com/office/drawing/2014/main" id="{89D17509-63D9-302D-1D6A-DCAEB098F5A4}"/>
              </a:ext>
            </a:extLst>
          </p:cNvPr>
          <p:cNvGraphicFramePr>
            <a:graphicFrameLocks noGrp="1"/>
          </p:cNvGraphicFramePr>
          <p:nvPr>
            <p:ph sz="half" idx="2"/>
            <p:extLst>
              <p:ext uri="{D42A27DB-BD31-4B8C-83A1-F6EECF244321}">
                <p14:modId xmlns:p14="http://schemas.microsoft.com/office/powerpoint/2010/main" val="40784123"/>
              </p:ext>
            </p:extLst>
          </p:nvPr>
        </p:nvGraphicFramePr>
        <p:xfrm>
          <a:off x="845574" y="934064"/>
          <a:ext cx="10687664" cy="59056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822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D9ACF-7151-9818-61F3-C67A0213B1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93F54B-05A2-A2BE-5B14-491779B59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67516DBE-145E-63A1-1CCA-6D59254AAA8B}"/>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7" name="Title 16">
            <a:extLst>
              <a:ext uri="{FF2B5EF4-FFF2-40B4-BE49-F238E27FC236}">
                <a16:creationId xmlns:a16="http://schemas.microsoft.com/office/drawing/2014/main" id="{5143952C-763B-D509-3E78-E523F0BACB45}"/>
              </a:ext>
            </a:extLst>
          </p:cNvPr>
          <p:cNvSpPr>
            <a:spLocks noGrp="1"/>
          </p:cNvSpPr>
          <p:nvPr>
            <p:ph type="title"/>
          </p:nvPr>
        </p:nvSpPr>
        <p:spPr>
          <a:xfrm>
            <a:off x="838200" y="86614"/>
            <a:ext cx="10515600" cy="883572"/>
          </a:xfrm>
        </p:spPr>
        <p:txBody>
          <a:bodyPr>
            <a:normAutofit/>
          </a:bodyPr>
          <a:lstStyle/>
          <a:p>
            <a:pPr algn="ctr"/>
            <a:r>
              <a:rPr lang="en-IN" sz="4000" u="sng" dirty="0">
                <a:latin typeface="Castellar" panose="020A0402060406010301" pitchFamily="18" charset="0"/>
              </a:rPr>
              <a:t>Pivot Tables</a:t>
            </a:r>
          </a:p>
        </p:txBody>
      </p:sp>
      <p:sp>
        <p:nvSpPr>
          <p:cNvPr id="18" name="Content Placeholder 17">
            <a:extLst>
              <a:ext uri="{FF2B5EF4-FFF2-40B4-BE49-F238E27FC236}">
                <a16:creationId xmlns:a16="http://schemas.microsoft.com/office/drawing/2014/main" id="{650D9250-0FDC-88F8-4769-7E5D54F18CEB}"/>
              </a:ext>
            </a:extLst>
          </p:cNvPr>
          <p:cNvSpPr>
            <a:spLocks noGrp="1"/>
          </p:cNvSpPr>
          <p:nvPr>
            <p:ph sz="half" idx="2"/>
          </p:nvPr>
        </p:nvSpPr>
        <p:spPr>
          <a:xfrm>
            <a:off x="568960" y="970186"/>
            <a:ext cx="11531600" cy="5801200"/>
          </a:xfrm>
        </p:spPr>
        <p:txBody>
          <a:bodyPr>
            <a:normAutofit fontScale="70000" lnSpcReduction="20000"/>
          </a:bodyPr>
          <a:lstStyle/>
          <a:p>
            <a:r>
              <a:rPr lang="en-US" sz="2300" dirty="0"/>
              <a:t>Pivot Tables were used to </a:t>
            </a:r>
            <a:r>
              <a:rPr lang="en-US" sz="2300" b="1" dirty="0"/>
              <a:t>summarize, analyze, and compare large datasets efficiently</a:t>
            </a:r>
            <a:r>
              <a:rPr lang="en-US" sz="2300" dirty="0"/>
              <a:t>.</a:t>
            </a:r>
          </a:p>
          <a:p>
            <a:r>
              <a:rPr lang="en-US" sz="2300" dirty="0"/>
              <a:t>They help convert raw transactional data into </a:t>
            </a:r>
            <a:r>
              <a:rPr lang="en-US" sz="2300" b="1" dirty="0"/>
              <a:t>meaningful business insights</a:t>
            </a:r>
            <a:r>
              <a:rPr lang="en-US" sz="2300" dirty="0"/>
              <a:t> through aggregation and segmentation.</a:t>
            </a:r>
          </a:p>
          <a:p>
            <a:r>
              <a:rPr lang="en-US" sz="2300" dirty="0"/>
              <a:t>For all percentage-based analyses, </a:t>
            </a:r>
            <a:r>
              <a:rPr lang="en-US" sz="2300" b="1" dirty="0"/>
              <a:t>Show Values As → % of Grand Total</a:t>
            </a:r>
            <a:r>
              <a:rPr lang="en-US" sz="2300" dirty="0"/>
              <a:t> was used to ensure accurate comparison across groups.</a:t>
            </a:r>
          </a:p>
          <a:p>
            <a:pPr marL="514350" indent="-514350">
              <a:buFont typeface="+mj-lt"/>
              <a:buAutoNum type="alphaLcParenR"/>
            </a:pPr>
            <a:r>
              <a:rPr lang="en-US" b="1" u="sng" dirty="0">
                <a:solidFill>
                  <a:srgbClr val="FF0000"/>
                </a:solidFill>
              </a:rPr>
              <a:t>Channel × Revenue × Order Count</a:t>
            </a:r>
          </a:p>
          <a:p>
            <a:pPr marL="0" indent="0" algn="ctr">
              <a:buNone/>
            </a:pPr>
            <a:r>
              <a:rPr lang="en-US" dirty="0"/>
              <a:t>                                     Analyzes total revenue and number of orders across different sales channels.</a:t>
            </a:r>
          </a:p>
          <a:p>
            <a:pPr marL="0" indent="0" algn="ctr">
              <a:buNone/>
            </a:pPr>
            <a:r>
              <a:rPr lang="en-US" dirty="0"/>
              <a:t>  Helps identify </a:t>
            </a:r>
            <a:r>
              <a:rPr lang="en-US" b="1" dirty="0"/>
              <a:t>high-performing and high-volume channels</a:t>
            </a:r>
            <a:r>
              <a:rPr lang="en-US" dirty="0"/>
              <a:t>.</a:t>
            </a:r>
          </a:p>
          <a:p>
            <a:pPr marL="0" indent="0">
              <a:buNone/>
            </a:pPr>
            <a:r>
              <a:rPr lang="en-US" b="1" dirty="0">
                <a:solidFill>
                  <a:srgbClr val="FF0000"/>
                </a:solidFill>
              </a:rPr>
              <a:t>b)     </a:t>
            </a:r>
            <a:r>
              <a:rPr lang="en-US" b="1" u="sng" dirty="0">
                <a:solidFill>
                  <a:srgbClr val="FF0000"/>
                </a:solidFill>
              </a:rPr>
              <a:t>Gender × Category × Revenue %</a:t>
            </a:r>
          </a:p>
          <a:p>
            <a:pPr marL="0" indent="0" algn="ctr">
              <a:buNone/>
            </a:pPr>
            <a:r>
              <a:rPr lang="en-US" dirty="0"/>
              <a:t>                                 Shows how revenue is distributed across product categories for each gender.</a:t>
            </a:r>
          </a:p>
          <a:p>
            <a:pPr marL="0" indent="0" algn="ctr">
              <a:buNone/>
            </a:pPr>
            <a:r>
              <a:rPr lang="en-US" dirty="0"/>
              <a:t>                                           Percentage view helps understand </a:t>
            </a:r>
            <a:r>
              <a:rPr lang="en-US" b="1" dirty="0"/>
              <a:t>relative contribution</a:t>
            </a:r>
            <a:r>
              <a:rPr lang="en-US" dirty="0"/>
              <a:t>, not just absolute values.</a:t>
            </a:r>
          </a:p>
          <a:p>
            <a:pPr marL="0" indent="0">
              <a:buNone/>
            </a:pPr>
            <a:r>
              <a:rPr lang="en-US" b="1" dirty="0">
                <a:solidFill>
                  <a:srgbClr val="FF0000"/>
                </a:solidFill>
              </a:rPr>
              <a:t>c)        </a:t>
            </a:r>
            <a:r>
              <a:rPr lang="en-US" b="1" u="sng" dirty="0">
                <a:solidFill>
                  <a:srgbClr val="FF0000"/>
                </a:solidFill>
              </a:rPr>
              <a:t>State × Status (Cancellation Rate)</a:t>
            </a:r>
          </a:p>
          <a:p>
            <a:pPr marL="0" indent="0">
              <a:buNone/>
            </a:pPr>
            <a:r>
              <a:rPr lang="en-US" dirty="0"/>
              <a:t>                                              Analyzes order status distribution across states.</a:t>
            </a:r>
          </a:p>
          <a:p>
            <a:pPr marL="0" indent="0" algn="ctr">
              <a:buNone/>
            </a:pPr>
            <a:r>
              <a:rPr lang="en-US" dirty="0"/>
              <a:t>                             Helps identify regions with </a:t>
            </a:r>
            <a:r>
              <a:rPr lang="en-US" b="1" dirty="0"/>
              <a:t>higher cancellation rates</a:t>
            </a:r>
            <a:r>
              <a:rPr lang="en-US" dirty="0"/>
              <a:t>, indicating potential                                logistics or demand issues.</a:t>
            </a:r>
          </a:p>
          <a:p>
            <a:pPr marL="514350" indent="-514350">
              <a:buAutoNum type="alphaLcParenR" startAt="4"/>
            </a:pPr>
            <a:r>
              <a:rPr lang="en-US" b="1" u="sng" dirty="0">
                <a:solidFill>
                  <a:srgbClr val="FF0000"/>
                </a:solidFill>
              </a:rPr>
              <a:t>Month × Revenue (Trend Analysis)</a:t>
            </a:r>
          </a:p>
          <a:p>
            <a:pPr marL="0" indent="0">
              <a:buNone/>
            </a:pPr>
            <a:r>
              <a:rPr lang="en-US" dirty="0"/>
              <a:t>                                              Displays revenue trends over time on a monthly basis.</a:t>
            </a:r>
          </a:p>
          <a:p>
            <a:pPr marL="0" indent="0">
              <a:buNone/>
            </a:pPr>
            <a:r>
              <a:rPr lang="en-US" dirty="0"/>
              <a:t>                                              Helps detect </a:t>
            </a:r>
            <a:r>
              <a:rPr lang="en-US" b="1" dirty="0"/>
              <a:t>seasonality, growth patterns, and performance fluctuations</a:t>
            </a:r>
            <a:r>
              <a:rPr lang="en-US" dirty="0"/>
              <a:t>.</a:t>
            </a:r>
          </a:p>
          <a:p>
            <a:endParaRPr lang="en-IN" dirty="0"/>
          </a:p>
        </p:txBody>
      </p:sp>
      <p:cxnSp>
        <p:nvCxnSpPr>
          <p:cNvPr id="3" name="Straight Arrow Connector 2">
            <a:extLst>
              <a:ext uri="{FF2B5EF4-FFF2-40B4-BE49-F238E27FC236}">
                <a16:creationId xmlns:a16="http://schemas.microsoft.com/office/drawing/2014/main" id="{F0DA6980-AE54-AD3A-14EB-86E7E85403CD}"/>
              </a:ext>
            </a:extLst>
          </p:cNvPr>
          <p:cNvCxnSpPr>
            <a:cxnSpLocks/>
          </p:cNvCxnSpPr>
          <p:nvPr/>
        </p:nvCxnSpPr>
        <p:spPr>
          <a:xfrm>
            <a:off x="2468880" y="2471585"/>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Arrow Connector 6">
            <a:extLst>
              <a:ext uri="{FF2B5EF4-FFF2-40B4-BE49-F238E27FC236}">
                <a16:creationId xmlns:a16="http://schemas.microsoft.com/office/drawing/2014/main" id="{3C971460-CF44-DFDE-E318-A21916FCAD99}"/>
              </a:ext>
            </a:extLst>
          </p:cNvPr>
          <p:cNvCxnSpPr>
            <a:cxnSpLocks/>
          </p:cNvCxnSpPr>
          <p:nvPr/>
        </p:nvCxnSpPr>
        <p:spPr>
          <a:xfrm>
            <a:off x="2468880" y="2863320"/>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Arrow Connector 7">
            <a:extLst>
              <a:ext uri="{FF2B5EF4-FFF2-40B4-BE49-F238E27FC236}">
                <a16:creationId xmlns:a16="http://schemas.microsoft.com/office/drawing/2014/main" id="{7ABE7702-F9E9-9B20-BF8C-B84E17EA38BC}"/>
              </a:ext>
            </a:extLst>
          </p:cNvPr>
          <p:cNvCxnSpPr>
            <a:cxnSpLocks/>
          </p:cNvCxnSpPr>
          <p:nvPr/>
        </p:nvCxnSpPr>
        <p:spPr>
          <a:xfrm>
            <a:off x="2418080" y="4536890"/>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Straight Arrow Connector 8">
            <a:extLst>
              <a:ext uri="{FF2B5EF4-FFF2-40B4-BE49-F238E27FC236}">
                <a16:creationId xmlns:a16="http://schemas.microsoft.com/office/drawing/2014/main" id="{BED6D388-1D47-F8C9-F3B6-65D6F29DDEB6}"/>
              </a:ext>
            </a:extLst>
          </p:cNvPr>
          <p:cNvCxnSpPr>
            <a:cxnSpLocks/>
          </p:cNvCxnSpPr>
          <p:nvPr/>
        </p:nvCxnSpPr>
        <p:spPr>
          <a:xfrm>
            <a:off x="2418080" y="3548367"/>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2AE366BF-E14D-D8BE-60E3-27D5D28E6CCB}"/>
              </a:ext>
            </a:extLst>
          </p:cNvPr>
          <p:cNvCxnSpPr>
            <a:cxnSpLocks/>
          </p:cNvCxnSpPr>
          <p:nvPr/>
        </p:nvCxnSpPr>
        <p:spPr>
          <a:xfrm>
            <a:off x="2438400" y="3922788"/>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9E97BFA-B099-7928-8F70-8458555251CD}"/>
              </a:ext>
            </a:extLst>
          </p:cNvPr>
          <p:cNvCxnSpPr>
            <a:cxnSpLocks/>
          </p:cNvCxnSpPr>
          <p:nvPr/>
        </p:nvCxnSpPr>
        <p:spPr>
          <a:xfrm>
            <a:off x="2418080" y="4924385"/>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3922214E-9FF0-9DED-F214-8CABFB4CF474}"/>
              </a:ext>
            </a:extLst>
          </p:cNvPr>
          <p:cNvCxnSpPr>
            <a:cxnSpLocks/>
          </p:cNvCxnSpPr>
          <p:nvPr/>
        </p:nvCxnSpPr>
        <p:spPr>
          <a:xfrm>
            <a:off x="2438400" y="6185383"/>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757D1806-31B3-0E14-25D7-9058BD8679A9}"/>
              </a:ext>
            </a:extLst>
          </p:cNvPr>
          <p:cNvCxnSpPr>
            <a:cxnSpLocks/>
          </p:cNvCxnSpPr>
          <p:nvPr/>
        </p:nvCxnSpPr>
        <p:spPr>
          <a:xfrm>
            <a:off x="2438400" y="5795058"/>
            <a:ext cx="4673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792414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16" presetClass="entr" presetSubtype="21" fill="hold" nodeType="after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Effect transition="in" filter="barn(inVertical)">
                                      <p:cBhvr>
                                        <p:cTn id="13" dur="500"/>
                                        <p:tgtEl>
                                          <p:spTgt spid="18">
                                            <p:txEl>
                                              <p:pRg st="0" end="0"/>
                                            </p:txEl>
                                          </p:spTgt>
                                        </p:tgtEl>
                                      </p:cBhvr>
                                    </p:animEffect>
                                  </p:childTnLst>
                                </p:cTn>
                              </p:par>
                            </p:childTnLst>
                          </p:cTn>
                        </p:par>
                        <p:par>
                          <p:cTn id="14" fill="hold">
                            <p:stCondLst>
                              <p:cond delay="1000"/>
                            </p:stCondLst>
                            <p:childTnLst>
                              <p:par>
                                <p:cTn id="15" presetID="16" presetClass="entr" presetSubtype="21" fill="hold" nodeType="after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animEffect transition="in" filter="barn(inVertical)">
                                      <p:cBhvr>
                                        <p:cTn id="17" dur="500"/>
                                        <p:tgtEl>
                                          <p:spTgt spid="18">
                                            <p:txEl>
                                              <p:pRg st="1" end="1"/>
                                            </p:txEl>
                                          </p:spTgt>
                                        </p:tgtEl>
                                      </p:cBhvr>
                                    </p:animEffect>
                                  </p:childTnLst>
                                </p:cTn>
                              </p:par>
                            </p:childTnLst>
                          </p:cTn>
                        </p:par>
                        <p:par>
                          <p:cTn id="18" fill="hold">
                            <p:stCondLst>
                              <p:cond delay="1500"/>
                            </p:stCondLst>
                            <p:childTnLst>
                              <p:par>
                                <p:cTn id="19" presetID="16" presetClass="entr" presetSubtype="21" fill="hold" nodeType="afterEffect">
                                  <p:stCondLst>
                                    <p:cond delay="0"/>
                                  </p:stCondLst>
                                  <p:childTnLst>
                                    <p:set>
                                      <p:cBhvr>
                                        <p:cTn id="20" dur="1" fill="hold">
                                          <p:stCondLst>
                                            <p:cond delay="0"/>
                                          </p:stCondLst>
                                        </p:cTn>
                                        <p:tgtEl>
                                          <p:spTgt spid="18">
                                            <p:txEl>
                                              <p:pRg st="2" end="2"/>
                                            </p:txEl>
                                          </p:spTgt>
                                        </p:tgtEl>
                                        <p:attrNameLst>
                                          <p:attrName>style.visibility</p:attrName>
                                        </p:attrNameLst>
                                      </p:cBhvr>
                                      <p:to>
                                        <p:strVal val="visible"/>
                                      </p:to>
                                    </p:set>
                                    <p:animEffect transition="in" filter="barn(inVertical)">
                                      <p:cBhvr>
                                        <p:cTn id="21" dur="500"/>
                                        <p:tgtEl>
                                          <p:spTgt spid="18">
                                            <p:txEl>
                                              <p:pRg st="2" end="2"/>
                                            </p:txEl>
                                          </p:spTgt>
                                        </p:tgtEl>
                                      </p:cBhvr>
                                    </p:animEffect>
                                  </p:childTnLst>
                                </p:cTn>
                              </p:par>
                            </p:childTnLst>
                          </p:cTn>
                        </p:par>
                        <p:par>
                          <p:cTn id="22" fill="hold">
                            <p:stCondLst>
                              <p:cond delay="2000"/>
                            </p:stCondLst>
                            <p:childTnLst>
                              <p:par>
                                <p:cTn id="23" presetID="2" presetClass="entr" presetSubtype="4" fill="hold" nodeType="afterEffect">
                                  <p:stCondLst>
                                    <p:cond delay="0"/>
                                  </p:stCondLst>
                                  <p:childTnLst>
                                    <p:set>
                                      <p:cBhvr>
                                        <p:cTn id="24" dur="1" fill="hold">
                                          <p:stCondLst>
                                            <p:cond delay="0"/>
                                          </p:stCondLst>
                                        </p:cTn>
                                        <p:tgtEl>
                                          <p:spTgt spid="18">
                                            <p:txEl>
                                              <p:pRg st="3" end="3"/>
                                            </p:txEl>
                                          </p:spTgt>
                                        </p:tgtEl>
                                        <p:attrNameLst>
                                          <p:attrName>style.visibility</p:attrName>
                                        </p:attrNameLst>
                                      </p:cBhvr>
                                      <p:to>
                                        <p:strVal val="visible"/>
                                      </p:to>
                                    </p:set>
                                    <p:anim calcmode="lin" valueType="num">
                                      <p:cBhvr additive="base">
                                        <p:cTn id="25"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
                                            <p:txEl>
                                              <p:pRg st="3" end="3"/>
                                            </p:txEl>
                                          </p:spTgt>
                                        </p:tgtEl>
                                        <p:attrNameLst>
                                          <p:attrName>ppt_y</p:attrName>
                                        </p:attrNameLst>
                                      </p:cBhvr>
                                      <p:tavLst>
                                        <p:tav tm="0">
                                          <p:val>
                                            <p:strVal val="1+#ppt_h/2"/>
                                          </p:val>
                                        </p:tav>
                                        <p:tav tm="100000">
                                          <p:val>
                                            <p:strVal val="#ppt_y"/>
                                          </p:val>
                                        </p:tav>
                                      </p:tavLst>
                                    </p:anim>
                                  </p:childTnLst>
                                </p:cTn>
                              </p:par>
                            </p:childTnLst>
                          </p:cTn>
                        </p:par>
                        <p:par>
                          <p:cTn id="27" fill="hold">
                            <p:stCondLst>
                              <p:cond delay="2500"/>
                            </p:stCondLst>
                            <p:childTnLst>
                              <p:par>
                                <p:cTn id="28" presetID="2" presetClass="entr" presetSubtype="8"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0-#ppt_w/2"/>
                                          </p:val>
                                        </p:tav>
                                        <p:tav tm="100000">
                                          <p:val>
                                            <p:strVal val="#ppt_x"/>
                                          </p:val>
                                        </p:tav>
                                      </p:tavLst>
                                    </p:anim>
                                    <p:anim calcmode="lin" valueType="num">
                                      <p:cBhvr additive="base">
                                        <p:cTn id="31" dur="500" fill="hold"/>
                                        <p:tgtEl>
                                          <p:spTgt spid="3"/>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2" presetClass="entr" presetSubtype="8"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0-#ppt_w/2"/>
                                          </p:val>
                                        </p:tav>
                                        <p:tav tm="100000">
                                          <p:val>
                                            <p:strVal val="#ppt_x"/>
                                          </p:val>
                                        </p:tav>
                                      </p:tavLst>
                                    </p:anim>
                                    <p:anim calcmode="lin" valueType="num">
                                      <p:cBhvr additive="base">
                                        <p:cTn id="36" dur="500" fill="hold"/>
                                        <p:tgtEl>
                                          <p:spTgt spid="7"/>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42" presetClass="entr" presetSubtype="0" fill="hold" nodeType="afterEffect">
                                  <p:stCondLst>
                                    <p:cond delay="0"/>
                                  </p:stCondLst>
                                  <p:childTnLst>
                                    <p:set>
                                      <p:cBhvr>
                                        <p:cTn id="39" dur="1" fill="hold">
                                          <p:stCondLst>
                                            <p:cond delay="0"/>
                                          </p:stCondLst>
                                        </p:cTn>
                                        <p:tgtEl>
                                          <p:spTgt spid="18">
                                            <p:txEl>
                                              <p:pRg st="4" end="4"/>
                                            </p:txEl>
                                          </p:spTgt>
                                        </p:tgtEl>
                                        <p:attrNameLst>
                                          <p:attrName>style.visibility</p:attrName>
                                        </p:attrNameLst>
                                      </p:cBhvr>
                                      <p:to>
                                        <p:strVal val="visible"/>
                                      </p:to>
                                    </p:set>
                                    <p:animEffect transition="in" filter="fade">
                                      <p:cBhvr>
                                        <p:cTn id="40" dur="500"/>
                                        <p:tgtEl>
                                          <p:spTgt spid="18">
                                            <p:txEl>
                                              <p:pRg st="4" end="4"/>
                                            </p:txEl>
                                          </p:spTgt>
                                        </p:tgtEl>
                                      </p:cBhvr>
                                    </p:animEffect>
                                    <p:anim calcmode="lin" valueType="num">
                                      <p:cBhvr>
                                        <p:cTn id="41"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18">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18">
                                            <p:txEl>
                                              <p:pRg st="5" end="5"/>
                                            </p:txEl>
                                          </p:spTgt>
                                        </p:tgtEl>
                                        <p:attrNameLst>
                                          <p:attrName>style.visibility</p:attrName>
                                        </p:attrNameLst>
                                      </p:cBhvr>
                                      <p:to>
                                        <p:strVal val="visible"/>
                                      </p:to>
                                    </p:set>
                                    <p:animEffect transition="in" filter="fade">
                                      <p:cBhvr>
                                        <p:cTn id="45" dur="500"/>
                                        <p:tgtEl>
                                          <p:spTgt spid="18">
                                            <p:txEl>
                                              <p:pRg st="5" end="5"/>
                                            </p:txEl>
                                          </p:spTgt>
                                        </p:tgtEl>
                                      </p:cBhvr>
                                    </p:animEffect>
                                    <p:anim calcmode="lin" valueType="num">
                                      <p:cBhvr>
                                        <p:cTn id="46"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p:cTn id="47" dur="500" fill="hold"/>
                                        <p:tgtEl>
                                          <p:spTgt spid="18">
                                            <p:txEl>
                                              <p:pRg st="5" end="5"/>
                                            </p:txEl>
                                          </p:spTgt>
                                        </p:tgtEl>
                                        <p:attrNameLst>
                                          <p:attrName>ppt_y</p:attrName>
                                        </p:attrNameLst>
                                      </p:cBhvr>
                                      <p:tavLst>
                                        <p:tav tm="0">
                                          <p:val>
                                            <p:strVal val="#ppt_y+.1"/>
                                          </p:val>
                                        </p:tav>
                                        <p:tav tm="100000">
                                          <p:val>
                                            <p:strVal val="#ppt_y"/>
                                          </p:val>
                                        </p:tav>
                                      </p:tavLst>
                                    </p:anim>
                                  </p:childTnLst>
                                </p:cTn>
                              </p:par>
                            </p:childTnLst>
                          </p:cTn>
                        </p:par>
                        <p:par>
                          <p:cTn id="48" fill="hold">
                            <p:stCondLst>
                              <p:cond delay="4000"/>
                            </p:stCondLst>
                            <p:childTnLst>
                              <p:par>
                                <p:cTn id="49" presetID="2" presetClass="entr" presetSubtype="4" fill="hold" nodeType="afterEffect">
                                  <p:stCondLst>
                                    <p:cond delay="0"/>
                                  </p:stCondLst>
                                  <p:childTnLst>
                                    <p:set>
                                      <p:cBhvr>
                                        <p:cTn id="50" dur="1" fill="hold">
                                          <p:stCondLst>
                                            <p:cond delay="0"/>
                                          </p:stCondLst>
                                        </p:cTn>
                                        <p:tgtEl>
                                          <p:spTgt spid="18">
                                            <p:txEl>
                                              <p:pRg st="6" end="6"/>
                                            </p:txEl>
                                          </p:spTgt>
                                        </p:tgtEl>
                                        <p:attrNameLst>
                                          <p:attrName>style.visibility</p:attrName>
                                        </p:attrNameLst>
                                      </p:cBhvr>
                                      <p:to>
                                        <p:strVal val="visible"/>
                                      </p:to>
                                    </p:set>
                                    <p:anim calcmode="lin" valueType="num">
                                      <p:cBhvr additive="base">
                                        <p:cTn id="51"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8">
                                            <p:txEl>
                                              <p:pRg st="6" end="6"/>
                                            </p:txEl>
                                          </p:spTgt>
                                        </p:tgtEl>
                                        <p:attrNameLst>
                                          <p:attrName>ppt_y</p:attrName>
                                        </p:attrNameLst>
                                      </p:cBhvr>
                                      <p:tavLst>
                                        <p:tav tm="0">
                                          <p:val>
                                            <p:strVal val="1+#ppt_h/2"/>
                                          </p:val>
                                        </p:tav>
                                        <p:tav tm="100000">
                                          <p:val>
                                            <p:strVal val="#ppt_y"/>
                                          </p:val>
                                        </p:tav>
                                      </p:tavLst>
                                    </p:anim>
                                  </p:childTnLst>
                                </p:cTn>
                              </p:par>
                            </p:childTnLst>
                          </p:cTn>
                        </p:par>
                        <p:par>
                          <p:cTn id="53" fill="hold">
                            <p:stCondLst>
                              <p:cond delay="4500"/>
                            </p:stCondLst>
                            <p:childTnLst>
                              <p:par>
                                <p:cTn id="54" presetID="2" presetClass="entr" presetSubtype="8" fill="hold" nodeType="after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0-#ppt_w/2"/>
                                          </p:val>
                                        </p:tav>
                                        <p:tav tm="100000">
                                          <p:val>
                                            <p:strVal val="#ppt_x"/>
                                          </p:val>
                                        </p:tav>
                                      </p:tavLst>
                                    </p:anim>
                                    <p:anim calcmode="lin" valueType="num">
                                      <p:cBhvr additive="base">
                                        <p:cTn id="57" dur="500" fill="hold"/>
                                        <p:tgtEl>
                                          <p:spTgt spid="9"/>
                                        </p:tgtEl>
                                        <p:attrNameLst>
                                          <p:attrName>ppt_y</p:attrName>
                                        </p:attrNameLst>
                                      </p:cBhvr>
                                      <p:tavLst>
                                        <p:tav tm="0">
                                          <p:val>
                                            <p:strVal val="#ppt_y"/>
                                          </p:val>
                                        </p:tav>
                                        <p:tav tm="100000">
                                          <p:val>
                                            <p:strVal val="#ppt_y"/>
                                          </p:val>
                                        </p:tav>
                                      </p:tavLst>
                                    </p:anim>
                                  </p:childTnLst>
                                </p:cTn>
                              </p:par>
                            </p:childTnLst>
                          </p:cTn>
                        </p:par>
                        <p:par>
                          <p:cTn id="58" fill="hold">
                            <p:stCondLst>
                              <p:cond delay="5000"/>
                            </p:stCondLst>
                            <p:childTnLst>
                              <p:par>
                                <p:cTn id="59" presetID="2" presetClass="entr" presetSubtype="8" fill="hold" nodeType="after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0-#ppt_w/2"/>
                                          </p:val>
                                        </p:tav>
                                        <p:tav tm="100000">
                                          <p:val>
                                            <p:strVal val="#ppt_x"/>
                                          </p:val>
                                        </p:tav>
                                      </p:tavLst>
                                    </p:anim>
                                    <p:anim calcmode="lin" valueType="num">
                                      <p:cBhvr additive="base">
                                        <p:cTn id="62" dur="500" fill="hold"/>
                                        <p:tgtEl>
                                          <p:spTgt spid="10"/>
                                        </p:tgtEl>
                                        <p:attrNameLst>
                                          <p:attrName>ppt_y</p:attrName>
                                        </p:attrNameLst>
                                      </p:cBhvr>
                                      <p:tavLst>
                                        <p:tav tm="0">
                                          <p:val>
                                            <p:strVal val="#ppt_y"/>
                                          </p:val>
                                        </p:tav>
                                        <p:tav tm="100000">
                                          <p:val>
                                            <p:strVal val="#ppt_y"/>
                                          </p:val>
                                        </p:tav>
                                      </p:tavLst>
                                    </p:anim>
                                  </p:childTnLst>
                                </p:cTn>
                              </p:par>
                            </p:childTnLst>
                          </p:cTn>
                        </p:par>
                        <p:par>
                          <p:cTn id="63" fill="hold">
                            <p:stCondLst>
                              <p:cond delay="5500"/>
                            </p:stCondLst>
                            <p:childTnLst>
                              <p:par>
                                <p:cTn id="64" presetID="2" presetClass="entr" presetSubtype="4" fill="hold" nodeType="afterEffect">
                                  <p:stCondLst>
                                    <p:cond delay="0"/>
                                  </p:stCondLst>
                                  <p:childTnLst>
                                    <p:set>
                                      <p:cBhvr>
                                        <p:cTn id="65" dur="1" fill="hold">
                                          <p:stCondLst>
                                            <p:cond delay="0"/>
                                          </p:stCondLst>
                                        </p:cTn>
                                        <p:tgtEl>
                                          <p:spTgt spid="18">
                                            <p:txEl>
                                              <p:pRg st="7" end="7"/>
                                            </p:txEl>
                                          </p:spTgt>
                                        </p:tgtEl>
                                        <p:attrNameLst>
                                          <p:attrName>style.visibility</p:attrName>
                                        </p:attrNameLst>
                                      </p:cBhvr>
                                      <p:to>
                                        <p:strVal val="visible"/>
                                      </p:to>
                                    </p:set>
                                    <p:anim calcmode="lin" valueType="num">
                                      <p:cBhvr additive="base">
                                        <p:cTn id="66"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8">
                                            <p:txEl>
                                              <p:pRg st="7" end="7"/>
                                            </p:txEl>
                                          </p:spTgt>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18">
                                            <p:txEl>
                                              <p:pRg st="8" end="8"/>
                                            </p:txEl>
                                          </p:spTgt>
                                        </p:tgtEl>
                                        <p:attrNameLst>
                                          <p:attrName>style.visibility</p:attrName>
                                        </p:attrNameLst>
                                      </p:cBhvr>
                                      <p:to>
                                        <p:strVal val="visible"/>
                                      </p:to>
                                    </p:set>
                                    <p:anim calcmode="lin" valueType="num">
                                      <p:cBhvr additive="base">
                                        <p:cTn id="70" dur="500" fill="hold"/>
                                        <p:tgtEl>
                                          <p:spTgt spid="18">
                                            <p:txEl>
                                              <p:pRg st="8" end="8"/>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8">
                                            <p:txEl>
                                              <p:pRg st="8" end="8"/>
                                            </p:txEl>
                                          </p:spTgt>
                                        </p:tgtEl>
                                        <p:attrNameLst>
                                          <p:attrName>ppt_y</p:attrName>
                                        </p:attrNameLst>
                                      </p:cBhvr>
                                      <p:tavLst>
                                        <p:tav tm="0">
                                          <p:val>
                                            <p:strVal val="1+#ppt_h/2"/>
                                          </p:val>
                                        </p:tav>
                                        <p:tav tm="100000">
                                          <p:val>
                                            <p:strVal val="#ppt_y"/>
                                          </p:val>
                                        </p:tav>
                                      </p:tavLst>
                                    </p:anim>
                                  </p:childTnLst>
                                </p:cTn>
                              </p:par>
                            </p:childTnLst>
                          </p:cTn>
                        </p:par>
                        <p:par>
                          <p:cTn id="72" fill="hold">
                            <p:stCondLst>
                              <p:cond delay="6000"/>
                            </p:stCondLst>
                            <p:childTnLst>
                              <p:par>
                                <p:cTn id="73" presetID="2" presetClass="entr" presetSubtype="4" fill="hold" nodeType="afterEffect">
                                  <p:stCondLst>
                                    <p:cond delay="0"/>
                                  </p:stCondLst>
                                  <p:childTnLst>
                                    <p:set>
                                      <p:cBhvr>
                                        <p:cTn id="74" dur="1" fill="hold">
                                          <p:stCondLst>
                                            <p:cond delay="0"/>
                                          </p:stCondLst>
                                        </p:cTn>
                                        <p:tgtEl>
                                          <p:spTgt spid="18">
                                            <p:txEl>
                                              <p:pRg st="9" end="9"/>
                                            </p:txEl>
                                          </p:spTgt>
                                        </p:tgtEl>
                                        <p:attrNameLst>
                                          <p:attrName>style.visibility</p:attrName>
                                        </p:attrNameLst>
                                      </p:cBhvr>
                                      <p:to>
                                        <p:strVal val="visible"/>
                                      </p:to>
                                    </p:set>
                                    <p:anim calcmode="lin" valueType="num">
                                      <p:cBhvr additive="base">
                                        <p:cTn id="75" dur="500" fill="hold"/>
                                        <p:tgtEl>
                                          <p:spTgt spid="18">
                                            <p:txEl>
                                              <p:pRg st="9" end="9"/>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8">
                                            <p:txEl>
                                              <p:pRg st="9" end="9"/>
                                            </p:txEl>
                                          </p:spTgt>
                                        </p:tgtEl>
                                        <p:attrNameLst>
                                          <p:attrName>ppt_y</p:attrName>
                                        </p:attrNameLst>
                                      </p:cBhvr>
                                      <p:tavLst>
                                        <p:tav tm="0">
                                          <p:val>
                                            <p:strVal val="1+#ppt_h/2"/>
                                          </p:val>
                                        </p:tav>
                                        <p:tav tm="100000">
                                          <p:val>
                                            <p:strVal val="#ppt_y"/>
                                          </p:val>
                                        </p:tav>
                                      </p:tavLst>
                                    </p:anim>
                                  </p:childTnLst>
                                </p:cTn>
                              </p:par>
                            </p:childTnLst>
                          </p:cTn>
                        </p:par>
                        <p:par>
                          <p:cTn id="77" fill="hold">
                            <p:stCondLst>
                              <p:cond delay="6500"/>
                            </p:stCondLst>
                            <p:childTnLst>
                              <p:par>
                                <p:cTn id="78" presetID="2" presetClass="entr" presetSubtype="8" fill="hold" nodeType="afterEffect">
                                  <p:stCondLst>
                                    <p:cond delay="0"/>
                                  </p:stCondLst>
                                  <p:childTnLst>
                                    <p:set>
                                      <p:cBhvr>
                                        <p:cTn id="79" dur="1" fill="hold">
                                          <p:stCondLst>
                                            <p:cond delay="0"/>
                                          </p:stCondLst>
                                        </p:cTn>
                                        <p:tgtEl>
                                          <p:spTgt spid="8"/>
                                        </p:tgtEl>
                                        <p:attrNameLst>
                                          <p:attrName>style.visibility</p:attrName>
                                        </p:attrNameLst>
                                      </p:cBhvr>
                                      <p:to>
                                        <p:strVal val="visible"/>
                                      </p:to>
                                    </p:set>
                                    <p:anim calcmode="lin" valueType="num">
                                      <p:cBhvr additive="base">
                                        <p:cTn id="80" dur="500" fill="hold"/>
                                        <p:tgtEl>
                                          <p:spTgt spid="8"/>
                                        </p:tgtEl>
                                        <p:attrNameLst>
                                          <p:attrName>ppt_x</p:attrName>
                                        </p:attrNameLst>
                                      </p:cBhvr>
                                      <p:tavLst>
                                        <p:tav tm="0">
                                          <p:val>
                                            <p:strVal val="0-#ppt_w/2"/>
                                          </p:val>
                                        </p:tav>
                                        <p:tav tm="100000">
                                          <p:val>
                                            <p:strVal val="#ppt_x"/>
                                          </p:val>
                                        </p:tav>
                                      </p:tavLst>
                                    </p:anim>
                                    <p:anim calcmode="lin" valueType="num">
                                      <p:cBhvr additive="base">
                                        <p:cTn id="81" dur="500" fill="hold"/>
                                        <p:tgtEl>
                                          <p:spTgt spid="8"/>
                                        </p:tgtEl>
                                        <p:attrNameLst>
                                          <p:attrName>ppt_y</p:attrName>
                                        </p:attrNameLst>
                                      </p:cBhvr>
                                      <p:tavLst>
                                        <p:tav tm="0">
                                          <p:val>
                                            <p:strVal val="#ppt_y"/>
                                          </p:val>
                                        </p:tav>
                                        <p:tav tm="100000">
                                          <p:val>
                                            <p:strVal val="#ppt_y"/>
                                          </p:val>
                                        </p:tav>
                                      </p:tavLst>
                                    </p:anim>
                                  </p:childTnLst>
                                </p:cTn>
                              </p:par>
                            </p:childTnLst>
                          </p:cTn>
                        </p:par>
                        <p:par>
                          <p:cTn id="82" fill="hold">
                            <p:stCondLst>
                              <p:cond delay="7000"/>
                            </p:stCondLst>
                            <p:childTnLst>
                              <p:par>
                                <p:cTn id="83" presetID="2" presetClass="entr" presetSubtype="8" fill="hold" nodeType="afterEffect">
                                  <p:stCondLst>
                                    <p:cond delay="0"/>
                                  </p:stCondLst>
                                  <p:childTnLst>
                                    <p:set>
                                      <p:cBhvr>
                                        <p:cTn id="84" dur="1" fill="hold">
                                          <p:stCondLst>
                                            <p:cond delay="0"/>
                                          </p:stCondLst>
                                        </p:cTn>
                                        <p:tgtEl>
                                          <p:spTgt spid="12"/>
                                        </p:tgtEl>
                                        <p:attrNameLst>
                                          <p:attrName>style.visibility</p:attrName>
                                        </p:attrNameLst>
                                      </p:cBhvr>
                                      <p:to>
                                        <p:strVal val="visible"/>
                                      </p:to>
                                    </p:set>
                                    <p:anim calcmode="lin" valueType="num">
                                      <p:cBhvr additive="base">
                                        <p:cTn id="85" dur="500" fill="hold"/>
                                        <p:tgtEl>
                                          <p:spTgt spid="12"/>
                                        </p:tgtEl>
                                        <p:attrNameLst>
                                          <p:attrName>ppt_x</p:attrName>
                                        </p:attrNameLst>
                                      </p:cBhvr>
                                      <p:tavLst>
                                        <p:tav tm="0">
                                          <p:val>
                                            <p:strVal val="0-#ppt_w/2"/>
                                          </p:val>
                                        </p:tav>
                                        <p:tav tm="100000">
                                          <p:val>
                                            <p:strVal val="#ppt_x"/>
                                          </p:val>
                                        </p:tav>
                                      </p:tavLst>
                                    </p:anim>
                                    <p:anim calcmode="lin" valueType="num">
                                      <p:cBhvr additive="base">
                                        <p:cTn id="86" dur="500" fill="hold"/>
                                        <p:tgtEl>
                                          <p:spTgt spid="12"/>
                                        </p:tgtEl>
                                        <p:attrNameLst>
                                          <p:attrName>ppt_y</p:attrName>
                                        </p:attrNameLst>
                                      </p:cBhvr>
                                      <p:tavLst>
                                        <p:tav tm="0">
                                          <p:val>
                                            <p:strVal val="#ppt_y"/>
                                          </p:val>
                                        </p:tav>
                                        <p:tav tm="100000">
                                          <p:val>
                                            <p:strVal val="#ppt_y"/>
                                          </p:val>
                                        </p:tav>
                                      </p:tavLst>
                                    </p:anim>
                                  </p:childTnLst>
                                </p:cTn>
                              </p:par>
                            </p:childTnLst>
                          </p:cTn>
                        </p:par>
                        <p:par>
                          <p:cTn id="87" fill="hold">
                            <p:stCondLst>
                              <p:cond delay="7500"/>
                            </p:stCondLst>
                            <p:childTnLst>
                              <p:par>
                                <p:cTn id="88" presetID="2" presetClass="entr" presetSubtype="4" fill="hold" nodeType="afterEffect">
                                  <p:stCondLst>
                                    <p:cond delay="0"/>
                                  </p:stCondLst>
                                  <p:childTnLst>
                                    <p:set>
                                      <p:cBhvr>
                                        <p:cTn id="89" dur="1" fill="hold">
                                          <p:stCondLst>
                                            <p:cond delay="0"/>
                                          </p:stCondLst>
                                        </p:cTn>
                                        <p:tgtEl>
                                          <p:spTgt spid="18">
                                            <p:txEl>
                                              <p:pRg st="10" end="10"/>
                                            </p:txEl>
                                          </p:spTgt>
                                        </p:tgtEl>
                                        <p:attrNameLst>
                                          <p:attrName>style.visibility</p:attrName>
                                        </p:attrNameLst>
                                      </p:cBhvr>
                                      <p:to>
                                        <p:strVal val="visible"/>
                                      </p:to>
                                    </p:set>
                                    <p:anim calcmode="lin" valueType="num">
                                      <p:cBhvr additive="base">
                                        <p:cTn id="90" dur="500" fill="hold"/>
                                        <p:tgtEl>
                                          <p:spTgt spid="18">
                                            <p:txEl>
                                              <p:pRg st="10" end="1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18">
                                            <p:txEl>
                                              <p:pRg st="10" end="10"/>
                                            </p:txEl>
                                          </p:spTgt>
                                        </p:tgtEl>
                                        <p:attrNameLst>
                                          <p:attrName>ppt_y</p:attrName>
                                        </p:attrNameLst>
                                      </p:cBhvr>
                                      <p:tavLst>
                                        <p:tav tm="0">
                                          <p:val>
                                            <p:strVal val="1+#ppt_h/2"/>
                                          </p:val>
                                        </p:tav>
                                        <p:tav tm="100000">
                                          <p:val>
                                            <p:strVal val="#ppt_y"/>
                                          </p:val>
                                        </p:tav>
                                      </p:tavLst>
                                    </p:anim>
                                  </p:childTnLst>
                                </p:cTn>
                              </p:par>
                            </p:childTnLst>
                          </p:cTn>
                        </p:par>
                        <p:par>
                          <p:cTn id="92" fill="hold">
                            <p:stCondLst>
                              <p:cond delay="8000"/>
                            </p:stCondLst>
                            <p:childTnLst>
                              <p:par>
                                <p:cTn id="93" presetID="2" presetClass="entr" presetSubtype="4" fill="hold" nodeType="afterEffect">
                                  <p:stCondLst>
                                    <p:cond delay="0"/>
                                  </p:stCondLst>
                                  <p:childTnLst>
                                    <p:set>
                                      <p:cBhvr>
                                        <p:cTn id="94" dur="1" fill="hold">
                                          <p:stCondLst>
                                            <p:cond delay="0"/>
                                          </p:stCondLst>
                                        </p:cTn>
                                        <p:tgtEl>
                                          <p:spTgt spid="18">
                                            <p:txEl>
                                              <p:pRg st="11" end="11"/>
                                            </p:txEl>
                                          </p:spTgt>
                                        </p:tgtEl>
                                        <p:attrNameLst>
                                          <p:attrName>style.visibility</p:attrName>
                                        </p:attrNameLst>
                                      </p:cBhvr>
                                      <p:to>
                                        <p:strVal val="visible"/>
                                      </p:to>
                                    </p:set>
                                    <p:anim calcmode="lin" valueType="num">
                                      <p:cBhvr additive="base">
                                        <p:cTn id="95" dur="500" fill="hold"/>
                                        <p:tgtEl>
                                          <p:spTgt spid="18">
                                            <p:txEl>
                                              <p:pRg st="11" end="1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8">
                                            <p:txEl>
                                              <p:pRg st="11" end="11"/>
                                            </p:txEl>
                                          </p:spTgt>
                                        </p:tgtEl>
                                        <p:attrNameLst>
                                          <p:attrName>ppt_y</p:attrName>
                                        </p:attrNameLst>
                                      </p:cBhvr>
                                      <p:tavLst>
                                        <p:tav tm="0">
                                          <p:val>
                                            <p:strVal val="1+#ppt_h/2"/>
                                          </p:val>
                                        </p:tav>
                                        <p:tav tm="100000">
                                          <p:val>
                                            <p:strVal val="#ppt_y"/>
                                          </p:val>
                                        </p:tav>
                                      </p:tavLst>
                                    </p:anim>
                                  </p:childTnLst>
                                </p:cTn>
                              </p:par>
                            </p:childTnLst>
                          </p:cTn>
                        </p:par>
                        <p:par>
                          <p:cTn id="97" fill="hold">
                            <p:stCondLst>
                              <p:cond delay="8500"/>
                            </p:stCondLst>
                            <p:childTnLst>
                              <p:par>
                                <p:cTn id="98" presetID="2" presetClass="entr" presetSubtype="4" fill="hold" nodeType="afterEffect">
                                  <p:stCondLst>
                                    <p:cond delay="0"/>
                                  </p:stCondLst>
                                  <p:childTnLst>
                                    <p:set>
                                      <p:cBhvr>
                                        <p:cTn id="99" dur="1" fill="hold">
                                          <p:stCondLst>
                                            <p:cond delay="0"/>
                                          </p:stCondLst>
                                        </p:cTn>
                                        <p:tgtEl>
                                          <p:spTgt spid="18">
                                            <p:txEl>
                                              <p:pRg st="12" end="12"/>
                                            </p:txEl>
                                          </p:spTgt>
                                        </p:tgtEl>
                                        <p:attrNameLst>
                                          <p:attrName>style.visibility</p:attrName>
                                        </p:attrNameLst>
                                      </p:cBhvr>
                                      <p:to>
                                        <p:strVal val="visible"/>
                                      </p:to>
                                    </p:set>
                                    <p:anim calcmode="lin" valueType="num">
                                      <p:cBhvr additive="base">
                                        <p:cTn id="100" dur="500" fill="hold"/>
                                        <p:tgtEl>
                                          <p:spTgt spid="18">
                                            <p:txEl>
                                              <p:pRg st="12" end="12"/>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18">
                                            <p:txEl>
                                              <p:pRg st="12" end="12"/>
                                            </p:txEl>
                                          </p:spTgt>
                                        </p:tgtEl>
                                        <p:attrNameLst>
                                          <p:attrName>ppt_y</p:attrName>
                                        </p:attrNameLst>
                                      </p:cBhvr>
                                      <p:tavLst>
                                        <p:tav tm="0">
                                          <p:val>
                                            <p:strVal val="1+#ppt_h/2"/>
                                          </p:val>
                                        </p:tav>
                                        <p:tav tm="100000">
                                          <p:val>
                                            <p:strVal val="#ppt_y"/>
                                          </p:val>
                                        </p:tav>
                                      </p:tavLst>
                                    </p:anim>
                                  </p:childTnLst>
                                </p:cTn>
                              </p:par>
                            </p:childTnLst>
                          </p:cTn>
                        </p:par>
                        <p:par>
                          <p:cTn id="102" fill="hold">
                            <p:stCondLst>
                              <p:cond delay="9000"/>
                            </p:stCondLst>
                            <p:childTnLst>
                              <p:par>
                                <p:cTn id="103" presetID="2" presetClass="entr" presetSubtype="8" fill="hold" nodeType="after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additive="base">
                                        <p:cTn id="105" dur="500" fill="hold"/>
                                        <p:tgtEl>
                                          <p:spTgt spid="14"/>
                                        </p:tgtEl>
                                        <p:attrNameLst>
                                          <p:attrName>ppt_x</p:attrName>
                                        </p:attrNameLst>
                                      </p:cBhvr>
                                      <p:tavLst>
                                        <p:tav tm="0">
                                          <p:val>
                                            <p:strVal val="0-#ppt_w/2"/>
                                          </p:val>
                                        </p:tav>
                                        <p:tav tm="100000">
                                          <p:val>
                                            <p:strVal val="#ppt_x"/>
                                          </p:val>
                                        </p:tav>
                                      </p:tavLst>
                                    </p:anim>
                                    <p:anim calcmode="lin" valueType="num">
                                      <p:cBhvr additive="base">
                                        <p:cTn id="106" dur="500" fill="hold"/>
                                        <p:tgtEl>
                                          <p:spTgt spid="14"/>
                                        </p:tgtEl>
                                        <p:attrNameLst>
                                          <p:attrName>ppt_y</p:attrName>
                                        </p:attrNameLst>
                                      </p:cBhvr>
                                      <p:tavLst>
                                        <p:tav tm="0">
                                          <p:val>
                                            <p:strVal val="#ppt_y"/>
                                          </p:val>
                                        </p:tav>
                                        <p:tav tm="100000">
                                          <p:val>
                                            <p:strVal val="#ppt_y"/>
                                          </p:val>
                                        </p:tav>
                                      </p:tavLst>
                                    </p:anim>
                                  </p:childTnLst>
                                </p:cTn>
                              </p:par>
                            </p:childTnLst>
                          </p:cTn>
                        </p:par>
                        <p:par>
                          <p:cTn id="107" fill="hold">
                            <p:stCondLst>
                              <p:cond delay="9500"/>
                            </p:stCondLst>
                            <p:childTnLst>
                              <p:par>
                                <p:cTn id="108" presetID="2" presetClass="entr" presetSubtype="8" fill="hold" nodeType="afterEffect">
                                  <p:stCondLst>
                                    <p:cond delay="0"/>
                                  </p:stCondLst>
                                  <p:childTnLst>
                                    <p:set>
                                      <p:cBhvr>
                                        <p:cTn id="109" dur="1" fill="hold">
                                          <p:stCondLst>
                                            <p:cond delay="0"/>
                                          </p:stCondLst>
                                        </p:cTn>
                                        <p:tgtEl>
                                          <p:spTgt spid="13"/>
                                        </p:tgtEl>
                                        <p:attrNameLst>
                                          <p:attrName>style.visibility</p:attrName>
                                        </p:attrNameLst>
                                      </p:cBhvr>
                                      <p:to>
                                        <p:strVal val="visible"/>
                                      </p:to>
                                    </p:set>
                                    <p:anim calcmode="lin" valueType="num">
                                      <p:cBhvr additive="base">
                                        <p:cTn id="110" dur="500" fill="hold"/>
                                        <p:tgtEl>
                                          <p:spTgt spid="13"/>
                                        </p:tgtEl>
                                        <p:attrNameLst>
                                          <p:attrName>ppt_x</p:attrName>
                                        </p:attrNameLst>
                                      </p:cBhvr>
                                      <p:tavLst>
                                        <p:tav tm="0">
                                          <p:val>
                                            <p:strVal val="0-#ppt_w/2"/>
                                          </p:val>
                                        </p:tav>
                                        <p:tav tm="100000">
                                          <p:val>
                                            <p:strVal val="#ppt_x"/>
                                          </p:val>
                                        </p:tav>
                                      </p:tavLst>
                                    </p:anim>
                                    <p:anim calcmode="lin" valueType="num">
                                      <p:cBhvr additive="base">
                                        <p:cTn id="111" dur="500" fill="hold"/>
                                        <p:tgtEl>
                                          <p:spTgt spid="13"/>
                                        </p:tgtEl>
                                        <p:attrNameLst>
                                          <p:attrName>ppt_y</p:attrName>
                                        </p:attrNameLst>
                                      </p:cBhvr>
                                      <p:tavLst>
                                        <p:tav tm="0">
                                          <p:val>
                                            <p:strVal val="#ppt_y"/>
                                          </p:val>
                                        </p:tav>
                                        <p:tav tm="100000">
                                          <p:val>
                                            <p:strVal val="#ppt_y"/>
                                          </p:val>
                                        </p:tav>
                                      </p:tavLst>
                                    </p:anim>
                                  </p:childTnLst>
                                </p:cTn>
                              </p:par>
                            </p:childTnLst>
                          </p:cTn>
                        </p:par>
                        <p:par>
                          <p:cTn id="112" fill="hold">
                            <p:stCondLst>
                              <p:cond delay="10000"/>
                            </p:stCondLst>
                            <p:childTnLst>
                              <p:par>
                                <p:cTn id="113" presetID="2" presetClass="entr" presetSubtype="4" fill="hold" nodeType="afterEffect">
                                  <p:stCondLst>
                                    <p:cond delay="0"/>
                                  </p:stCondLst>
                                  <p:childTnLst>
                                    <p:set>
                                      <p:cBhvr>
                                        <p:cTn id="114" dur="1" fill="hold">
                                          <p:stCondLst>
                                            <p:cond delay="0"/>
                                          </p:stCondLst>
                                        </p:cTn>
                                        <p:tgtEl>
                                          <p:spTgt spid="18">
                                            <p:txEl>
                                              <p:pRg st="13" end="13"/>
                                            </p:txEl>
                                          </p:spTgt>
                                        </p:tgtEl>
                                        <p:attrNameLst>
                                          <p:attrName>style.visibility</p:attrName>
                                        </p:attrNameLst>
                                      </p:cBhvr>
                                      <p:to>
                                        <p:strVal val="visible"/>
                                      </p:to>
                                    </p:set>
                                    <p:anim calcmode="lin" valueType="num">
                                      <p:cBhvr additive="base">
                                        <p:cTn id="115" dur="500" fill="hold"/>
                                        <p:tgtEl>
                                          <p:spTgt spid="18">
                                            <p:txEl>
                                              <p:pRg st="13" end="1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8">
                                            <p:txEl>
                                              <p:pRg st="13" end="13"/>
                                            </p:txEl>
                                          </p:spTgt>
                                        </p:tgtEl>
                                        <p:attrNameLst>
                                          <p:attrName>ppt_y</p:attrName>
                                        </p:attrNameLst>
                                      </p:cBhvr>
                                      <p:tavLst>
                                        <p:tav tm="0">
                                          <p:val>
                                            <p:strVal val="1+#ppt_h/2"/>
                                          </p:val>
                                        </p:tav>
                                        <p:tav tm="100000">
                                          <p:val>
                                            <p:strVal val="#ppt_y"/>
                                          </p:val>
                                        </p:tav>
                                      </p:tavLst>
                                    </p:anim>
                                  </p:childTnLst>
                                </p:cTn>
                              </p:par>
                            </p:childTnLst>
                          </p:cTn>
                        </p:par>
                        <p:par>
                          <p:cTn id="117" fill="hold">
                            <p:stCondLst>
                              <p:cond delay="10500"/>
                            </p:stCondLst>
                            <p:childTnLst>
                              <p:par>
                                <p:cTn id="118" presetID="2" presetClass="entr" presetSubtype="4" fill="hold" nodeType="afterEffect">
                                  <p:stCondLst>
                                    <p:cond delay="0"/>
                                  </p:stCondLst>
                                  <p:childTnLst>
                                    <p:set>
                                      <p:cBhvr>
                                        <p:cTn id="119" dur="1" fill="hold">
                                          <p:stCondLst>
                                            <p:cond delay="0"/>
                                          </p:stCondLst>
                                        </p:cTn>
                                        <p:tgtEl>
                                          <p:spTgt spid="18">
                                            <p:txEl>
                                              <p:pRg st="14" end="14"/>
                                            </p:txEl>
                                          </p:spTgt>
                                        </p:tgtEl>
                                        <p:attrNameLst>
                                          <p:attrName>style.visibility</p:attrName>
                                        </p:attrNameLst>
                                      </p:cBhvr>
                                      <p:to>
                                        <p:strVal val="visible"/>
                                      </p:to>
                                    </p:set>
                                    <p:anim calcmode="lin" valueType="num">
                                      <p:cBhvr additive="base">
                                        <p:cTn id="120" dur="500" fill="hold"/>
                                        <p:tgtEl>
                                          <p:spTgt spid="18">
                                            <p:txEl>
                                              <p:pRg st="14" end="14"/>
                                            </p:txEl>
                                          </p:spTgt>
                                        </p:tgtEl>
                                        <p:attrNameLst>
                                          <p:attrName>ppt_x</p:attrName>
                                        </p:attrNameLst>
                                      </p:cBhvr>
                                      <p:tavLst>
                                        <p:tav tm="0">
                                          <p:val>
                                            <p:strVal val="#ppt_x"/>
                                          </p:val>
                                        </p:tav>
                                        <p:tav tm="100000">
                                          <p:val>
                                            <p:strVal val="#ppt_x"/>
                                          </p:val>
                                        </p:tav>
                                      </p:tavLst>
                                    </p:anim>
                                    <p:anim calcmode="lin" valueType="num">
                                      <p:cBhvr additive="base">
                                        <p:cTn id="121" dur="500" fill="hold"/>
                                        <p:tgtEl>
                                          <p:spTgt spid="18">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8F566-70F2-3D1E-7B0D-CD4B9572AA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5E305A9-1795-4E6E-F99D-D8913607D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BC7A1A14-AAD5-A1FB-A88C-AF89BCF99416}"/>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7" name="Title 16">
            <a:extLst>
              <a:ext uri="{FF2B5EF4-FFF2-40B4-BE49-F238E27FC236}">
                <a16:creationId xmlns:a16="http://schemas.microsoft.com/office/drawing/2014/main" id="{7D4BAE45-52F6-D9A8-0A96-A479FFDE1B57}"/>
              </a:ext>
            </a:extLst>
          </p:cNvPr>
          <p:cNvSpPr>
            <a:spLocks noGrp="1"/>
          </p:cNvSpPr>
          <p:nvPr>
            <p:ph type="title"/>
          </p:nvPr>
        </p:nvSpPr>
        <p:spPr>
          <a:xfrm>
            <a:off x="838200" y="73722"/>
            <a:ext cx="10515600" cy="805785"/>
          </a:xfrm>
        </p:spPr>
        <p:txBody>
          <a:bodyPr/>
          <a:lstStyle/>
          <a:p>
            <a:pPr algn="ctr"/>
            <a:r>
              <a:rPr lang="en-IN" u="sng" dirty="0">
                <a:latin typeface="Castellar" panose="020A0402060406010301" pitchFamily="18" charset="0"/>
              </a:rPr>
              <a:t>Charts &amp; Visual Analysis </a:t>
            </a:r>
          </a:p>
        </p:txBody>
      </p:sp>
      <p:sp>
        <p:nvSpPr>
          <p:cNvPr id="3" name="Content Placeholder 2">
            <a:extLst>
              <a:ext uri="{FF2B5EF4-FFF2-40B4-BE49-F238E27FC236}">
                <a16:creationId xmlns:a16="http://schemas.microsoft.com/office/drawing/2014/main" id="{02F88CBF-C732-7DC0-3EBD-F44748600DE8}"/>
              </a:ext>
            </a:extLst>
          </p:cNvPr>
          <p:cNvSpPr>
            <a:spLocks noGrp="1"/>
          </p:cNvSpPr>
          <p:nvPr>
            <p:ph sz="half" idx="2"/>
          </p:nvPr>
        </p:nvSpPr>
        <p:spPr>
          <a:xfrm>
            <a:off x="818714" y="1299674"/>
            <a:ext cx="5157787" cy="3802575"/>
          </a:xfrm>
        </p:spPr>
        <p:txBody>
          <a:bodyPr>
            <a:normAutofit/>
          </a:bodyPr>
          <a:lstStyle/>
          <a:p>
            <a:pPr marL="0" indent="0">
              <a:buNone/>
            </a:pPr>
            <a:r>
              <a:rPr lang="en-US" sz="2000" b="1" dirty="0">
                <a:solidFill>
                  <a:schemeClr val="accent5">
                    <a:lumMod val="75000"/>
                  </a:schemeClr>
                </a:solidFill>
                <a:latin typeface="Arial" panose="020B0604020202020204" pitchFamily="34" charset="0"/>
                <a:cs typeface="Arial" panose="020B0604020202020204" pitchFamily="34" charset="0"/>
              </a:rPr>
              <a:t>Monthly Sales Trend – Line Chart :</a:t>
            </a:r>
          </a:p>
          <a:p>
            <a:r>
              <a:rPr lang="en-US" sz="2000" dirty="0">
                <a:latin typeface="Arial" panose="020B0604020202020204" pitchFamily="34" charset="0"/>
                <a:cs typeface="Arial" panose="020B0604020202020204" pitchFamily="34" charset="0"/>
              </a:rPr>
              <a:t>Displays revenue changes across months.</a:t>
            </a:r>
          </a:p>
          <a:p>
            <a:r>
              <a:rPr lang="en-US" sz="2000" dirty="0">
                <a:latin typeface="Arial" panose="020B0604020202020204" pitchFamily="34" charset="0"/>
                <a:cs typeface="Arial" panose="020B0604020202020204" pitchFamily="34" charset="0"/>
              </a:rPr>
              <a:t>Helps identify </a:t>
            </a:r>
            <a:r>
              <a:rPr lang="en-US" sz="2000" b="1" dirty="0">
                <a:latin typeface="Arial" panose="020B0604020202020204" pitchFamily="34" charset="0"/>
                <a:cs typeface="Arial" panose="020B0604020202020204" pitchFamily="34" charset="0"/>
              </a:rPr>
              <a:t>sales trends, seasonality, and growth patterns</a:t>
            </a:r>
            <a:r>
              <a:rPr lang="en-US" sz="2000" dirty="0">
                <a:latin typeface="Arial" panose="020B0604020202020204" pitchFamily="34" charset="0"/>
                <a:cs typeface="Arial" panose="020B0604020202020204" pitchFamily="34" charset="0"/>
              </a:rPr>
              <a:t> over time.</a:t>
            </a:r>
          </a:p>
          <a:p>
            <a:endParaRPr lang="en-IN" dirty="0"/>
          </a:p>
        </p:txBody>
      </p:sp>
      <p:graphicFrame>
        <p:nvGraphicFramePr>
          <p:cNvPr id="7" name="Chart 6">
            <a:extLst>
              <a:ext uri="{FF2B5EF4-FFF2-40B4-BE49-F238E27FC236}">
                <a16:creationId xmlns:a16="http://schemas.microsoft.com/office/drawing/2014/main" id="{DE19EEBE-E670-C9D0-B66B-C7D3ADB0CE23}"/>
              </a:ext>
            </a:extLst>
          </p:cNvPr>
          <p:cNvGraphicFramePr>
            <a:graphicFrameLocks/>
          </p:cNvGraphicFramePr>
          <p:nvPr>
            <p:extLst>
              <p:ext uri="{D42A27DB-BD31-4B8C-83A1-F6EECF244321}">
                <p14:modId xmlns:p14="http://schemas.microsoft.com/office/powerpoint/2010/main" val="3716964887"/>
              </p:ext>
            </p:extLst>
          </p:nvPr>
        </p:nvGraphicFramePr>
        <p:xfrm>
          <a:off x="6927478" y="976505"/>
          <a:ext cx="4370441" cy="2153225"/>
        </p:xfrm>
        <a:graphic>
          <a:graphicData uri="http://schemas.openxmlformats.org/drawingml/2006/chart">
            <c:chart xmlns:c="http://schemas.openxmlformats.org/drawingml/2006/chart" xmlns:r="http://schemas.openxmlformats.org/officeDocument/2006/relationships" r:id="rId3"/>
          </a:graphicData>
        </a:graphic>
      </p:graphicFrame>
      <p:sp>
        <p:nvSpPr>
          <p:cNvPr id="8" name="Content Placeholder 2">
            <a:extLst>
              <a:ext uri="{FF2B5EF4-FFF2-40B4-BE49-F238E27FC236}">
                <a16:creationId xmlns:a16="http://schemas.microsoft.com/office/drawing/2014/main" id="{888BAF79-916A-C34B-599C-B5321B8C92F1}"/>
              </a:ext>
            </a:extLst>
          </p:cNvPr>
          <p:cNvSpPr txBox="1">
            <a:spLocks/>
          </p:cNvSpPr>
          <p:nvPr/>
        </p:nvSpPr>
        <p:spPr>
          <a:xfrm>
            <a:off x="6721697" y="3995435"/>
            <a:ext cx="5157787" cy="380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5">
                    <a:lumMod val="75000"/>
                  </a:schemeClr>
                </a:solidFill>
                <a:latin typeface="Arial" panose="020B0604020202020204" pitchFamily="34" charset="0"/>
                <a:cs typeface="Arial" panose="020B0604020202020204" pitchFamily="34" charset="0"/>
              </a:rPr>
              <a:t>Revenue by Channel – Bar Chart:</a:t>
            </a:r>
          </a:p>
          <a:p>
            <a:r>
              <a:rPr lang="en-US" sz="2000" dirty="0">
                <a:latin typeface="Arial" panose="020B0604020202020204" pitchFamily="34" charset="0"/>
                <a:cs typeface="Arial" panose="020B0604020202020204" pitchFamily="34" charset="0"/>
              </a:rPr>
              <a:t>Compares revenue generated by each sales channel.</a:t>
            </a:r>
          </a:p>
          <a:p>
            <a:r>
              <a:rPr lang="en-US" sz="2000" dirty="0">
                <a:latin typeface="Arial" panose="020B0604020202020204" pitchFamily="34" charset="0"/>
                <a:cs typeface="Arial" panose="020B0604020202020204" pitchFamily="34" charset="0"/>
              </a:rPr>
              <a:t>Makes it easy to identify </a:t>
            </a:r>
            <a:r>
              <a:rPr lang="en-US" sz="2000" b="1" dirty="0">
                <a:latin typeface="Arial" panose="020B0604020202020204" pitchFamily="34" charset="0"/>
                <a:cs typeface="Arial" panose="020B0604020202020204" pitchFamily="34" charset="0"/>
              </a:rPr>
              <a:t>top-performing and low-performing channels</a:t>
            </a:r>
            <a:r>
              <a:rPr lang="en-US" sz="2000" dirty="0">
                <a:latin typeface="Arial" panose="020B0604020202020204" pitchFamily="34" charset="0"/>
                <a:cs typeface="Arial" panose="020B0604020202020204" pitchFamily="34" charset="0"/>
              </a:rPr>
              <a:t>.</a:t>
            </a:r>
          </a:p>
          <a:p>
            <a:pPr marL="0" indent="0">
              <a:buFont typeface="Arial" panose="020B0604020202020204" pitchFamily="34" charset="0"/>
              <a:buNone/>
            </a:pPr>
            <a:endParaRPr lang="en-US" sz="200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graphicFrame>
        <p:nvGraphicFramePr>
          <p:cNvPr id="12" name="Chart 11">
            <a:extLst>
              <a:ext uri="{FF2B5EF4-FFF2-40B4-BE49-F238E27FC236}">
                <a16:creationId xmlns:a16="http://schemas.microsoft.com/office/drawing/2014/main" id="{0EBB04A6-415E-03DA-2F6C-EAE67599E573}"/>
              </a:ext>
            </a:extLst>
          </p:cNvPr>
          <p:cNvGraphicFramePr>
            <a:graphicFrameLocks/>
          </p:cNvGraphicFramePr>
          <p:nvPr>
            <p:extLst>
              <p:ext uri="{D42A27DB-BD31-4B8C-83A1-F6EECF244321}">
                <p14:modId xmlns:p14="http://schemas.microsoft.com/office/powerpoint/2010/main" val="2260304586"/>
              </p:ext>
            </p:extLst>
          </p:nvPr>
        </p:nvGraphicFramePr>
        <p:xfrm>
          <a:off x="1142733" y="3765010"/>
          <a:ext cx="4327570" cy="2145433"/>
        </p:xfrm>
        <a:graphic>
          <a:graphicData uri="http://schemas.openxmlformats.org/drawingml/2006/chart">
            <c:chart xmlns:c="http://schemas.openxmlformats.org/drawingml/2006/chart" xmlns:r="http://schemas.openxmlformats.org/officeDocument/2006/relationships" r:id="rId4"/>
          </a:graphicData>
        </a:graphic>
      </p:graphicFrame>
      <p:cxnSp>
        <p:nvCxnSpPr>
          <p:cNvPr id="14" name="Straight Arrow Connector 13">
            <a:extLst>
              <a:ext uri="{FF2B5EF4-FFF2-40B4-BE49-F238E27FC236}">
                <a16:creationId xmlns:a16="http://schemas.microsoft.com/office/drawing/2014/main" id="{B563430A-2C25-9A73-1A8D-BB699314159B}"/>
              </a:ext>
            </a:extLst>
          </p:cNvPr>
          <p:cNvCxnSpPr/>
          <p:nvPr/>
        </p:nvCxnSpPr>
        <p:spPr>
          <a:xfrm>
            <a:off x="5787851" y="2053117"/>
            <a:ext cx="10450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0572BBE-CBDB-636C-5F47-F81583B87BAB}"/>
              </a:ext>
            </a:extLst>
          </p:cNvPr>
          <p:cNvCxnSpPr/>
          <p:nvPr/>
        </p:nvCxnSpPr>
        <p:spPr>
          <a:xfrm flipH="1">
            <a:off x="5576835" y="4837726"/>
            <a:ext cx="9947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3355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 presetClass="entr" presetSubtype="8"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0-#ppt_w/2"/>
                                          </p:val>
                                        </p:tav>
                                        <p:tav tm="100000">
                                          <p:val>
                                            <p:strVal val="#ppt_x"/>
                                          </p:val>
                                        </p:tav>
                                      </p:tavLst>
                                    </p:anim>
                                    <p:anim calcmode="lin" valueType="num">
                                      <p:cBhvr additive="base">
                                        <p:cTn id="19" dur="500" fill="hold"/>
                                        <p:tgtEl>
                                          <p:spTgt spid="14"/>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additive="base">
                                        <p:cTn id="23"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 calcmode="lin" valueType="num">
                                      <p:cBhvr additive="base">
                                        <p:cTn id="28"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 calcmode="lin" valueType="num">
                                      <p:cBhvr additive="base">
                                        <p:cTn id="3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2"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1+#ppt_w/2"/>
                                          </p:val>
                                        </p:tav>
                                        <p:tav tm="100000">
                                          <p:val>
                                            <p:strVal val="#ppt_x"/>
                                          </p:val>
                                        </p:tav>
                                      </p:tavLst>
                                    </p:anim>
                                    <p:anim calcmode="lin" valueType="num">
                                      <p:cBhvr additive="base">
                                        <p:cTn id="39" dur="500" fill="hold"/>
                                        <p:tgtEl>
                                          <p:spTgt spid="12"/>
                                        </p:tgtEl>
                                        <p:attrNameLst>
                                          <p:attrName>ppt_y</p:attrName>
                                        </p:attrNameLst>
                                      </p:cBhvr>
                                      <p:tavLst>
                                        <p:tav tm="0">
                                          <p:val>
                                            <p:strVal val="#ppt_y"/>
                                          </p:val>
                                        </p:tav>
                                        <p:tav tm="100000">
                                          <p:val>
                                            <p:strVal val="#ppt_y"/>
                                          </p:val>
                                        </p:tav>
                                      </p:tavLst>
                                    </p:anim>
                                  </p:childTnLst>
                                </p:cTn>
                              </p:par>
                            </p:childTnLst>
                          </p:cTn>
                        </p:par>
                        <p:par>
                          <p:cTn id="40" fill="hold">
                            <p:stCondLst>
                              <p:cond delay="3500"/>
                            </p:stCondLst>
                            <p:childTnLst>
                              <p:par>
                                <p:cTn id="41" presetID="2" presetClass="entr" presetSubtype="2"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1+#ppt_w/2"/>
                                          </p:val>
                                        </p:tav>
                                        <p:tav tm="100000">
                                          <p:val>
                                            <p:strVal val="#ppt_x"/>
                                          </p:val>
                                        </p:tav>
                                      </p:tavLst>
                                    </p:anim>
                                    <p:anim calcmode="lin" valueType="num">
                                      <p:cBhvr additive="base">
                                        <p:cTn id="44" dur="500" fill="hold"/>
                                        <p:tgtEl>
                                          <p:spTgt spid="19"/>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 presetClass="entr" presetSubtype="2" fill="hold" nodeType="after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 calcmode="lin" valueType="num">
                                      <p:cBhvr additive="base">
                                        <p:cTn id="48"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par>
                          <p:cTn id="50" fill="hold">
                            <p:stCondLst>
                              <p:cond delay="4500"/>
                            </p:stCondLst>
                            <p:childTnLst>
                              <p:par>
                                <p:cTn id="51" presetID="2" presetClass="entr" presetSubtype="4"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1+#ppt_h/2"/>
                                          </p:val>
                                        </p:tav>
                                        <p:tav tm="100000">
                                          <p:val>
                                            <p:strVal val="#ppt_y"/>
                                          </p:val>
                                        </p:tav>
                                      </p:tavLst>
                                    </p:anim>
                                  </p:childTnLst>
                                </p:cTn>
                              </p:par>
                            </p:childTnLst>
                          </p:cTn>
                        </p:par>
                        <p:par>
                          <p:cTn id="55" fill="hold">
                            <p:stCondLst>
                              <p:cond delay="5000"/>
                            </p:stCondLst>
                            <p:childTnLst>
                              <p:par>
                                <p:cTn id="56" presetID="2" presetClass="entr" presetSubtype="2" fill="hold" nodeType="afterEffect">
                                  <p:stCondLst>
                                    <p:cond delay="0"/>
                                  </p:stCondLst>
                                  <p:childTnLst>
                                    <p:set>
                                      <p:cBhvr>
                                        <p:cTn id="57" dur="1" fill="hold">
                                          <p:stCondLst>
                                            <p:cond delay="0"/>
                                          </p:stCondLst>
                                        </p:cTn>
                                        <p:tgtEl>
                                          <p:spTgt spid="8">
                                            <p:txEl>
                                              <p:pRg st="1" end="1"/>
                                            </p:txEl>
                                          </p:spTgt>
                                        </p:tgtEl>
                                        <p:attrNameLst>
                                          <p:attrName>style.visibility</p:attrName>
                                        </p:attrNameLst>
                                      </p:cBhvr>
                                      <p:to>
                                        <p:strVal val="visible"/>
                                      </p:to>
                                    </p:set>
                                    <p:anim calcmode="lin" valueType="num">
                                      <p:cBhvr additive="base">
                                        <p:cTn id="58" dur="500" fill="hold"/>
                                        <p:tgtEl>
                                          <p:spTgt spid="8">
                                            <p:txEl>
                                              <p:pRg st="1" end="1"/>
                                            </p:txEl>
                                          </p:spTgt>
                                        </p:tgtEl>
                                        <p:attrNameLst>
                                          <p:attrName>ppt_x</p:attrName>
                                        </p:attrNameLst>
                                      </p:cBhvr>
                                      <p:tavLst>
                                        <p:tav tm="0">
                                          <p:val>
                                            <p:strVal val="1+#ppt_w/2"/>
                                          </p:val>
                                        </p:tav>
                                        <p:tav tm="100000">
                                          <p:val>
                                            <p:strVal val="#ppt_x"/>
                                          </p:val>
                                        </p:tav>
                                      </p:tavLst>
                                    </p:anim>
                                    <p:anim calcmode="lin" valueType="num">
                                      <p:cBhvr additive="base">
                                        <p:cTn id="59" dur="500" fill="hold"/>
                                        <p:tgtEl>
                                          <p:spTgt spid="8">
                                            <p:txEl>
                                              <p:pRg st="1" end="1"/>
                                            </p:txEl>
                                          </p:spTgt>
                                        </p:tgtEl>
                                        <p:attrNameLst>
                                          <p:attrName>ppt_y</p:attrName>
                                        </p:attrNameLst>
                                      </p:cBhvr>
                                      <p:tavLst>
                                        <p:tav tm="0">
                                          <p:val>
                                            <p:strVal val="#ppt_y"/>
                                          </p:val>
                                        </p:tav>
                                        <p:tav tm="100000">
                                          <p:val>
                                            <p:strVal val="#ppt_y"/>
                                          </p:val>
                                        </p:tav>
                                      </p:tavLst>
                                    </p:anim>
                                  </p:childTnLst>
                                </p:cTn>
                              </p:par>
                            </p:childTnLst>
                          </p:cTn>
                        </p:par>
                        <p:par>
                          <p:cTn id="60" fill="hold">
                            <p:stCondLst>
                              <p:cond delay="5500"/>
                            </p:stCondLst>
                            <p:childTnLst>
                              <p:par>
                                <p:cTn id="61" presetID="2" presetClass="entr" presetSubtype="2" fill="hold" nodeType="afterEffect">
                                  <p:stCondLst>
                                    <p:cond delay="0"/>
                                  </p:stCondLst>
                                  <p:childTnLst>
                                    <p:set>
                                      <p:cBhvr>
                                        <p:cTn id="62" dur="1" fill="hold">
                                          <p:stCondLst>
                                            <p:cond delay="0"/>
                                          </p:stCondLst>
                                        </p:cTn>
                                        <p:tgtEl>
                                          <p:spTgt spid="8">
                                            <p:txEl>
                                              <p:pRg st="2" end="2"/>
                                            </p:txEl>
                                          </p:spTgt>
                                        </p:tgtEl>
                                        <p:attrNameLst>
                                          <p:attrName>style.visibility</p:attrName>
                                        </p:attrNameLst>
                                      </p:cBhvr>
                                      <p:to>
                                        <p:strVal val="visible"/>
                                      </p:to>
                                    </p:set>
                                    <p:anim calcmode="lin" valueType="num">
                                      <p:cBhvr additive="base">
                                        <p:cTn id="63" dur="500" fill="hold"/>
                                        <p:tgtEl>
                                          <p:spTgt spid="8">
                                            <p:txEl>
                                              <p:pRg st="2" end="2"/>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build="p"/>
      <p:bldGraphic spid="7" grpId="0">
        <p:bldAsOne/>
      </p:bldGraphic>
      <p:bldP spid="8" grpId="0"/>
      <p:bldGraphic spid="12"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9D7A3-8413-3972-FDE5-BC6A34A9CA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D537E08-DB7F-CD29-176F-1A65D0FFC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4CDD9D21-59A6-9C31-E58C-5629AC01D01C}"/>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7" name="Title 16">
            <a:extLst>
              <a:ext uri="{FF2B5EF4-FFF2-40B4-BE49-F238E27FC236}">
                <a16:creationId xmlns:a16="http://schemas.microsoft.com/office/drawing/2014/main" id="{33166BE8-2D48-1A65-A3EA-44D3CB1B9581}"/>
              </a:ext>
            </a:extLst>
          </p:cNvPr>
          <p:cNvSpPr>
            <a:spLocks noGrp="1"/>
          </p:cNvSpPr>
          <p:nvPr>
            <p:ph type="title"/>
          </p:nvPr>
        </p:nvSpPr>
        <p:spPr>
          <a:xfrm>
            <a:off x="838200" y="73722"/>
            <a:ext cx="10515600" cy="805785"/>
          </a:xfrm>
        </p:spPr>
        <p:txBody>
          <a:bodyPr/>
          <a:lstStyle/>
          <a:p>
            <a:pPr algn="ctr"/>
            <a:r>
              <a:rPr lang="en-IN" u="sng" dirty="0">
                <a:latin typeface="Castellar" panose="020A0402060406010301" pitchFamily="18" charset="0"/>
              </a:rPr>
              <a:t>Charts &amp; Visual Analysis </a:t>
            </a:r>
          </a:p>
        </p:txBody>
      </p:sp>
      <p:sp>
        <p:nvSpPr>
          <p:cNvPr id="6" name="Content Placeholder 5">
            <a:extLst>
              <a:ext uri="{FF2B5EF4-FFF2-40B4-BE49-F238E27FC236}">
                <a16:creationId xmlns:a16="http://schemas.microsoft.com/office/drawing/2014/main" id="{3E3A20D6-7894-1459-22A6-A9B3057F42BD}"/>
              </a:ext>
            </a:extLst>
          </p:cNvPr>
          <p:cNvSpPr>
            <a:spLocks noGrp="1"/>
          </p:cNvSpPr>
          <p:nvPr>
            <p:ph sz="quarter" idx="4"/>
          </p:nvPr>
        </p:nvSpPr>
        <p:spPr>
          <a:xfrm>
            <a:off x="604663" y="947557"/>
            <a:ext cx="5183188" cy="3684588"/>
          </a:xfrm>
        </p:spPr>
        <p:txBody>
          <a:bodyPr>
            <a:normAutofit/>
          </a:bodyPr>
          <a:lstStyle/>
          <a:p>
            <a:pPr marL="0" indent="0">
              <a:buNone/>
            </a:pPr>
            <a:r>
              <a:rPr lang="en-US" sz="1800" b="1" dirty="0">
                <a:solidFill>
                  <a:schemeClr val="accent5">
                    <a:lumMod val="75000"/>
                  </a:schemeClr>
                </a:solidFill>
                <a:latin typeface="Arial" panose="020B0604020202020204" pitchFamily="34" charset="0"/>
                <a:cs typeface="Arial" panose="020B0604020202020204" pitchFamily="34" charset="0"/>
              </a:rPr>
              <a:t>Order Status Distribution – Stacked Bar Chart:</a:t>
            </a:r>
          </a:p>
          <a:p>
            <a:r>
              <a:rPr lang="en-US" sz="1800" dirty="0">
                <a:latin typeface="Arial" panose="020B0604020202020204" pitchFamily="34" charset="0"/>
                <a:cs typeface="Arial" panose="020B0604020202020204" pitchFamily="34" charset="0"/>
              </a:rPr>
              <a:t>Displays the distribution of order statuses such as </a:t>
            </a:r>
            <a:r>
              <a:rPr lang="en-US" sz="1800" b="1" dirty="0">
                <a:latin typeface="Arial" panose="020B0604020202020204" pitchFamily="34" charset="0"/>
                <a:cs typeface="Arial" panose="020B0604020202020204" pitchFamily="34" charset="0"/>
              </a:rPr>
              <a:t>Delivered, Cancelled, Returned, and Refunded</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Enables comparison of </a:t>
            </a:r>
            <a:r>
              <a:rPr lang="en-US" sz="1800" b="1" dirty="0">
                <a:latin typeface="Arial" panose="020B0604020202020204" pitchFamily="34" charset="0"/>
                <a:cs typeface="Arial" panose="020B0604020202020204" pitchFamily="34" charset="0"/>
              </a:rPr>
              <a:t>order outcomes</a:t>
            </a:r>
            <a:r>
              <a:rPr lang="en-US" sz="1800" dirty="0">
                <a:latin typeface="Arial" panose="020B0604020202020204" pitchFamily="34" charset="0"/>
                <a:cs typeface="Arial" panose="020B0604020202020204" pitchFamily="34" charset="0"/>
              </a:rPr>
              <a:t> and highlights operational efficiency.</a:t>
            </a:r>
          </a:p>
          <a:p>
            <a:endParaRPr lang="en-IN" dirty="0"/>
          </a:p>
        </p:txBody>
      </p:sp>
      <p:sp>
        <p:nvSpPr>
          <p:cNvPr id="11" name="Content Placeholder 2">
            <a:extLst>
              <a:ext uri="{FF2B5EF4-FFF2-40B4-BE49-F238E27FC236}">
                <a16:creationId xmlns:a16="http://schemas.microsoft.com/office/drawing/2014/main" id="{D71C7617-D72B-FE95-4AEF-90AFB4B87BF7}"/>
              </a:ext>
            </a:extLst>
          </p:cNvPr>
          <p:cNvSpPr txBox="1">
            <a:spLocks/>
          </p:cNvSpPr>
          <p:nvPr/>
        </p:nvSpPr>
        <p:spPr>
          <a:xfrm>
            <a:off x="6634070" y="3765010"/>
            <a:ext cx="5157787" cy="380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5">
                    <a:lumMod val="75000"/>
                  </a:schemeClr>
                </a:solidFill>
              </a:rPr>
              <a:t>Category-wise Sales Share – Pie / Donut Chart:</a:t>
            </a:r>
          </a:p>
          <a:p>
            <a:r>
              <a:rPr lang="en-US" sz="2000" dirty="0"/>
              <a:t>Shows the </a:t>
            </a:r>
            <a:r>
              <a:rPr lang="en-US" sz="2000" b="1" dirty="0"/>
              <a:t>percentage contribution of each product category</a:t>
            </a:r>
            <a:r>
              <a:rPr lang="en-US" sz="2000" dirty="0"/>
              <a:t> to total sales.</a:t>
            </a:r>
          </a:p>
          <a:p>
            <a:r>
              <a:rPr lang="en-US" sz="2000" dirty="0"/>
              <a:t>Useful for understanding </a:t>
            </a:r>
            <a:r>
              <a:rPr lang="en-US" sz="2000" b="1" dirty="0"/>
              <a:t>product mix and customer preferences</a:t>
            </a:r>
            <a:r>
              <a:rPr lang="en-US" sz="2000" dirty="0"/>
              <a:t>.</a:t>
            </a:r>
          </a:p>
          <a:p>
            <a:pPr marL="0" indent="0">
              <a:buNone/>
            </a:pPr>
            <a:endParaRPr lang="en-US" sz="2000" dirty="0"/>
          </a:p>
          <a:p>
            <a:endParaRPr lang="en-IN" dirty="0"/>
          </a:p>
        </p:txBody>
      </p:sp>
      <p:cxnSp>
        <p:nvCxnSpPr>
          <p:cNvPr id="14" name="Straight Arrow Connector 13">
            <a:extLst>
              <a:ext uri="{FF2B5EF4-FFF2-40B4-BE49-F238E27FC236}">
                <a16:creationId xmlns:a16="http://schemas.microsoft.com/office/drawing/2014/main" id="{BBC195C4-2A64-C038-796B-E7956F68DA4D}"/>
              </a:ext>
            </a:extLst>
          </p:cNvPr>
          <p:cNvCxnSpPr/>
          <p:nvPr/>
        </p:nvCxnSpPr>
        <p:spPr>
          <a:xfrm>
            <a:off x="5787851" y="2053117"/>
            <a:ext cx="10450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1F9BD80-9726-9DCD-FE5E-CED709A10AC7}"/>
              </a:ext>
            </a:extLst>
          </p:cNvPr>
          <p:cNvCxnSpPr/>
          <p:nvPr/>
        </p:nvCxnSpPr>
        <p:spPr>
          <a:xfrm flipH="1">
            <a:off x="5576835" y="4837726"/>
            <a:ext cx="9947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2" name="Chart 1">
            <a:extLst>
              <a:ext uri="{FF2B5EF4-FFF2-40B4-BE49-F238E27FC236}">
                <a16:creationId xmlns:a16="http://schemas.microsoft.com/office/drawing/2014/main" id="{0E8BD53E-B9EE-144D-616C-1D482C0A0B72}"/>
              </a:ext>
            </a:extLst>
          </p:cNvPr>
          <p:cNvGraphicFramePr>
            <a:graphicFrameLocks/>
          </p:cNvGraphicFramePr>
          <p:nvPr>
            <p:extLst>
              <p:ext uri="{D42A27DB-BD31-4B8C-83A1-F6EECF244321}">
                <p14:modId xmlns:p14="http://schemas.microsoft.com/office/powerpoint/2010/main" val="221244509"/>
              </p:ext>
            </p:extLst>
          </p:nvPr>
        </p:nvGraphicFramePr>
        <p:xfrm>
          <a:off x="7222101" y="879507"/>
          <a:ext cx="3917847" cy="2453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B36D6C02-7783-EFB2-52CD-AB42A53A4E13}"/>
              </a:ext>
            </a:extLst>
          </p:cNvPr>
          <p:cNvGraphicFramePr>
            <a:graphicFrameLocks/>
          </p:cNvGraphicFramePr>
          <p:nvPr>
            <p:extLst>
              <p:ext uri="{D42A27DB-BD31-4B8C-83A1-F6EECF244321}">
                <p14:modId xmlns:p14="http://schemas.microsoft.com/office/powerpoint/2010/main" val="3038532917"/>
              </p:ext>
            </p:extLst>
          </p:nvPr>
        </p:nvGraphicFramePr>
        <p:xfrm>
          <a:off x="917708" y="3400515"/>
          <a:ext cx="4183505" cy="270986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99345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4" presetClass="entr" presetSubtype="16"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1000"/>
                                        <p:tgtEl>
                                          <p:spTgt spid="2"/>
                                        </p:tgtEl>
                                      </p:cBhvr>
                                    </p:animEffec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par>
                          <p:cTn id="19" fill="hold">
                            <p:stCondLst>
                              <p:cond delay="2000"/>
                            </p:stCondLst>
                            <p:childTnLst>
                              <p:par>
                                <p:cTn id="20" presetID="2" presetClass="entr" presetSubtype="8" fill="hold" nodeType="after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 calcmode="lin" valueType="num">
                                      <p:cBhvr additive="base">
                                        <p:cTn id="22"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24" fill="hold">
                            <p:stCondLst>
                              <p:cond delay="2500"/>
                            </p:stCondLst>
                            <p:childTnLst>
                              <p:par>
                                <p:cTn id="25" presetID="2" presetClass="entr" presetSubtype="8" fill="hold" nodeType="after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 calcmode="lin" valueType="num">
                                      <p:cBhvr additive="base">
                                        <p:cTn id="27"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par>
                          <p:cTn id="29" fill="hold">
                            <p:stCondLst>
                              <p:cond delay="3000"/>
                            </p:stCondLst>
                            <p:childTnLst>
                              <p:par>
                                <p:cTn id="30" presetID="2" presetClass="entr" presetSubtype="8" fill="hold" nodeType="after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 calcmode="lin" valueType="num">
                                      <p:cBhvr additive="base">
                                        <p:cTn id="32"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5" presetID="6" presetClass="entr" presetSubtype="32"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circle(out)">
                                      <p:cBhvr>
                                        <p:cTn id="37" dur="1000"/>
                                        <p:tgtEl>
                                          <p:spTgt spid="4"/>
                                        </p:tgtEl>
                                      </p:cBhvr>
                                    </p:animEffect>
                                  </p:childTnLst>
                                </p:cTn>
                              </p:par>
                            </p:childTnLst>
                          </p:cTn>
                        </p:par>
                        <p:par>
                          <p:cTn id="38" fill="hold">
                            <p:stCondLst>
                              <p:cond delay="4500"/>
                            </p:stCondLst>
                            <p:childTnLst>
                              <p:par>
                                <p:cTn id="39" presetID="2" presetClass="entr" presetSubtype="2" fill="hold" nodeType="after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1+#ppt_w/2"/>
                                          </p:val>
                                        </p:tav>
                                        <p:tav tm="100000">
                                          <p:val>
                                            <p:strVal val="#ppt_x"/>
                                          </p:val>
                                        </p:tav>
                                      </p:tavLst>
                                    </p:anim>
                                    <p:anim calcmode="lin" valueType="num">
                                      <p:cBhvr additive="base">
                                        <p:cTn id="42" dur="500" fill="hold"/>
                                        <p:tgtEl>
                                          <p:spTgt spid="19"/>
                                        </p:tgtEl>
                                        <p:attrNameLst>
                                          <p:attrName>ppt_y</p:attrName>
                                        </p:attrNameLst>
                                      </p:cBhvr>
                                      <p:tavLst>
                                        <p:tav tm="0">
                                          <p:val>
                                            <p:strVal val="#ppt_y"/>
                                          </p:val>
                                        </p:tav>
                                        <p:tav tm="100000">
                                          <p:val>
                                            <p:strVal val="#ppt_y"/>
                                          </p:val>
                                        </p:tav>
                                      </p:tavLst>
                                    </p:anim>
                                  </p:childTnLst>
                                </p:cTn>
                              </p:par>
                            </p:childTnLst>
                          </p:cTn>
                        </p:par>
                        <p:par>
                          <p:cTn id="43" fill="hold">
                            <p:stCondLst>
                              <p:cond delay="5000"/>
                            </p:stCondLst>
                            <p:childTnLst>
                              <p:par>
                                <p:cTn id="44" presetID="2" presetClass="entr" presetSubtype="2" fill="hold" nodeType="afterEffect">
                                  <p:stCondLst>
                                    <p:cond delay="0"/>
                                  </p:stCondLst>
                                  <p:childTnLst>
                                    <p:set>
                                      <p:cBhvr>
                                        <p:cTn id="45" dur="1" fill="hold">
                                          <p:stCondLst>
                                            <p:cond delay="0"/>
                                          </p:stCondLst>
                                        </p:cTn>
                                        <p:tgtEl>
                                          <p:spTgt spid="11">
                                            <p:txEl>
                                              <p:pRg st="0" end="0"/>
                                            </p:txEl>
                                          </p:spTgt>
                                        </p:tgtEl>
                                        <p:attrNameLst>
                                          <p:attrName>style.visibility</p:attrName>
                                        </p:attrNameLst>
                                      </p:cBhvr>
                                      <p:to>
                                        <p:strVal val="visible"/>
                                      </p:to>
                                    </p:set>
                                    <p:anim calcmode="lin" valueType="num">
                                      <p:cBhvr additive="base">
                                        <p:cTn id="46"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48" fill="hold">
                            <p:stCondLst>
                              <p:cond delay="5500"/>
                            </p:stCondLst>
                            <p:childTnLst>
                              <p:par>
                                <p:cTn id="49" presetID="2" presetClass="entr" presetSubtype="2" fill="hold" nodeType="afterEffect">
                                  <p:stCondLst>
                                    <p:cond delay="0"/>
                                  </p:stCondLst>
                                  <p:childTnLst>
                                    <p:set>
                                      <p:cBhvr>
                                        <p:cTn id="50" dur="1" fill="hold">
                                          <p:stCondLst>
                                            <p:cond delay="0"/>
                                          </p:stCondLst>
                                        </p:cTn>
                                        <p:tgtEl>
                                          <p:spTgt spid="11">
                                            <p:txEl>
                                              <p:pRg st="1" end="1"/>
                                            </p:txEl>
                                          </p:spTgt>
                                        </p:tgtEl>
                                        <p:attrNameLst>
                                          <p:attrName>style.visibility</p:attrName>
                                        </p:attrNameLst>
                                      </p:cBhvr>
                                      <p:to>
                                        <p:strVal val="visible"/>
                                      </p:to>
                                    </p:set>
                                    <p:anim calcmode="lin" valueType="num">
                                      <p:cBhvr additive="base">
                                        <p:cTn id="51" dur="500" fill="hold"/>
                                        <p:tgtEl>
                                          <p:spTgt spid="11">
                                            <p:txEl>
                                              <p:pRg st="1" end="1"/>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11">
                                            <p:txEl>
                                              <p:pRg st="1" end="1"/>
                                            </p:txEl>
                                          </p:spTgt>
                                        </p:tgtEl>
                                        <p:attrNameLst>
                                          <p:attrName>ppt_y</p:attrName>
                                        </p:attrNameLst>
                                      </p:cBhvr>
                                      <p:tavLst>
                                        <p:tav tm="0">
                                          <p:val>
                                            <p:strVal val="#ppt_y"/>
                                          </p:val>
                                        </p:tav>
                                        <p:tav tm="100000">
                                          <p:val>
                                            <p:strVal val="#ppt_y"/>
                                          </p:val>
                                        </p:tav>
                                      </p:tavLst>
                                    </p:anim>
                                  </p:childTnLst>
                                </p:cTn>
                              </p:par>
                            </p:childTnLst>
                          </p:cTn>
                        </p:par>
                        <p:par>
                          <p:cTn id="53" fill="hold">
                            <p:stCondLst>
                              <p:cond delay="6000"/>
                            </p:stCondLst>
                            <p:childTnLst>
                              <p:par>
                                <p:cTn id="54" presetID="2" presetClass="entr" presetSubtype="2" fill="hold" nodeType="afterEffect">
                                  <p:stCondLst>
                                    <p:cond delay="0"/>
                                  </p:stCondLst>
                                  <p:childTnLst>
                                    <p:set>
                                      <p:cBhvr>
                                        <p:cTn id="55" dur="1" fill="hold">
                                          <p:stCondLst>
                                            <p:cond delay="0"/>
                                          </p:stCondLst>
                                        </p:cTn>
                                        <p:tgtEl>
                                          <p:spTgt spid="11">
                                            <p:txEl>
                                              <p:pRg st="2" end="2"/>
                                            </p:txEl>
                                          </p:spTgt>
                                        </p:tgtEl>
                                        <p:attrNameLst>
                                          <p:attrName>style.visibility</p:attrName>
                                        </p:attrNameLst>
                                      </p:cBhvr>
                                      <p:to>
                                        <p:strVal val="visible"/>
                                      </p:to>
                                    </p:set>
                                    <p:anim calcmode="lin" valueType="num">
                                      <p:cBhvr additive="base">
                                        <p:cTn id="56" dur="500" fill="hold"/>
                                        <p:tgtEl>
                                          <p:spTgt spid="11">
                                            <p:txEl>
                                              <p:pRg st="2" end="2"/>
                                            </p:txEl>
                                          </p:spTgt>
                                        </p:tgtEl>
                                        <p:attrNameLst>
                                          <p:attrName>ppt_x</p:attrName>
                                        </p:attrNameLst>
                                      </p:cBhvr>
                                      <p:tavLst>
                                        <p:tav tm="0">
                                          <p:val>
                                            <p:strVal val="1+#ppt_w/2"/>
                                          </p:val>
                                        </p:tav>
                                        <p:tav tm="100000">
                                          <p:val>
                                            <p:strVal val="#ppt_x"/>
                                          </p:val>
                                        </p:tav>
                                      </p:tavLst>
                                    </p:anim>
                                    <p:anim calcmode="lin" valueType="num">
                                      <p:cBhvr additive="base">
                                        <p:cTn id="57" dur="500" fill="hold"/>
                                        <p:tgtEl>
                                          <p:spTgt spid="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Graphic spid="2" grpId="0">
        <p:bldAsOne/>
      </p:bldGraphic>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904EC-1914-3BE1-4EEE-31B4D8588D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9653A80-7ECD-EEFA-72EE-9233F4C43D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5C037419-AE39-B796-F509-E942898C3FD5}"/>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7" name="Title 16">
            <a:extLst>
              <a:ext uri="{FF2B5EF4-FFF2-40B4-BE49-F238E27FC236}">
                <a16:creationId xmlns:a16="http://schemas.microsoft.com/office/drawing/2014/main" id="{70F1FCDA-0480-7B3B-542A-B6EEF4D25E7C}"/>
              </a:ext>
            </a:extLst>
          </p:cNvPr>
          <p:cNvSpPr>
            <a:spLocks noGrp="1"/>
          </p:cNvSpPr>
          <p:nvPr>
            <p:ph type="title"/>
          </p:nvPr>
        </p:nvSpPr>
        <p:spPr>
          <a:xfrm>
            <a:off x="838200" y="73722"/>
            <a:ext cx="10515600" cy="805785"/>
          </a:xfrm>
        </p:spPr>
        <p:txBody>
          <a:bodyPr>
            <a:normAutofit fontScale="90000"/>
          </a:bodyPr>
          <a:lstStyle/>
          <a:p>
            <a:pPr algn="ctr"/>
            <a:r>
              <a:rPr lang="en-US" u="sng" dirty="0">
                <a:latin typeface="Castellar" panose="020A0402060406010301" pitchFamily="18" charset="0"/>
              </a:rPr>
              <a:t>Correlation &amp; Business Insight </a:t>
            </a:r>
            <a:endParaRPr lang="en-IN" u="sng" dirty="0">
              <a:latin typeface="Castellar" panose="020A0402060406010301" pitchFamily="18" charset="0"/>
            </a:endParaRPr>
          </a:p>
        </p:txBody>
      </p:sp>
      <p:sp>
        <p:nvSpPr>
          <p:cNvPr id="6" name="Content Placeholder 5">
            <a:extLst>
              <a:ext uri="{FF2B5EF4-FFF2-40B4-BE49-F238E27FC236}">
                <a16:creationId xmlns:a16="http://schemas.microsoft.com/office/drawing/2014/main" id="{C6F4E4C0-BCC7-1928-952D-421B92A789D4}"/>
              </a:ext>
            </a:extLst>
          </p:cNvPr>
          <p:cNvSpPr>
            <a:spLocks noGrp="1"/>
          </p:cNvSpPr>
          <p:nvPr>
            <p:ph sz="quarter" idx="4"/>
          </p:nvPr>
        </p:nvSpPr>
        <p:spPr>
          <a:xfrm>
            <a:off x="604663" y="1170039"/>
            <a:ext cx="5183188" cy="3565303"/>
          </a:xfrm>
        </p:spPr>
        <p:txBody>
          <a:bodyPr>
            <a:normAutofit fontScale="92500"/>
          </a:bodyPr>
          <a:lstStyle/>
          <a:p>
            <a:pPr marL="0" indent="0">
              <a:buNone/>
            </a:pPr>
            <a:r>
              <a:rPr lang="en-US" sz="2400" b="1" dirty="0">
                <a:solidFill>
                  <a:schemeClr val="accent5">
                    <a:lumMod val="75000"/>
                  </a:schemeClr>
                </a:solidFill>
              </a:rPr>
              <a:t>Quantity vs Amount (Correlation = 0.17)</a:t>
            </a:r>
          </a:p>
          <a:p>
            <a:r>
              <a:rPr lang="en-US" sz="2400" dirty="0"/>
              <a:t>Shows a </a:t>
            </a:r>
            <a:r>
              <a:rPr lang="en-US" sz="2400" b="1" dirty="0"/>
              <a:t>weak positive relationship</a:t>
            </a:r>
            <a:r>
              <a:rPr lang="en-US" sz="2400" dirty="0"/>
              <a:t> between quantity and order amount.</a:t>
            </a:r>
          </a:p>
          <a:p>
            <a:r>
              <a:rPr lang="en-US" sz="2400" dirty="0"/>
              <a:t>This means that as quantity increases, the order amount increases </a:t>
            </a:r>
            <a:r>
              <a:rPr lang="en-US" sz="2400" b="1" dirty="0"/>
              <a:t>slightly</a:t>
            </a:r>
            <a:r>
              <a:rPr lang="en-US" sz="2400" dirty="0"/>
              <a:t>, but not significantly.</a:t>
            </a:r>
          </a:p>
          <a:p>
            <a:r>
              <a:rPr lang="en-US" sz="2400" dirty="0"/>
              <a:t>Indicates that higher spending is </a:t>
            </a:r>
            <a:r>
              <a:rPr lang="en-US" sz="2400" b="1" dirty="0"/>
              <a:t>not mainly driven by buying more items</a:t>
            </a:r>
            <a:r>
              <a:rPr lang="en-US" sz="2400" dirty="0"/>
              <a:t>, but possibly by </a:t>
            </a:r>
            <a:r>
              <a:rPr lang="en-US" sz="2400" b="1" dirty="0"/>
              <a:t>product price or category</a:t>
            </a:r>
            <a:r>
              <a:rPr lang="en-US" sz="2400" dirty="0"/>
              <a:t>.</a:t>
            </a:r>
          </a:p>
          <a:p>
            <a:pPr marL="0" indent="0">
              <a:buNone/>
            </a:pPr>
            <a:endParaRPr lang="en-US" sz="2400" dirty="0"/>
          </a:p>
          <a:p>
            <a:endParaRPr lang="en-IN" sz="3600" dirty="0"/>
          </a:p>
        </p:txBody>
      </p:sp>
      <p:sp>
        <p:nvSpPr>
          <p:cNvPr id="11" name="Content Placeholder 2">
            <a:extLst>
              <a:ext uri="{FF2B5EF4-FFF2-40B4-BE49-F238E27FC236}">
                <a16:creationId xmlns:a16="http://schemas.microsoft.com/office/drawing/2014/main" id="{61042BFC-63EA-F31A-EBA5-9892594FC770}"/>
              </a:ext>
            </a:extLst>
          </p:cNvPr>
          <p:cNvSpPr txBox="1">
            <a:spLocks/>
          </p:cNvSpPr>
          <p:nvPr/>
        </p:nvSpPr>
        <p:spPr>
          <a:xfrm>
            <a:off x="6700663" y="1170039"/>
            <a:ext cx="5091194" cy="36636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5">
                    <a:lumMod val="75000"/>
                  </a:schemeClr>
                </a:solidFill>
              </a:rPr>
              <a:t>Age vs Amount (Correlation = 0.003</a:t>
            </a:r>
            <a:r>
              <a:rPr lang="en-US" sz="2400" b="1" dirty="0"/>
              <a:t>)</a:t>
            </a:r>
          </a:p>
          <a:p>
            <a:r>
              <a:rPr lang="en-US" sz="2400" dirty="0"/>
              <a:t>Shows </a:t>
            </a:r>
            <a:r>
              <a:rPr lang="en-US" sz="2400" b="1" dirty="0"/>
              <a:t>almost no relationship</a:t>
            </a:r>
            <a:r>
              <a:rPr lang="en-US" sz="2400" dirty="0"/>
              <a:t> between customer age and order amount.</a:t>
            </a:r>
          </a:p>
          <a:p>
            <a:r>
              <a:rPr lang="en-US" sz="2400" dirty="0"/>
              <a:t>Spending behavior is </a:t>
            </a:r>
            <a:r>
              <a:rPr lang="en-US" sz="2400" b="1" dirty="0"/>
              <a:t>consistent across age groups</a:t>
            </a:r>
            <a:r>
              <a:rPr lang="en-US" sz="2400" dirty="0"/>
              <a:t>, with no specific age segment dominating higher-value purchases.</a:t>
            </a:r>
          </a:p>
          <a:p>
            <a:pPr marL="0" indent="0">
              <a:buNone/>
            </a:pPr>
            <a:endParaRPr lang="en-US" sz="2400" dirty="0"/>
          </a:p>
          <a:p>
            <a:endParaRPr lang="en-IN" sz="3200" dirty="0"/>
          </a:p>
        </p:txBody>
      </p:sp>
      <p:sp>
        <p:nvSpPr>
          <p:cNvPr id="3" name="Content Placeholder 2">
            <a:extLst>
              <a:ext uri="{FF2B5EF4-FFF2-40B4-BE49-F238E27FC236}">
                <a16:creationId xmlns:a16="http://schemas.microsoft.com/office/drawing/2014/main" id="{D7929C20-7882-C149-266D-1C2DCC7A545D}"/>
              </a:ext>
            </a:extLst>
          </p:cNvPr>
          <p:cNvSpPr txBox="1">
            <a:spLocks/>
          </p:cNvSpPr>
          <p:nvPr/>
        </p:nvSpPr>
        <p:spPr>
          <a:xfrm>
            <a:off x="312516" y="4866967"/>
            <a:ext cx="11566968" cy="15808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u="sng" dirty="0">
                <a:solidFill>
                  <a:schemeClr val="accent5">
                    <a:lumMod val="75000"/>
                  </a:schemeClr>
                </a:solidFill>
              </a:rPr>
              <a:t>Business Interpretation:</a:t>
            </a:r>
          </a:p>
          <a:p>
            <a:r>
              <a:rPr lang="en-US" sz="2000" dirty="0"/>
              <a:t>Quantity-based discounts may have </a:t>
            </a:r>
            <a:r>
              <a:rPr lang="en-US" sz="2000" b="1" dirty="0"/>
              <a:t>limited impact</a:t>
            </a:r>
            <a:r>
              <a:rPr lang="en-US" sz="2000" dirty="0"/>
              <a:t> on increasing order value.</a:t>
            </a:r>
          </a:p>
          <a:p>
            <a:r>
              <a:rPr lang="en-US" sz="2000" dirty="0"/>
              <a:t>Marketing strategies should focus more on </a:t>
            </a:r>
            <a:r>
              <a:rPr lang="en-US" sz="2000" b="1" dirty="0"/>
              <a:t>product mix and pricing</a:t>
            </a:r>
            <a:r>
              <a:rPr lang="en-US" sz="2000" dirty="0"/>
              <a:t>, rather than age-based targeting.</a:t>
            </a:r>
          </a:p>
          <a:p>
            <a:pPr marL="0" indent="0">
              <a:buNone/>
            </a:pPr>
            <a:endParaRPr lang="en-US" sz="2000" dirty="0"/>
          </a:p>
          <a:p>
            <a:endParaRPr lang="en-IN" dirty="0"/>
          </a:p>
        </p:txBody>
      </p:sp>
      <p:cxnSp>
        <p:nvCxnSpPr>
          <p:cNvPr id="4" name="Straight Connector 3">
            <a:extLst>
              <a:ext uri="{FF2B5EF4-FFF2-40B4-BE49-F238E27FC236}">
                <a16:creationId xmlns:a16="http://schemas.microsoft.com/office/drawing/2014/main" id="{790CF94C-33D3-C717-0EBE-8FDB7292162F}"/>
              </a:ext>
            </a:extLst>
          </p:cNvPr>
          <p:cNvCxnSpPr>
            <a:cxnSpLocks/>
          </p:cNvCxnSpPr>
          <p:nvPr/>
        </p:nvCxnSpPr>
        <p:spPr>
          <a:xfrm>
            <a:off x="6217413" y="1011132"/>
            <a:ext cx="39329" cy="372421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61155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500"/>
                                        <p:tgtEl>
                                          <p:spTgt spid="6">
                                            <p:txEl>
                                              <p:pRg st="0" end="0"/>
                                            </p:txEl>
                                          </p:spTgt>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500"/>
                                        <p:tgtEl>
                                          <p:spTgt spid="6">
                                            <p:txEl>
                                              <p:pRg st="2" end="2"/>
                                            </p:txEl>
                                          </p:spTgt>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500"/>
                                        <p:tgtEl>
                                          <p:spTgt spid="6">
                                            <p:txEl>
                                              <p:pRg st="3" end="3"/>
                                            </p:txEl>
                                          </p:spTgt>
                                        </p:tgtEl>
                                      </p:cBhvr>
                                    </p:animEffect>
                                  </p:childTnLst>
                                </p:cTn>
                              </p:par>
                            </p:childTnLst>
                          </p:cTn>
                        </p:par>
                        <p:par>
                          <p:cTn id="26" fill="hold">
                            <p:stCondLst>
                              <p:cond delay="2500"/>
                            </p:stCondLst>
                            <p:childTnLst>
                              <p:par>
                                <p:cTn id="27" presetID="42"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1000" fill="hold"/>
                                        <p:tgtEl>
                                          <p:spTgt spid="4"/>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Effect transition="in" filter="fade">
                                      <p:cBhvr>
                                        <p:cTn id="35" dur="500"/>
                                        <p:tgtEl>
                                          <p:spTgt spid="11">
                                            <p:txEl>
                                              <p:pRg st="0" end="0"/>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animEffect transition="in" filter="fade">
                                      <p:cBhvr>
                                        <p:cTn id="39" dur="500"/>
                                        <p:tgtEl>
                                          <p:spTgt spid="11">
                                            <p:txEl>
                                              <p:p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animEffect transition="in" filter="fade">
                                      <p:cBhvr>
                                        <p:cTn id="43" dur="500"/>
                                        <p:tgtEl>
                                          <p:spTgt spid="11">
                                            <p:txEl>
                                              <p:pRg st="2" end="2"/>
                                            </p:txEl>
                                          </p:spTgt>
                                        </p:tgtEl>
                                      </p:cBhvr>
                                    </p:animEffect>
                                  </p:childTnLst>
                                </p:cTn>
                              </p:par>
                            </p:childTnLst>
                          </p:cTn>
                        </p:par>
                        <p:par>
                          <p:cTn id="44" fill="hold">
                            <p:stCondLst>
                              <p:cond delay="5000"/>
                            </p:stCondLst>
                            <p:childTnLst>
                              <p:par>
                                <p:cTn id="45" presetID="2" presetClass="entr" presetSubtype="4" fill="hold" nodeType="after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anim calcmode="lin" valueType="num">
                                      <p:cBhvr additive="base">
                                        <p:cTn id="4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49" fill="hold">
                            <p:stCondLst>
                              <p:cond delay="5500"/>
                            </p:stCondLst>
                            <p:childTnLst>
                              <p:par>
                                <p:cTn id="50" presetID="2" presetClass="entr" presetSubtype="4" fill="hold" nodeType="afterEffect">
                                  <p:stCondLst>
                                    <p:cond delay="0"/>
                                  </p:stCondLst>
                                  <p:childTnLst>
                                    <p:set>
                                      <p:cBhvr>
                                        <p:cTn id="51" dur="1" fill="hold">
                                          <p:stCondLst>
                                            <p:cond delay="0"/>
                                          </p:stCondLst>
                                        </p:cTn>
                                        <p:tgtEl>
                                          <p:spTgt spid="3">
                                            <p:txEl>
                                              <p:pRg st="1" end="1"/>
                                            </p:txEl>
                                          </p:spTgt>
                                        </p:tgtEl>
                                        <p:attrNameLst>
                                          <p:attrName>style.visibility</p:attrName>
                                        </p:attrNameLst>
                                      </p:cBhvr>
                                      <p:to>
                                        <p:strVal val="visible"/>
                                      </p:to>
                                    </p:set>
                                    <p:anim calcmode="lin" valueType="num">
                                      <p:cBhvr additive="base">
                                        <p:cTn id="5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54" fill="hold">
                            <p:stCondLst>
                              <p:cond delay="6000"/>
                            </p:stCondLst>
                            <p:childTnLst>
                              <p:par>
                                <p:cTn id="55" presetID="2" presetClass="entr" presetSubtype="4" fill="hold" nodeType="after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 calcmode="lin" valueType="num">
                                      <p:cBhvr additive="base">
                                        <p:cTn id="5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D420-732A-FDEA-0A29-30EC1A616F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98FD80-C562-089C-E83B-834BE33A68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A98AA658-0CB8-B573-98EC-897A9749875D}"/>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7" name="Title 16">
            <a:extLst>
              <a:ext uri="{FF2B5EF4-FFF2-40B4-BE49-F238E27FC236}">
                <a16:creationId xmlns:a16="http://schemas.microsoft.com/office/drawing/2014/main" id="{62B7E75F-F85F-BE7A-549D-BC05389BB4D1}"/>
              </a:ext>
            </a:extLst>
          </p:cNvPr>
          <p:cNvSpPr>
            <a:spLocks noGrp="1"/>
          </p:cNvSpPr>
          <p:nvPr>
            <p:ph type="title"/>
          </p:nvPr>
        </p:nvSpPr>
        <p:spPr>
          <a:xfrm>
            <a:off x="907026" y="278512"/>
            <a:ext cx="10515600" cy="805785"/>
          </a:xfrm>
        </p:spPr>
        <p:txBody>
          <a:bodyPr>
            <a:normAutofit fontScale="90000"/>
          </a:bodyPr>
          <a:lstStyle/>
          <a:p>
            <a:pPr algn="ctr"/>
            <a:r>
              <a:rPr lang="en-IN" u="sng" dirty="0">
                <a:latin typeface="Castellar" panose="020A0402060406010301" pitchFamily="18" charset="0"/>
              </a:rPr>
              <a:t>Dashboard (Portfolio-Ready)</a:t>
            </a:r>
          </a:p>
        </p:txBody>
      </p:sp>
      <p:sp>
        <p:nvSpPr>
          <p:cNvPr id="2" name="Content Placeholder 1">
            <a:extLst>
              <a:ext uri="{FF2B5EF4-FFF2-40B4-BE49-F238E27FC236}">
                <a16:creationId xmlns:a16="http://schemas.microsoft.com/office/drawing/2014/main" id="{8F3743EE-F1F3-3950-5021-99A777912322}"/>
              </a:ext>
            </a:extLst>
          </p:cNvPr>
          <p:cNvSpPr>
            <a:spLocks noGrp="1" noChangeArrowheads="1"/>
          </p:cNvSpPr>
          <p:nvPr>
            <p:ph sz="quarter" idx="4"/>
          </p:nvPr>
        </p:nvSpPr>
        <p:spPr bwMode="auto">
          <a:xfrm>
            <a:off x="769374" y="1084297"/>
            <a:ext cx="10617202" cy="689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The dashboard provides a </a:t>
            </a:r>
            <a:r>
              <a:rPr kumimoji="0" lang="en-US" altLang="en-US" sz="2000" b="1" i="0" u="none" strike="noStrike" cap="none" normalizeH="0" baseline="0" dirty="0">
                <a:ln>
                  <a:noFill/>
                </a:ln>
                <a:solidFill>
                  <a:schemeClr val="tx1"/>
                </a:solidFill>
                <a:effectLst/>
                <a:latin typeface="Arial" panose="020B0604020202020204" pitchFamily="34" charset="0"/>
              </a:rPr>
              <a:t>one-page, high-level view</a:t>
            </a:r>
            <a:r>
              <a:rPr kumimoji="0" lang="en-US" altLang="en-US" sz="2000" b="0" i="0" u="none" strike="noStrike" cap="none" normalizeH="0" baseline="0" dirty="0">
                <a:ln>
                  <a:noFill/>
                </a:ln>
                <a:solidFill>
                  <a:schemeClr val="tx1"/>
                </a:solidFill>
                <a:effectLst/>
                <a:latin typeface="Arial" panose="020B0604020202020204" pitchFamily="34" charset="0"/>
              </a:rPr>
              <a:t> of business performance for quick</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decision-making.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It focuses on </a:t>
            </a:r>
            <a:r>
              <a:rPr kumimoji="0" lang="en-US" altLang="en-US" sz="2000" b="1" i="0" u="none" strike="noStrike" cap="none" normalizeH="0" baseline="0" dirty="0">
                <a:ln>
                  <a:noFill/>
                </a:ln>
                <a:solidFill>
                  <a:schemeClr val="tx1"/>
                </a:solidFill>
                <a:effectLst/>
                <a:latin typeface="Arial" panose="020B0604020202020204" pitchFamily="34" charset="0"/>
              </a:rPr>
              <a:t>key performance indicators (KPIs)</a:t>
            </a:r>
            <a:r>
              <a:rPr kumimoji="0" lang="en-US" altLang="en-US" sz="2000" b="0" i="0" u="none" strike="noStrike" cap="none" normalizeH="0" baseline="0" dirty="0">
                <a:ln>
                  <a:noFill/>
                </a:ln>
                <a:solidFill>
                  <a:schemeClr val="tx1"/>
                </a:solidFill>
                <a:effectLst/>
                <a:latin typeface="Arial" panose="020B0604020202020204" pitchFamily="34" charset="0"/>
              </a:rPr>
              <a:t> that directly reflect sales efficiency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operational health.</a:t>
            </a:r>
          </a:p>
          <a:p>
            <a:pPr marL="0" indent="0">
              <a:buNone/>
            </a:pPr>
            <a:r>
              <a:rPr lang="en-US" sz="2000" b="1" u="sng" dirty="0">
                <a:solidFill>
                  <a:schemeClr val="accent5">
                    <a:lumMod val="75000"/>
                  </a:schemeClr>
                </a:solidFill>
              </a:rPr>
              <a:t>Key KPIs Included:</a:t>
            </a:r>
          </a:p>
          <a:p>
            <a:pPr>
              <a:buFont typeface="Wingdings" panose="05000000000000000000" pitchFamily="2" charset="2"/>
              <a:buChar char="q"/>
            </a:pPr>
            <a:r>
              <a:rPr lang="en-US" sz="2000" b="1" dirty="0"/>
              <a:t>Total Orders:</a:t>
            </a:r>
            <a:r>
              <a:rPr lang="en-US" sz="2000" dirty="0"/>
              <a:t> Measures overall business activity and demand.</a:t>
            </a:r>
          </a:p>
          <a:p>
            <a:pPr>
              <a:buFont typeface="Wingdings" panose="05000000000000000000" pitchFamily="2" charset="2"/>
              <a:buChar char="q"/>
            </a:pPr>
            <a:r>
              <a:rPr lang="en-US" sz="2000" b="1" dirty="0"/>
              <a:t>Total Revenue:</a:t>
            </a:r>
            <a:r>
              <a:rPr lang="en-US" sz="2000" dirty="0"/>
              <a:t> Indicates total sales value generated.</a:t>
            </a:r>
          </a:p>
          <a:p>
            <a:pPr>
              <a:buFont typeface="Wingdings" panose="05000000000000000000" pitchFamily="2" charset="2"/>
              <a:buChar char="q"/>
            </a:pPr>
            <a:r>
              <a:rPr lang="en-US" sz="2000" b="1" dirty="0"/>
              <a:t>Average Order Value (AOV):</a:t>
            </a:r>
            <a:r>
              <a:rPr lang="en-US" sz="2000" dirty="0"/>
              <a:t> Reflects customer spending behavior.</a:t>
            </a:r>
          </a:p>
          <a:p>
            <a:pPr>
              <a:buFont typeface="Wingdings" panose="05000000000000000000" pitchFamily="2" charset="2"/>
              <a:buChar char="q"/>
            </a:pPr>
            <a:r>
              <a:rPr lang="en-US" sz="2000" b="1" dirty="0"/>
              <a:t>Cancellation %:</a:t>
            </a:r>
            <a:r>
              <a:rPr lang="en-US" sz="2000" dirty="0"/>
              <a:t> Highlights order fulfillment efficiency and revenue leakage.</a:t>
            </a:r>
          </a:p>
          <a:p>
            <a:pPr marL="0" indent="0">
              <a:buNone/>
            </a:pPr>
            <a:r>
              <a:rPr lang="en-US" sz="2000" b="1" u="sng" dirty="0">
                <a:solidFill>
                  <a:schemeClr val="accent5">
                    <a:lumMod val="75000"/>
                  </a:schemeClr>
                </a:solidFill>
              </a:rPr>
              <a:t>Interactive Slicers:</a:t>
            </a:r>
          </a:p>
          <a:p>
            <a:pPr>
              <a:buFont typeface="Wingdings" panose="05000000000000000000" pitchFamily="2" charset="2"/>
              <a:buChar char="q"/>
            </a:pPr>
            <a:r>
              <a:rPr lang="en-US" sz="2000" b="1" dirty="0"/>
              <a:t>Month, Channel, Category, and Gender</a:t>
            </a:r>
            <a:r>
              <a:rPr lang="en-US" sz="2000" dirty="0"/>
              <a:t> slicers allow users to dynamically filter data.</a:t>
            </a:r>
          </a:p>
          <a:p>
            <a:pPr>
              <a:buFont typeface="Wingdings" panose="05000000000000000000" pitchFamily="2" charset="2"/>
              <a:buChar char="q"/>
            </a:pPr>
            <a:r>
              <a:rPr lang="en-US" sz="2000" dirty="0"/>
              <a:t>Enable </a:t>
            </a:r>
            <a:r>
              <a:rPr lang="en-US" sz="2000" b="1" dirty="0"/>
              <a:t>drill-down analysis</a:t>
            </a:r>
            <a:r>
              <a:rPr lang="en-US" sz="2000" dirty="0"/>
              <a:t> to compare performance across time, platforms, products,</a:t>
            </a:r>
          </a:p>
          <a:p>
            <a:pPr marL="0" indent="0">
              <a:buNone/>
            </a:pPr>
            <a:r>
              <a:rPr lang="en-US" sz="2000" dirty="0"/>
              <a:t> and customer segments.</a:t>
            </a:r>
          </a:p>
          <a:p>
            <a:endParaRPr lang="en-US" sz="2000" dirty="0"/>
          </a:p>
          <a:p>
            <a:endParaRPr lang="en-US" sz="2000" dirty="0"/>
          </a:p>
          <a:p>
            <a:pPr marL="0" indent="0">
              <a:buNone/>
            </a:pPr>
            <a:endParaRPr lang="en-US" sz="2000" dirty="0"/>
          </a:p>
          <a:p>
            <a:endParaRPr lang="en-US"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66938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12" presetClass="entr" presetSubtype="4" fill="hold" nodeType="after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0" end="0"/>
                                            </p:txEl>
                                          </p:spTgt>
                                        </p:tgtEl>
                                      </p:cBhvr>
                                    </p:animEffect>
                                  </p:childTnLst>
                                </p:cTn>
                              </p:par>
                            </p:childTnLst>
                          </p:cTn>
                        </p:par>
                        <p:par>
                          <p:cTn id="15" fill="hold">
                            <p:stCondLst>
                              <p:cond delay="1000"/>
                            </p:stCondLst>
                            <p:childTnLst>
                              <p:par>
                                <p:cTn id="16" presetID="12" presetClass="entr" presetSubtype="4" fill="hold" nodeType="after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 calcmode="lin" valueType="num">
                                      <p:cBhvr additive="base">
                                        <p:cTn id="18"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19" dur="500"/>
                                        <p:tgtEl>
                                          <p:spTgt spid="2">
                                            <p:txEl>
                                              <p:pRg st="1" end="1"/>
                                            </p:txEl>
                                          </p:spTgt>
                                        </p:tgtEl>
                                      </p:cBhvr>
                                    </p:animEffect>
                                  </p:childTnLst>
                                </p:cTn>
                              </p:par>
                            </p:childTnLst>
                          </p:cTn>
                        </p:par>
                        <p:par>
                          <p:cTn id="20" fill="hold">
                            <p:stCondLst>
                              <p:cond delay="1500"/>
                            </p:stCondLst>
                            <p:childTnLst>
                              <p:par>
                                <p:cTn id="21" presetID="12" presetClass="entr" presetSubtype="4" fill="hold" nodeType="after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additive="base">
                                        <p:cTn id="23"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24" dur="500"/>
                                        <p:tgtEl>
                                          <p:spTgt spid="2">
                                            <p:txEl>
                                              <p:pRg st="2" end="2"/>
                                            </p:txEl>
                                          </p:spTgt>
                                        </p:tgtEl>
                                      </p:cBhvr>
                                    </p:animEffect>
                                  </p:childTnLst>
                                </p:cTn>
                              </p:par>
                            </p:childTnLst>
                          </p:cTn>
                        </p:par>
                        <p:par>
                          <p:cTn id="25" fill="hold">
                            <p:stCondLst>
                              <p:cond delay="2000"/>
                            </p:stCondLst>
                            <p:childTnLst>
                              <p:par>
                                <p:cTn id="26" presetID="12" presetClass="entr" presetSubtype="4" fill="hold" nodeType="after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additive="base">
                                        <p:cTn id="28"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9" dur="500"/>
                                        <p:tgtEl>
                                          <p:spTgt spid="2">
                                            <p:txEl>
                                              <p:pRg st="3" end="3"/>
                                            </p:txEl>
                                          </p:spTgt>
                                        </p:tgtEl>
                                      </p:cBhvr>
                                    </p:animEffect>
                                  </p:childTnLst>
                                </p:cTn>
                              </p:par>
                            </p:childTnLst>
                          </p:cTn>
                        </p:par>
                        <p:par>
                          <p:cTn id="30" fill="hold">
                            <p:stCondLst>
                              <p:cond delay="2500"/>
                            </p:stCondLst>
                            <p:childTnLst>
                              <p:par>
                                <p:cTn id="31" presetID="16" presetClass="entr" presetSubtype="21" fill="hold" nodeType="after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barn(inVertical)">
                                      <p:cBhvr>
                                        <p:cTn id="33" dur="500"/>
                                        <p:tgtEl>
                                          <p:spTgt spid="2">
                                            <p:txEl>
                                              <p:pRg st="4" end="4"/>
                                            </p:txEl>
                                          </p:spTgt>
                                        </p:tgtEl>
                                      </p:cBhvr>
                                    </p:animEffect>
                                  </p:childTnLst>
                                </p:cTn>
                              </p:par>
                            </p:childTnLst>
                          </p:cTn>
                        </p:par>
                        <p:par>
                          <p:cTn id="34" fill="hold">
                            <p:stCondLst>
                              <p:cond delay="3000"/>
                            </p:stCondLst>
                            <p:childTnLst>
                              <p:par>
                                <p:cTn id="35" presetID="31" presetClass="entr" presetSubtype="0" fill="hold" nodeType="after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p:cTn id="37" dur="1000" fill="hold"/>
                                        <p:tgtEl>
                                          <p:spTgt spid="2">
                                            <p:txEl>
                                              <p:pRg st="5" end="5"/>
                                            </p:txEl>
                                          </p:spTgt>
                                        </p:tgtEl>
                                        <p:attrNameLst>
                                          <p:attrName>ppt_w</p:attrName>
                                        </p:attrNameLst>
                                      </p:cBhvr>
                                      <p:tavLst>
                                        <p:tav tm="0">
                                          <p:val>
                                            <p:fltVal val="0"/>
                                          </p:val>
                                        </p:tav>
                                        <p:tav tm="100000">
                                          <p:val>
                                            <p:strVal val="#ppt_w"/>
                                          </p:val>
                                        </p:tav>
                                      </p:tavLst>
                                    </p:anim>
                                    <p:anim calcmode="lin" valueType="num">
                                      <p:cBhvr>
                                        <p:cTn id="38" dur="1000" fill="hold"/>
                                        <p:tgtEl>
                                          <p:spTgt spid="2">
                                            <p:txEl>
                                              <p:pRg st="5" end="5"/>
                                            </p:txEl>
                                          </p:spTgt>
                                        </p:tgtEl>
                                        <p:attrNameLst>
                                          <p:attrName>ppt_h</p:attrName>
                                        </p:attrNameLst>
                                      </p:cBhvr>
                                      <p:tavLst>
                                        <p:tav tm="0">
                                          <p:val>
                                            <p:fltVal val="0"/>
                                          </p:val>
                                        </p:tav>
                                        <p:tav tm="100000">
                                          <p:val>
                                            <p:strVal val="#ppt_h"/>
                                          </p:val>
                                        </p:tav>
                                      </p:tavLst>
                                    </p:anim>
                                    <p:anim calcmode="lin" valueType="num">
                                      <p:cBhvr>
                                        <p:cTn id="39" dur="1000" fill="hold"/>
                                        <p:tgtEl>
                                          <p:spTgt spid="2">
                                            <p:txEl>
                                              <p:pRg st="5" end="5"/>
                                            </p:txEl>
                                          </p:spTgt>
                                        </p:tgtEl>
                                        <p:attrNameLst>
                                          <p:attrName>style.rotation</p:attrName>
                                        </p:attrNameLst>
                                      </p:cBhvr>
                                      <p:tavLst>
                                        <p:tav tm="0">
                                          <p:val>
                                            <p:fltVal val="90"/>
                                          </p:val>
                                        </p:tav>
                                        <p:tav tm="100000">
                                          <p:val>
                                            <p:fltVal val="0"/>
                                          </p:val>
                                        </p:tav>
                                      </p:tavLst>
                                    </p:anim>
                                    <p:animEffect transition="in" filter="fade">
                                      <p:cBhvr>
                                        <p:cTn id="40" dur="1000"/>
                                        <p:tgtEl>
                                          <p:spTgt spid="2">
                                            <p:txEl>
                                              <p:pRg st="5" end="5"/>
                                            </p:txEl>
                                          </p:spTgt>
                                        </p:tgtEl>
                                      </p:cBhvr>
                                    </p:animEffect>
                                  </p:childTnLst>
                                </p:cTn>
                              </p:par>
                              <p:par>
                                <p:cTn id="41" presetID="31" presetClass="entr" presetSubtype="0" fill="hold"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p:cTn id="43" dur="1000" fill="hold"/>
                                        <p:tgtEl>
                                          <p:spTgt spid="2">
                                            <p:txEl>
                                              <p:pRg st="6" end="6"/>
                                            </p:txEl>
                                          </p:spTgt>
                                        </p:tgtEl>
                                        <p:attrNameLst>
                                          <p:attrName>ppt_w</p:attrName>
                                        </p:attrNameLst>
                                      </p:cBhvr>
                                      <p:tavLst>
                                        <p:tav tm="0">
                                          <p:val>
                                            <p:fltVal val="0"/>
                                          </p:val>
                                        </p:tav>
                                        <p:tav tm="100000">
                                          <p:val>
                                            <p:strVal val="#ppt_w"/>
                                          </p:val>
                                        </p:tav>
                                      </p:tavLst>
                                    </p:anim>
                                    <p:anim calcmode="lin" valueType="num">
                                      <p:cBhvr>
                                        <p:cTn id="44" dur="1000" fill="hold"/>
                                        <p:tgtEl>
                                          <p:spTgt spid="2">
                                            <p:txEl>
                                              <p:pRg st="6" end="6"/>
                                            </p:txEl>
                                          </p:spTgt>
                                        </p:tgtEl>
                                        <p:attrNameLst>
                                          <p:attrName>ppt_h</p:attrName>
                                        </p:attrNameLst>
                                      </p:cBhvr>
                                      <p:tavLst>
                                        <p:tav tm="0">
                                          <p:val>
                                            <p:fltVal val="0"/>
                                          </p:val>
                                        </p:tav>
                                        <p:tav tm="100000">
                                          <p:val>
                                            <p:strVal val="#ppt_h"/>
                                          </p:val>
                                        </p:tav>
                                      </p:tavLst>
                                    </p:anim>
                                    <p:anim calcmode="lin" valueType="num">
                                      <p:cBhvr>
                                        <p:cTn id="45" dur="1000" fill="hold"/>
                                        <p:tgtEl>
                                          <p:spTgt spid="2">
                                            <p:txEl>
                                              <p:pRg st="6" end="6"/>
                                            </p:txEl>
                                          </p:spTgt>
                                        </p:tgtEl>
                                        <p:attrNameLst>
                                          <p:attrName>style.rotation</p:attrName>
                                        </p:attrNameLst>
                                      </p:cBhvr>
                                      <p:tavLst>
                                        <p:tav tm="0">
                                          <p:val>
                                            <p:fltVal val="90"/>
                                          </p:val>
                                        </p:tav>
                                        <p:tav tm="100000">
                                          <p:val>
                                            <p:fltVal val="0"/>
                                          </p:val>
                                        </p:tav>
                                      </p:tavLst>
                                    </p:anim>
                                    <p:animEffect transition="in" filter="fade">
                                      <p:cBhvr>
                                        <p:cTn id="46" dur="1000"/>
                                        <p:tgtEl>
                                          <p:spTgt spid="2">
                                            <p:txEl>
                                              <p:pRg st="6" end="6"/>
                                            </p:txEl>
                                          </p:spTgt>
                                        </p:tgtEl>
                                      </p:cBhvr>
                                    </p:animEffect>
                                  </p:childTnLst>
                                </p:cTn>
                              </p:par>
                              <p:par>
                                <p:cTn id="47" presetID="31" presetClass="entr" presetSubtype="0" fill="hold" nodeType="with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p:cTn id="49" dur="1000" fill="hold"/>
                                        <p:tgtEl>
                                          <p:spTgt spid="2">
                                            <p:txEl>
                                              <p:pRg st="7" end="7"/>
                                            </p:txEl>
                                          </p:spTgt>
                                        </p:tgtEl>
                                        <p:attrNameLst>
                                          <p:attrName>ppt_w</p:attrName>
                                        </p:attrNameLst>
                                      </p:cBhvr>
                                      <p:tavLst>
                                        <p:tav tm="0">
                                          <p:val>
                                            <p:fltVal val="0"/>
                                          </p:val>
                                        </p:tav>
                                        <p:tav tm="100000">
                                          <p:val>
                                            <p:strVal val="#ppt_w"/>
                                          </p:val>
                                        </p:tav>
                                      </p:tavLst>
                                    </p:anim>
                                    <p:anim calcmode="lin" valueType="num">
                                      <p:cBhvr>
                                        <p:cTn id="50" dur="1000" fill="hold"/>
                                        <p:tgtEl>
                                          <p:spTgt spid="2">
                                            <p:txEl>
                                              <p:pRg st="7" end="7"/>
                                            </p:txEl>
                                          </p:spTgt>
                                        </p:tgtEl>
                                        <p:attrNameLst>
                                          <p:attrName>ppt_h</p:attrName>
                                        </p:attrNameLst>
                                      </p:cBhvr>
                                      <p:tavLst>
                                        <p:tav tm="0">
                                          <p:val>
                                            <p:fltVal val="0"/>
                                          </p:val>
                                        </p:tav>
                                        <p:tav tm="100000">
                                          <p:val>
                                            <p:strVal val="#ppt_h"/>
                                          </p:val>
                                        </p:tav>
                                      </p:tavLst>
                                    </p:anim>
                                    <p:anim calcmode="lin" valueType="num">
                                      <p:cBhvr>
                                        <p:cTn id="51" dur="1000" fill="hold"/>
                                        <p:tgtEl>
                                          <p:spTgt spid="2">
                                            <p:txEl>
                                              <p:pRg st="7" end="7"/>
                                            </p:txEl>
                                          </p:spTgt>
                                        </p:tgtEl>
                                        <p:attrNameLst>
                                          <p:attrName>style.rotation</p:attrName>
                                        </p:attrNameLst>
                                      </p:cBhvr>
                                      <p:tavLst>
                                        <p:tav tm="0">
                                          <p:val>
                                            <p:fltVal val="90"/>
                                          </p:val>
                                        </p:tav>
                                        <p:tav tm="100000">
                                          <p:val>
                                            <p:fltVal val="0"/>
                                          </p:val>
                                        </p:tav>
                                      </p:tavLst>
                                    </p:anim>
                                    <p:animEffect transition="in" filter="fade">
                                      <p:cBhvr>
                                        <p:cTn id="52" dur="1000"/>
                                        <p:tgtEl>
                                          <p:spTgt spid="2">
                                            <p:txEl>
                                              <p:pRg st="7" end="7"/>
                                            </p:txEl>
                                          </p:spTgt>
                                        </p:tgtEl>
                                      </p:cBhvr>
                                    </p:animEffect>
                                  </p:childTnLst>
                                </p:cTn>
                              </p:par>
                              <p:par>
                                <p:cTn id="53" presetID="31" presetClass="entr" presetSubtype="0" fill="hold" nodeType="with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p:cTn id="55" dur="1000" fill="hold"/>
                                        <p:tgtEl>
                                          <p:spTgt spid="2">
                                            <p:txEl>
                                              <p:pRg st="8" end="8"/>
                                            </p:txEl>
                                          </p:spTgt>
                                        </p:tgtEl>
                                        <p:attrNameLst>
                                          <p:attrName>ppt_w</p:attrName>
                                        </p:attrNameLst>
                                      </p:cBhvr>
                                      <p:tavLst>
                                        <p:tav tm="0">
                                          <p:val>
                                            <p:fltVal val="0"/>
                                          </p:val>
                                        </p:tav>
                                        <p:tav tm="100000">
                                          <p:val>
                                            <p:strVal val="#ppt_w"/>
                                          </p:val>
                                        </p:tav>
                                      </p:tavLst>
                                    </p:anim>
                                    <p:anim calcmode="lin" valueType="num">
                                      <p:cBhvr>
                                        <p:cTn id="56" dur="1000" fill="hold"/>
                                        <p:tgtEl>
                                          <p:spTgt spid="2">
                                            <p:txEl>
                                              <p:pRg st="8" end="8"/>
                                            </p:txEl>
                                          </p:spTgt>
                                        </p:tgtEl>
                                        <p:attrNameLst>
                                          <p:attrName>ppt_h</p:attrName>
                                        </p:attrNameLst>
                                      </p:cBhvr>
                                      <p:tavLst>
                                        <p:tav tm="0">
                                          <p:val>
                                            <p:fltVal val="0"/>
                                          </p:val>
                                        </p:tav>
                                        <p:tav tm="100000">
                                          <p:val>
                                            <p:strVal val="#ppt_h"/>
                                          </p:val>
                                        </p:tav>
                                      </p:tavLst>
                                    </p:anim>
                                    <p:anim calcmode="lin" valueType="num">
                                      <p:cBhvr>
                                        <p:cTn id="57" dur="1000" fill="hold"/>
                                        <p:tgtEl>
                                          <p:spTgt spid="2">
                                            <p:txEl>
                                              <p:pRg st="8" end="8"/>
                                            </p:txEl>
                                          </p:spTgt>
                                        </p:tgtEl>
                                        <p:attrNameLst>
                                          <p:attrName>style.rotation</p:attrName>
                                        </p:attrNameLst>
                                      </p:cBhvr>
                                      <p:tavLst>
                                        <p:tav tm="0">
                                          <p:val>
                                            <p:fltVal val="90"/>
                                          </p:val>
                                        </p:tav>
                                        <p:tav tm="100000">
                                          <p:val>
                                            <p:fltVal val="0"/>
                                          </p:val>
                                        </p:tav>
                                      </p:tavLst>
                                    </p:anim>
                                    <p:animEffect transition="in" filter="fade">
                                      <p:cBhvr>
                                        <p:cTn id="58" dur="1000"/>
                                        <p:tgtEl>
                                          <p:spTgt spid="2">
                                            <p:txEl>
                                              <p:pRg st="8" end="8"/>
                                            </p:txEl>
                                          </p:spTgt>
                                        </p:tgtEl>
                                      </p:cBhvr>
                                    </p:animEffect>
                                  </p:childTnLst>
                                </p:cTn>
                              </p:par>
                            </p:childTnLst>
                          </p:cTn>
                        </p:par>
                        <p:par>
                          <p:cTn id="59" fill="hold">
                            <p:stCondLst>
                              <p:cond delay="4000"/>
                            </p:stCondLst>
                            <p:childTnLst>
                              <p:par>
                                <p:cTn id="60" presetID="16" presetClass="entr" presetSubtype="21" fill="hold" nodeType="afterEffect">
                                  <p:stCondLst>
                                    <p:cond delay="0"/>
                                  </p:stCondLst>
                                  <p:childTnLst>
                                    <p:set>
                                      <p:cBhvr>
                                        <p:cTn id="61" dur="1" fill="hold">
                                          <p:stCondLst>
                                            <p:cond delay="0"/>
                                          </p:stCondLst>
                                        </p:cTn>
                                        <p:tgtEl>
                                          <p:spTgt spid="2">
                                            <p:txEl>
                                              <p:pRg st="9" end="9"/>
                                            </p:txEl>
                                          </p:spTgt>
                                        </p:tgtEl>
                                        <p:attrNameLst>
                                          <p:attrName>style.visibility</p:attrName>
                                        </p:attrNameLst>
                                      </p:cBhvr>
                                      <p:to>
                                        <p:strVal val="visible"/>
                                      </p:to>
                                    </p:set>
                                    <p:animEffect transition="in" filter="barn(inVertical)">
                                      <p:cBhvr>
                                        <p:cTn id="62" dur="1000"/>
                                        <p:tgtEl>
                                          <p:spTgt spid="2">
                                            <p:txEl>
                                              <p:pRg st="9" end="9"/>
                                            </p:txEl>
                                          </p:spTgt>
                                        </p:tgtEl>
                                      </p:cBhvr>
                                    </p:animEffect>
                                  </p:childTnLst>
                                </p:cTn>
                              </p:par>
                            </p:childTnLst>
                          </p:cTn>
                        </p:par>
                        <p:par>
                          <p:cTn id="63" fill="hold">
                            <p:stCondLst>
                              <p:cond delay="5000"/>
                            </p:stCondLst>
                            <p:childTnLst>
                              <p:par>
                                <p:cTn id="64" presetID="31" presetClass="entr" presetSubtype="0" fill="hold" nodeType="afterEffect">
                                  <p:stCondLst>
                                    <p:cond delay="0"/>
                                  </p:stCondLst>
                                  <p:childTnLst>
                                    <p:set>
                                      <p:cBhvr>
                                        <p:cTn id="65" dur="1" fill="hold">
                                          <p:stCondLst>
                                            <p:cond delay="0"/>
                                          </p:stCondLst>
                                        </p:cTn>
                                        <p:tgtEl>
                                          <p:spTgt spid="2">
                                            <p:txEl>
                                              <p:pRg st="10" end="10"/>
                                            </p:txEl>
                                          </p:spTgt>
                                        </p:tgtEl>
                                        <p:attrNameLst>
                                          <p:attrName>style.visibility</p:attrName>
                                        </p:attrNameLst>
                                      </p:cBhvr>
                                      <p:to>
                                        <p:strVal val="visible"/>
                                      </p:to>
                                    </p:set>
                                    <p:anim calcmode="lin" valueType="num">
                                      <p:cBhvr>
                                        <p:cTn id="66" dur="1000" fill="hold"/>
                                        <p:tgtEl>
                                          <p:spTgt spid="2">
                                            <p:txEl>
                                              <p:pRg st="10" end="10"/>
                                            </p:txEl>
                                          </p:spTgt>
                                        </p:tgtEl>
                                        <p:attrNameLst>
                                          <p:attrName>ppt_w</p:attrName>
                                        </p:attrNameLst>
                                      </p:cBhvr>
                                      <p:tavLst>
                                        <p:tav tm="0">
                                          <p:val>
                                            <p:fltVal val="0"/>
                                          </p:val>
                                        </p:tav>
                                        <p:tav tm="100000">
                                          <p:val>
                                            <p:strVal val="#ppt_w"/>
                                          </p:val>
                                        </p:tav>
                                      </p:tavLst>
                                    </p:anim>
                                    <p:anim calcmode="lin" valueType="num">
                                      <p:cBhvr>
                                        <p:cTn id="67" dur="1000" fill="hold"/>
                                        <p:tgtEl>
                                          <p:spTgt spid="2">
                                            <p:txEl>
                                              <p:pRg st="10" end="10"/>
                                            </p:txEl>
                                          </p:spTgt>
                                        </p:tgtEl>
                                        <p:attrNameLst>
                                          <p:attrName>ppt_h</p:attrName>
                                        </p:attrNameLst>
                                      </p:cBhvr>
                                      <p:tavLst>
                                        <p:tav tm="0">
                                          <p:val>
                                            <p:fltVal val="0"/>
                                          </p:val>
                                        </p:tav>
                                        <p:tav tm="100000">
                                          <p:val>
                                            <p:strVal val="#ppt_h"/>
                                          </p:val>
                                        </p:tav>
                                      </p:tavLst>
                                    </p:anim>
                                    <p:anim calcmode="lin" valueType="num">
                                      <p:cBhvr>
                                        <p:cTn id="68" dur="1000" fill="hold"/>
                                        <p:tgtEl>
                                          <p:spTgt spid="2">
                                            <p:txEl>
                                              <p:pRg st="10" end="10"/>
                                            </p:txEl>
                                          </p:spTgt>
                                        </p:tgtEl>
                                        <p:attrNameLst>
                                          <p:attrName>style.rotation</p:attrName>
                                        </p:attrNameLst>
                                      </p:cBhvr>
                                      <p:tavLst>
                                        <p:tav tm="0">
                                          <p:val>
                                            <p:fltVal val="90"/>
                                          </p:val>
                                        </p:tav>
                                        <p:tav tm="100000">
                                          <p:val>
                                            <p:fltVal val="0"/>
                                          </p:val>
                                        </p:tav>
                                      </p:tavLst>
                                    </p:anim>
                                    <p:animEffect transition="in" filter="fade">
                                      <p:cBhvr>
                                        <p:cTn id="69" dur="1000"/>
                                        <p:tgtEl>
                                          <p:spTgt spid="2">
                                            <p:txEl>
                                              <p:pRg st="10" end="10"/>
                                            </p:txEl>
                                          </p:spTgt>
                                        </p:tgtEl>
                                      </p:cBhvr>
                                    </p:animEffect>
                                  </p:childTnLst>
                                </p:cTn>
                              </p:par>
                              <p:par>
                                <p:cTn id="70" presetID="31" presetClass="entr" presetSubtype="0" fill="hold" nodeType="withEffect">
                                  <p:stCondLst>
                                    <p:cond delay="0"/>
                                  </p:stCondLst>
                                  <p:childTnLst>
                                    <p:set>
                                      <p:cBhvr>
                                        <p:cTn id="71" dur="1" fill="hold">
                                          <p:stCondLst>
                                            <p:cond delay="0"/>
                                          </p:stCondLst>
                                        </p:cTn>
                                        <p:tgtEl>
                                          <p:spTgt spid="2">
                                            <p:txEl>
                                              <p:pRg st="11" end="11"/>
                                            </p:txEl>
                                          </p:spTgt>
                                        </p:tgtEl>
                                        <p:attrNameLst>
                                          <p:attrName>style.visibility</p:attrName>
                                        </p:attrNameLst>
                                      </p:cBhvr>
                                      <p:to>
                                        <p:strVal val="visible"/>
                                      </p:to>
                                    </p:set>
                                    <p:anim calcmode="lin" valueType="num">
                                      <p:cBhvr>
                                        <p:cTn id="72" dur="1000" fill="hold"/>
                                        <p:tgtEl>
                                          <p:spTgt spid="2">
                                            <p:txEl>
                                              <p:pRg st="11" end="11"/>
                                            </p:txEl>
                                          </p:spTgt>
                                        </p:tgtEl>
                                        <p:attrNameLst>
                                          <p:attrName>ppt_w</p:attrName>
                                        </p:attrNameLst>
                                      </p:cBhvr>
                                      <p:tavLst>
                                        <p:tav tm="0">
                                          <p:val>
                                            <p:fltVal val="0"/>
                                          </p:val>
                                        </p:tav>
                                        <p:tav tm="100000">
                                          <p:val>
                                            <p:strVal val="#ppt_w"/>
                                          </p:val>
                                        </p:tav>
                                      </p:tavLst>
                                    </p:anim>
                                    <p:anim calcmode="lin" valueType="num">
                                      <p:cBhvr>
                                        <p:cTn id="73" dur="1000" fill="hold"/>
                                        <p:tgtEl>
                                          <p:spTgt spid="2">
                                            <p:txEl>
                                              <p:pRg st="11" end="11"/>
                                            </p:txEl>
                                          </p:spTgt>
                                        </p:tgtEl>
                                        <p:attrNameLst>
                                          <p:attrName>ppt_h</p:attrName>
                                        </p:attrNameLst>
                                      </p:cBhvr>
                                      <p:tavLst>
                                        <p:tav tm="0">
                                          <p:val>
                                            <p:fltVal val="0"/>
                                          </p:val>
                                        </p:tav>
                                        <p:tav tm="100000">
                                          <p:val>
                                            <p:strVal val="#ppt_h"/>
                                          </p:val>
                                        </p:tav>
                                      </p:tavLst>
                                    </p:anim>
                                    <p:anim calcmode="lin" valueType="num">
                                      <p:cBhvr>
                                        <p:cTn id="74" dur="1000" fill="hold"/>
                                        <p:tgtEl>
                                          <p:spTgt spid="2">
                                            <p:txEl>
                                              <p:pRg st="11" end="11"/>
                                            </p:txEl>
                                          </p:spTgt>
                                        </p:tgtEl>
                                        <p:attrNameLst>
                                          <p:attrName>style.rotation</p:attrName>
                                        </p:attrNameLst>
                                      </p:cBhvr>
                                      <p:tavLst>
                                        <p:tav tm="0">
                                          <p:val>
                                            <p:fltVal val="90"/>
                                          </p:val>
                                        </p:tav>
                                        <p:tav tm="100000">
                                          <p:val>
                                            <p:fltVal val="0"/>
                                          </p:val>
                                        </p:tav>
                                      </p:tavLst>
                                    </p:anim>
                                    <p:animEffect transition="in" filter="fade">
                                      <p:cBhvr>
                                        <p:cTn id="75" dur="1000"/>
                                        <p:tgtEl>
                                          <p:spTgt spid="2">
                                            <p:txEl>
                                              <p:pRg st="11" end="11"/>
                                            </p:txEl>
                                          </p:spTgt>
                                        </p:tgtEl>
                                      </p:cBhvr>
                                    </p:animEffect>
                                  </p:childTnLst>
                                </p:cTn>
                              </p:par>
                              <p:par>
                                <p:cTn id="76" presetID="31" presetClass="entr" presetSubtype="0" fill="hold" nodeType="withEffect">
                                  <p:stCondLst>
                                    <p:cond delay="0"/>
                                  </p:stCondLst>
                                  <p:childTnLst>
                                    <p:set>
                                      <p:cBhvr>
                                        <p:cTn id="77" dur="1" fill="hold">
                                          <p:stCondLst>
                                            <p:cond delay="0"/>
                                          </p:stCondLst>
                                        </p:cTn>
                                        <p:tgtEl>
                                          <p:spTgt spid="2">
                                            <p:txEl>
                                              <p:pRg st="12" end="12"/>
                                            </p:txEl>
                                          </p:spTgt>
                                        </p:tgtEl>
                                        <p:attrNameLst>
                                          <p:attrName>style.visibility</p:attrName>
                                        </p:attrNameLst>
                                      </p:cBhvr>
                                      <p:to>
                                        <p:strVal val="visible"/>
                                      </p:to>
                                    </p:set>
                                    <p:anim calcmode="lin" valueType="num">
                                      <p:cBhvr>
                                        <p:cTn id="78" dur="1000" fill="hold"/>
                                        <p:tgtEl>
                                          <p:spTgt spid="2">
                                            <p:txEl>
                                              <p:pRg st="12" end="12"/>
                                            </p:txEl>
                                          </p:spTgt>
                                        </p:tgtEl>
                                        <p:attrNameLst>
                                          <p:attrName>ppt_w</p:attrName>
                                        </p:attrNameLst>
                                      </p:cBhvr>
                                      <p:tavLst>
                                        <p:tav tm="0">
                                          <p:val>
                                            <p:fltVal val="0"/>
                                          </p:val>
                                        </p:tav>
                                        <p:tav tm="100000">
                                          <p:val>
                                            <p:strVal val="#ppt_w"/>
                                          </p:val>
                                        </p:tav>
                                      </p:tavLst>
                                    </p:anim>
                                    <p:anim calcmode="lin" valueType="num">
                                      <p:cBhvr>
                                        <p:cTn id="79" dur="1000" fill="hold"/>
                                        <p:tgtEl>
                                          <p:spTgt spid="2">
                                            <p:txEl>
                                              <p:pRg st="12" end="12"/>
                                            </p:txEl>
                                          </p:spTgt>
                                        </p:tgtEl>
                                        <p:attrNameLst>
                                          <p:attrName>ppt_h</p:attrName>
                                        </p:attrNameLst>
                                      </p:cBhvr>
                                      <p:tavLst>
                                        <p:tav tm="0">
                                          <p:val>
                                            <p:fltVal val="0"/>
                                          </p:val>
                                        </p:tav>
                                        <p:tav tm="100000">
                                          <p:val>
                                            <p:strVal val="#ppt_h"/>
                                          </p:val>
                                        </p:tav>
                                      </p:tavLst>
                                    </p:anim>
                                    <p:anim calcmode="lin" valueType="num">
                                      <p:cBhvr>
                                        <p:cTn id="80" dur="1000" fill="hold"/>
                                        <p:tgtEl>
                                          <p:spTgt spid="2">
                                            <p:txEl>
                                              <p:pRg st="12" end="12"/>
                                            </p:txEl>
                                          </p:spTgt>
                                        </p:tgtEl>
                                        <p:attrNameLst>
                                          <p:attrName>style.rotation</p:attrName>
                                        </p:attrNameLst>
                                      </p:cBhvr>
                                      <p:tavLst>
                                        <p:tav tm="0">
                                          <p:val>
                                            <p:fltVal val="90"/>
                                          </p:val>
                                        </p:tav>
                                        <p:tav tm="100000">
                                          <p:val>
                                            <p:fltVal val="0"/>
                                          </p:val>
                                        </p:tav>
                                      </p:tavLst>
                                    </p:anim>
                                    <p:animEffect transition="in" filter="fade">
                                      <p:cBhvr>
                                        <p:cTn id="81" dur="1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257CB-D192-325D-0FAA-0A7ED227868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6DDECE-C1AC-F999-1BD7-78130F2CA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E56DD3CA-B5BC-DD07-78C6-BCADF6522480}"/>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7" name="Title 16">
            <a:extLst>
              <a:ext uri="{FF2B5EF4-FFF2-40B4-BE49-F238E27FC236}">
                <a16:creationId xmlns:a16="http://schemas.microsoft.com/office/drawing/2014/main" id="{8BBB7655-3E4C-74C2-294B-B130F387637C}"/>
              </a:ext>
            </a:extLst>
          </p:cNvPr>
          <p:cNvSpPr>
            <a:spLocks noGrp="1"/>
          </p:cNvSpPr>
          <p:nvPr>
            <p:ph type="title"/>
          </p:nvPr>
        </p:nvSpPr>
        <p:spPr>
          <a:xfrm>
            <a:off x="838200" y="73722"/>
            <a:ext cx="10515600" cy="805785"/>
          </a:xfrm>
        </p:spPr>
        <p:txBody>
          <a:bodyPr>
            <a:normAutofit/>
          </a:bodyPr>
          <a:lstStyle/>
          <a:p>
            <a:pPr algn="ctr"/>
            <a:r>
              <a:rPr lang="en-IN" u="sng" dirty="0">
                <a:latin typeface="Castellar" panose="020A0402060406010301" pitchFamily="18" charset="0"/>
              </a:rPr>
              <a:t>Dashboard </a:t>
            </a:r>
            <a:r>
              <a:rPr lang="en-US" u="sng" dirty="0">
                <a:latin typeface="Castellar" panose="020A0402060406010301" pitchFamily="18" charset="0"/>
              </a:rPr>
              <a:t>Design Principles</a:t>
            </a:r>
            <a:endParaRPr lang="en-IN" u="sng" dirty="0">
              <a:latin typeface="Castellar" panose="020A0402060406010301" pitchFamily="18" charset="0"/>
            </a:endParaRPr>
          </a:p>
        </p:txBody>
      </p:sp>
      <p:sp>
        <p:nvSpPr>
          <p:cNvPr id="2" name="Content Placeholder 1">
            <a:extLst>
              <a:ext uri="{FF2B5EF4-FFF2-40B4-BE49-F238E27FC236}">
                <a16:creationId xmlns:a16="http://schemas.microsoft.com/office/drawing/2014/main" id="{5CAADDF8-9158-8D92-2BD4-27BDB5BCF6B5}"/>
              </a:ext>
            </a:extLst>
          </p:cNvPr>
          <p:cNvSpPr>
            <a:spLocks noGrp="1" noChangeArrowheads="1"/>
          </p:cNvSpPr>
          <p:nvPr>
            <p:ph sz="quarter" idx="4"/>
          </p:nvPr>
        </p:nvSpPr>
        <p:spPr bwMode="auto">
          <a:xfrm>
            <a:off x="7601540" y="377"/>
            <a:ext cx="4277944" cy="734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800" dirty="0"/>
          </a:p>
          <a:p>
            <a:endParaRPr lang="en-US" sz="1800" dirty="0"/>
          </a:p>
          <a:p>
            <a:endParaRPr lang="en-US" sz="1800" dirty="0"/>
          </a:p>
          <a:p>
            <a:endParaRPr lang="en-US" sz="1800" dirty="0"/>
          </a:p>
          <a:p>
            <a:r>
              <a:rPr lang="en-US" sz="2400" dirty="0"/>
              <a:t>Maintained a </a:t>
            </a:r>
            <a:r>
              <a:rPr lang="en-US" sz="2400" b="1" dirty="0"/>
              <a:t>single-page layout</a:t>
            </a:r>
            <a:r>
              <a:rPr lang="en-US" sz="2400" dirty="0"/>
              <a:t> for clarity and usability.</a:t>
            </a:r>
          </a:p>
          <a:p>
            <a:r>
              <a:rPr lang="en-US" sz="2400" dirty="0"/>
              <a:t>Design is </a:t>
            </a:r>
            <a:r>
              <a:rPr lang="en-US" sz="2400" b="1" dirty="0"/>
              <a:t>clean, readable, and professional</a:t>
            </a:r>
            <a:r>
              <a:rPr lang="en-US" sz="2400" dirty="0"/>
              <a:t>, avoiding unnecessary decoration.</a:t>
            </a:r>
          </a:p>
          <a:p>
            <a:r>
              <a:rPr lang="en-US" sz="2400" dirty="0"/>
              <a:t>Focused on </a:t>
            </a:r>
            <a:r>
              <a:rPr lang="en-US" sz="2400" b="1" dirty="0"/>
              <a:t>business insights rather than visual effects</a:t>
            </a:r>
            <a:r>
              <a:rPr lang="en-US" sz="2400" dirty="0"/>
              <a:t>, making it suitable for real-world decision-making.</a:t>
            </a:r>
          </a:p>
          <a:p>
            <a:endParaRPr lang="en-US" sz="1800" dirty="0"/>
          </a:p>
          <a:p>
            <a:endParaRPr lang="en-US" sz="1800" dirty="0"/>
          </a:p>
          <a:p>
            <a:endParaRPr lang="en-US" sz="1800" dirty="0"/>
          </a:p>
          <a:p>
            <a:pPr marL="0" indent="0">
              <a:buNone/>
            </a:pPr>
            <a:endParaRPr lang="en-US" sz="1800" dirty="0"/>
          </a:p>
          <a:p>
            <a:endParaRPr 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980BEA91-75AD-1532-5914-49C9531EFDB0}"/>
              </a:ext>
            </a:extLst>
          </p:cNvPr>
          <p:cNvPicPr>
            <a:picLocks noChangeAspect="1"/>
          </p:cNvPicPr>
          <p:nvPr/>
        </p:nvPicPr>
        <p:blipFill>
          <a:blip r:embed="rId3">
            <a:extLst>
              <a:ext uri="{28A0092B-C50C-407E-A947-70E740481C1C}">
                <a14:useLocalDpi xmlns:a14="http://schemas.microsoft.com/office/drawing/2010/main" val="0"/>
              </a:ext>
            </a:extLst>
          </a:blip>
          <a:srcRect l="1698" t="2149" r="1384" b="2822"/>
          <a:stretch>
            <a:fillRect/>
          </a:stretch>
        </p:blipFill>
        <p:spPr>
          <a:xfrm>
            <a:off x="607484" y="1379828"/>
            <a:ext cx="7039896" cy="409834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29825893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1000"/>
                                        <p:tgtEl>
                                          <p:spTgt spid="4"/>
                                        </p:tgtEl>
                                      </p:cBhvr>
                                    </p:animEffect>
                                  </p:childTnLst>
                                </p:cTn>
                              </p:par>
                            </p:childTnLst>
                          </p:cTn>
                        </p:par>
                        <p:par>
                          <p:cTn id="14" fill="hold">
                            <p:stCondLst>
                              <p:cond delay="1500"/>
                            </p:stCondLst>
                            <p:childTnLst>
                              <p:par>
                                <p:cTn id="15" presetID="22" presetClass="entr" presetSubtype="4" fill="hold" nodeType="after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wipe(down)">
                                      <p:cBhvr>
                                        <p:cTn id="21" dur="500"/>
                                        <p:tgtEl>
                                          <p:spTgt spid="2">
                                            <p:txEl>
                                              <p:pRg st="5" end="5"/>
                                            </p:txEl>
                                          </p:spTgt>
                                        </p:tgtEl>
                                      </p:cBhvr>
                                    </p:animEffect>
                                  </p:childTnLst>
                                </p:cTn>
                              </p:par>
                            </p:childTnLst>
                          </p:cTn>
                        </p:par>
                        <p:par>
                          <p:cTn id="22" fill="hold">
                            <p:stCondLst>
                              <p:cond delay="2500"/>
                            </p:stCondLst>
                            <p:childTnLst>
                              <p:par>
                                <p:cTn id="23" presetID="22" presetClass="entr" presetSubtype="4" fill="hold" nodeType="after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ipe(down)">
                                      <p:cBhvr>
                                        <p:cTn id="2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E83D5-ECBE-A684-4339-05C1AF61C1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26DC39-C29F-9C0B-4A7E-52FDDF3830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FC98FE9B-A33D-AC49-62C8-DC0D737835E9}"/>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3" name="Title 2">
            <a:extLst>
              <a:ext uri="{FF2B5EF4-FFF2-40B4-BE49-F238E27FC236}">
                <a16:creationId xmlns:a16="http://schemas.microsoft.com/office/drawing/2014/main" id="{FAE3B7C2-B8EA-5280-7495-8243D0E11CC4}"/>
              </a:ext>
            </a:extLst>
          </p:cNvPr>
          <p:cNvSpPr>
            <a:spLocks noGrp="1"/>
          </p:cNvSpPr>
          <p:nvPr>
            <p:ph type="title"/>
          </p:nvPr>
        </p:nvSpPr>
        <p:spPr>
          <a:xfrm>
            <a:off x="312516" y="92050"/>
            <a:ext cx="11299381" cy="1109109"/>
          </a:xfrm>
        </p:spPr>
        <p:txBody>
          <a:bodyPr>
            <a:normAutofit/>
          </a:bodyPr>
          <a:lstStyle/>
          <a:p>
            <a:pPr algn="ctr"/>
            <a:r>
              <a:rPr lang="en-US" sz="2400" u="sng" dirty="0">
                <a:latin typeface="Castellar" panose="020A0402060406010301" pitchFamily="18" charset="0"/>
              </a:rPr>
              <a:t>Strategic Thinking, Automation &amp; Presentation Strategy</a:t>
            </a:r>
            <a:endParaRPr lang="en-IN" sz="2400" u="sng" dirty="0">
              <a:latin typeface="Castellar" panose="020A0402060406010301" pitchFamily="18" charset="0"/>
            </a:endParaRPr>
          </a:p>
        </p:txBody>
      </p:sp>
      <p:graphicFrame>
        <p:nvGraphicFramePr>
          <p:cNvPr id="21" name="Content Placeholder 20">
            <a:extLst>
              <a:ext uri="{FF2B5EF4-FFF2-40B4-BE49-F238E27FC236}">
                <a16:creationId xmlns:a16="http://schemas.microsoft.com/office/drawing/2014/main" id="{35BBEECD-1CDF-D069-A071-6631D7A22E31}"/>
              </a:ext>
            </a:extLst>
          </p:cNvPr>
          <p:cNvGraphicFramePr>
            <a:graphicFrameLocks noGrp="1"/>
          </p:cNvGraphicFramePr>
          <p:nvPr>
            <p:ph idx="1"/>
            <p:extLst>
              <p:ext uri="{D42A27DB-BD31-4B8C-83A1-F6EECF244321}">
                <p14:modId xmlns:p14="http://schemas.microsoft.com/office/powerpoint/2010/main" val="3465652989"/>
              </p:ext>
            </p:extLst>
          </p:nvPr>
        </p:nvGraphicFramePr>
        <p:xfrm>
          <a:off x="838200" y="1201160"/>
          <a:ext cx="10515600" cy="49758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2865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30" presetClass="entr" presetSubtype="0"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800" decel="100000"/>
                                        <p:tgtEl>
                                          <p:spTgt spid="21"/>
                                        </p:tgtEl>
                                      </p:cBhvr>
                                    </p:animEffect>
                                    <p:anim calcmode="lin" valueType="num">
                                      <p:cBhvr>
                                        <p:cTn id="14" dur="800" decel="100000" fill="hold"/>
                                        <p:tgtEl>
                                          <p:spTgt spid="21"/>
                                        </p:tgtEl>
                                        <p:attrNameLst>
                                          <p:attrName>style.rotation</p:attrName>
                                        </p:attrNameLst>
                                      </p:cBhvr>
                                      <p:tavLst>
                                        <p:tav tm="0">
                                          <p:val>
                                            <p:fltVal val="-90"/>
                                          </p:val>
                                        </p:tav>
                                        <p:tav tm="100000">
                                          <p:val>
                                            <p:fltVal val="0"/>
                                          </p:val>
                                        </p:tav>
                                      </p:tavLst>
                                    </p:anim>
                                    <p:anim calcmode="lin" valueType="num">
                                      <p:cBhvr>
                                        <p:cTn id="15" dur="800" decel="100000" fill="hold"/>
                                        <p:tgtEl>
                                          <p:spTgt spid="21"/>
                                        </p:tgtEl>
                                        <p:attrNameLst>
                                          <p:attrName>ppt_x</p:attrName>
                                        </p:attrNameLst>
                                      </p:cBhvr>
                                      <p:tavLst>
                                        <p:tav tm="0">
                                          <p:val>
                                            <p:strVal val="#ppt_x+0.4"/>
                                          </p:val>
                                        </p:tav>
                                        <p:tav tm="100000">
                                          <p:val>
                                            <p:strVal val="#ppt_x-0.05"/>
                                          </p:val>
                                        </p:tav>
                                      </p:tavLst>
                                    </p:anim>
                                    <p:anim calcmode="lin" valueType="num">
                                      <p:cBhvr>
                                        <p:cTn id="16" dur="800" decel="100000" fill="hold"/>
                                        <p:tgtEl>
                                          <p:spTgt spid="21"/>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21"/>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2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21"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2D7C-B9FA-BEAC-9904-A7E5FAD49E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5CD68F-04B5-E13C-654A-63E182751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10">
            <a:extLst>
              <a:ext uri="{FF2B5EF4-FFF2-40B4-BE49-F238E27FC236}">
                <a16:creationId xmlns:a16="http://schemas.microsoft.com/office/drawing/2014/main" id="{AC4D0FD4-A0BF-8264-09C0-134B855A1372}"/>
              </a:ext>
            </a:extLst>
          </p:cNvPr>
          <p:cNvSpPr txBox="1">
            <a:spLocks/>
          </p:cNvSpPr>
          <p:nvPr/>
        </p:nvSpPr>
        <p:spPr>
          <a:xfrm>
            <a:off x="312516" y="2150778"/>
            <a:ext cx="5783484" cy="44287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3" name="Oval 2">
            <a:extLst>
              <a:ext uri="{FF2B5EF4-FFF2-40B4-BE49-F238E27FC236}">
                <a16:creationId xmlns:a16="http://schemas.microsoft.com/office/drawing/2014/main" id="{ADBFE965-EC0A-DC21-8BFE-82472D61106A}"/>
              </a:ext>
            </a:extLst>
          </p:cNvPr>
          <p:cNvSpPr/>
          <p:nvPr/>
        </p:nvSpPr>
        <p:spPr>
          <a:xfrm>
            <a:off x="2025445" y="5004291"/>
            <a:ext cx="393290" cy="963561"/>
          </a:xfrm>
          <a:prstGeom prst="ellipse">
            <a:avLst/>
          </a:prstGeom>
          <a:solidFill>
            <a:srgbClr val="CED9DE"/>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graphicFrame>
        <p:nvGraphicFramePr>
          <p:cNvPr id="21" name="Content Placeholder 20">
            <a:extLst>
              <a:ext uri="{FF2B5EF4-FFF2-40B4-BE49-F238E27FC236}">
                <a16:creationId xmlns:a16="http://schemas.microsoft.com/office/drawing/2014/main" id="{65358A4D-479A-AC8D-2703-AC8F21E79EE0}"/>
              </a:ext>
            </a:extLst>
          </p:cNvPr>
          <p:cNvGraphicFramePr>
            <a:graphicFrameLocks noGrp="1"/>
          </p:cNvGraphicFramePr>
          <p:nvPr>
            <p:ph idx="1"/>
            <p:extLst>
              <p:ext uri="{D42A27DB-BD31-4B8C-83A1-F6EECF244321}">
                <p14:modId xmlns:p14="http://schemas.microsoft.com/office/powerpoint/2010/main" val="4045609290"/>
              </p:ext>
            </p:extLst>
          </p:nvPr>
        </p:nvGraphicFramePr>
        <p:xfrm>
          <a:off x="462987" y="353961"/>
          <a:ext cx="11729013" cy="5965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23999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800" decel="100000"/>
                                        <p:tgtEl>
                                          <p:spTgt spid="21"/>
                                        </p:tgtEl>
                                      </p:cBhvr>
                                    </p:animEffect>
                                    <p:anim calcmode="lin" valueType="num">
                                      <p:cBhvr>
                                        <p:cTn id="8" dur="800" decel="100000" fill="hold"/>
                                        <p:tgtEl>
                                          <p:spTgt spid="21"/>
                                        </p:tgtEl>
                                        <p:attrNameLst>
                                          <p:attrName>style.rotation</p:attrName>
                                        </p:attrNameLst>
                                      </p:cBhvr>
                                      <p:tavLst>
                                        <p:tav tm="0">
                                          <p:val>
                                            <p:fltVal val="-90"/>
                                          </p:val>
                                        </p:tav>
                                        <p:tav tm="100000">
                                          <p:val>
                                            <p:fltVal val="0"/>
                                          </p:val>
                                        </p:tav>
                                      </p:tavLst>
                                    </p:anim>
                                    <p:anim calcmode="lin" valueType="num">
                                      <p:cBhvr>
                                        <p:cTn id="9" dur="800" decel="100000" fill="hold"/>
                                        <p:tgtEl>
                                          <p:spTgt spid="21"/>
                                        </p:tgtEl>
                                        <p:attrNameLst>
                                          <p:attrName>ppt_x</p:attrName>
                                        </p:attrNameLst>
                                      </p:cBhvr>
                                      <p:tavLst>
                                        <p:tav tm="0">
                                          <p:val>
                                            <p:strVal val="#ppt_x+0.4"/>
                                          </p:val>
                                        </p:tav>
                                        <p:tav tm="100000">
                                          <p:val>
                                            <p:strVal val="#ppt_x-0.05"/>
                                          </p:val>
                                        </p:tav>
                                      </p:tavLst>
                                    </p:anim>
                                    <p:anim calcmode="lin" valueType="num">
                                      <p:cBhvr>
                                        <p:cTn id="10" dur="800" decel="100000" fill="hold"/>
                                        <p:tgtEl>
                                          <p:spTgt spid="21"/>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1"/>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1"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006A7-8C4D-620D-1A8F-3E907BE5672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9D98C72-EA49-3E40-2923-0CBB6585E2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itle 1">
            <a:extLst>
              <a:ext uri="{FF2B5EF4-FFF2-40B4-BE49-F238E27FC236}">
                <a16:creationId xmlns:a16="http://schemas.microsoft.com/office/drawing/2014/main" id="{8CC4CFCD-20B6-2418-693D-6FA437821402}"/>
              </a:ext>
            </a:extLst>
          </p:cNvPr>
          <p:cNvSpPr txBox="1">
            <a:spLocks/>
          </p:cNvSpPr>
          <p:nvPr/>
        </p:nvSpPr>
        <p:spPr>
          <a:xfrm>
            <a:off x="1371600" y="1120877"/>
            <a:ext cx="9448800" cy="250762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dirty="0">
              <a:latin typeface="Algerian" panose="04020705040A02060702" pitchFamily="82" charset="0"/>
            </a:endParaRPr>
          </a:p>
        </p:txBody>
      </p:sp>
      <p:sp>
        <p:nvSpPr>
          <p:cNvPr id="16" name="Subtitle 2">
            <a:extLst>
              <a:ext uri="{FF2B5EF4-FFF2-40B4-BE49-F238E27FC236}">
                <a16:creationId xmlns:a16="http://schemas.microsoft.com/office/drawing/2014/main" id="{67A318A0-685E-042E-EAC0-617B2FCC4AF8}"/>
              </a:ext>
            </a:extLst>
          </p:cNvPr>
          <p:cNvSpPr txBox="1">
            <a:spLocks/>
          </p:cNvSpPr>
          <p:nvPr/>
        </p:nvSpPr>
        <p:spPr>
          <a:xfrm>
            <a:off x="1371600" y="3632201"/>
            <a:ext cx="9448800" cy="25076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8" name="Content Placeholder 17">
            <a:extLst>
              <a:ext uri="{FF2B5EF4-FFF2-40B4-BE49-F238E27FC236}">
                <a16:creationId xmlns:a16="http://schemas.microsoft.com/office/drawing/2014/main" id="{51571168-5D9E-61D0-E50C-6A0CA6FD4841}"/>
              </a:ext>
            </a:extLst>
          </p:cNvPr>
          <p:cNvPicPr>
            <a:picLocks noGrp="1" noChangeAspect="1"/>
          </p:cNvPicPr>
          <p:nvPr>
            <p:ph idx="1"/>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pic>
        <p:nvPicPr>
          <p:cNvPr id="20" name="Picture 19">
            <a:extLst>
              <a:ext uri="{FF2B5EF4-FFF2-40B4-BE49-F238E27FC236}">
                <a16:creationId xmlns:a16="http://schemas.microsoft.com/office/drawing/2014/main" id="{260E887A-F719-D30C-F513-3F7D958514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95435" y="0"/>
            <a:ext cx="12119638" cy="6787447"/>
          </a:xfrm>
          <a:prstGeom prst="rect">
            <a:avLst/>
          </a:prstGeom>
        </p:spPr>
      </p:pic>
    </p:spTree>
    <p:extLst>
      <p:ext uri="{BB962C8B-B14F-4D97-AF65-F5344CB8AC3E}">
        <p14:creationId xmlns:p14="http://schemas.microsoft.com/office/powerpoint/2010/main" val="562900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ircle(in)">
                                      <p:cBhvr>
                                        <p:cTn id="7" dur="2000"/>
                                        <p:tgtEl>
                                          <p:spTgt spid="18"/>
                                        </p:tgtEl>
                                      </p:cBhvr>
                                    </p:animEffect>
                                  </p:childTnLst>
                                </p:cTn>
                              </p:par>
                            </p:childTnLst>
                          </p:cTn>
                        </p:par>
                        <p:par>
                          <p:cTn id="8" fill="hold">
                            <p:stCondLst>
                              <p:cond delay="2000"/>
                            </p:stCondLst>
                            <p:childTnLst>
                              <p:par>
                                <p:cTn id="9" presetID="42" presetClass="path" presetSubtype="0" accel="50000" decel="50000" fill="hold" nodeType="afterEffect">
                                  <p:stCondLst>
                                    <p:cond delay="0"/>
                                  </p:stCondLst>
                                  <p:childTnLst>
                                    <p:animMotion origin="layout" path="M -2.29167E-6 2.59259E-6 L 1.03607 0.00509 " pathEditMode="relative" rAng="0" ptsTypes="AA">
                                      <p:cBhvr>
                                        <p:cTn id="10" dur="2000" fill="hold"/>
                                        <p:tgtEl>
                                          <p:spTgt spid="20"/>
                                        </p:tgtEl>
                                        <p:attrNameLst>
                                          <p:attrName>ppt_x</p:attrName>
                                          <p:attrName>ppt_y</p:attrName>
                                        </p:attrNameLst>
                                      </p:cBhvr>
                                      <p:rCtr x="51810"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1171</TotalTime>
  <Words>1742</Words>
  <Application>Microsoft Office PowerPoint</Application>
  <PresentationFormat>Widescreen</PresentationFormat>
  <Paragraphs>170</Paragraphs>
  <Slides>17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Algerian</vt:lpstr>
      <vt:lpstr>Aptos</vt:lpstr>
      <vt:lpstr>Aptos Display</vt:lpstr>
      <vt:lpstr>Arial</vt:lpstr>
      <vt:lpstr>Castellar</vt:lpstr>
      <vt:lpstr>Copperplate Gothic Light</vt:lpstr>
      <vt:lpstr>Garamond</vt:lpstr>
      <vt:lpstr>Poor Richard</vt:lpstr>
      <vt:lpstr>Wingdings</vt:lpstr>
      <vt:lpstr>Office Theme</vt:lpstr>
      <vt:lpstr>Vrinda Store – Sales Performance &amp; Customer Insights</vt:lpstr>
      <vt:lpstr>Introduction:</vt:lpstr>
      <vt:lpstr>Project Objectives</vt:lpstr>
      <vt:lpstr>Data Understanding &amp; Cleaning (Mandatory)</vt:lpstr>
      <vt:lpstr>Data Cleaning &amp; Standardization Approach</vt:lpstr>
      <vt:lpstr>Helper Columns Created</vt:lpstr>
      <vt:lpstr>Exploratory Data Analysis (EDA)</vt:lpstr>
      <vt:lpstr>Geographic Performance</vt:lpstr>
      <vt:lpstr>Pivot Tables</vt:lpstr>
      <vt:lpstr>Charts &amp; Visual Analysis </vt:lpstr>
      <vt:lpstr>Charts &amp; Visual Analysis </vt:lpstr>
      <vt:lpstr>Correlation &amp; Business Insight </vt:lpstr>
      <vt:lpstr>Dashboard (Portfolio-Ready)</vt:lpstr>
      <vt:lpstr>Dashboard Design Principles</vt:lpstr>
      <vt:lpstr>Strategic Thinking, Automation &amp; Presentation Strategy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pooja l</dc:creator>
  <cp:lastModifiedBy>pooja l</cp:lastModifiedBy>
  <cp:revision>16</cp:revision>
  <dcterms:created xsi:type="dcterms:W3CDTF">2026-02-02T15:37:09Z</dcterms:created>
  <dcterms:modified xsi:type="dcterms:W3CDTF">2026-02-13T16:04:05Z</dcterms:modified>
</cp:coreProperties>
</file>